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36.xml.rels" ContentType="application/vnd.openxmlformats-package.relationships+xml"/>
  <Override PartName="/ppt/notesSlides/_rels/notesSlide33.xml.rels" ContentType="application/vnd.openxmlformats-package.relationships+xml"/>
  <Override PartName="/ppt/notesSlides/notesSlide33.xml" ContentType="application/vnd.openxmlformats-officedocument.presentationml.notesSlide+xml"/>
  <Override PartName="/ppt/notesSlides/notesSlide36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24.png" ContentType="image/png"/>
  <Override PartName="/ppt/media/image11.png" ContentType="image/png"/>
  <Override PartName="/ppt/media/image12.png" ContentType="image/png"/>
  <Override PartName="/ppt/media/image7.png" ContentType="image/png"/>
  <Override PartName="/ppt/media/image37.png" ContentType="image/png"/>
  <Override PartName="/ppt/media/image13.png" ContentType="image/png"/>
  <Override PartName="/ppt/media/image8.png" ContentType="image/png"/>
  <Override PartName="/ppt/media/image38.png" ContentType="image/png"/>
  <Override PartName="/ppt/media/image40.png" ContentType="image/png"/>
  <Override PartName="/ppt/media/image9.png" ContentType="image/png"/>
  <Override PartName="/ppt/media/image39.png" ContentType="image/png"/>
  <Override PartName="/ppt/media/image41.png" ContentType="image/png"/>
  <Override PartName="/ppt/media/image30.png" ContentType="image/png"/>
  <Override PartName="/ppt/media/image28.png" ContentType="image/png"/>
  <Override PartName="/ppt/media/image36.png" ContentType="image/png"/>
  <Override PartName="/ppt/media/image6.png" ContentType="image/png"/>
  <Override PartName="/ppt/media/image29.png" ContentType="image/png"/>
  <Override PartName="/ppt/media/image1.png" ContentType="image/png"/>
  <Override PartName="/ppt/media/image31.png" ContentType="image/png"/>
  <Override PartName="/ppt/media/image10.png" ContentType="image/png"/>
  <Override PartName="/ppt/media/image5.png" ContentType="image/png"/>
  <Override PartName="/ppt/media/image35.png" ContentType="image/png"/>
  <Override PartName="/ppt/media/image34.png" ContentType="image/png"/>
  <Override PartName="/ppt/media/image4.png" ContentType="image/png"/>
  <Override PartName="/ppt/media/image27.png" ContentType="image/png"/>
  <Override PartName="/ppt/media/image33.png" ContentType="image/png"/>
  <Override PartName="/ppt/media/image3.png" ContentType="image/png"/>
  <Override PartName="/ppt/media/image26.png" ContentType="image/png"/>
  <Override PartName="/ppt/media/image32.png" ContentType="image/png"/>
  <Override PartName="/ppt/media/image2.png" ContentType="image/png"/>
  <Override PartName="/ppt/media/image25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13.xml" ContentType="application/vnd.openxmlformats-officedocument.presentationml.slide+xml"/>
  <Override PartName="/ppt/slides/_rels/slide22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28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30.xml.rels" ContentType="application/vnd.openxmlformats-package.relationships+xml"/>
  <Override PartName="/ppt/slides/_rels/slide29.xml.rels" ContentType="application/vnd.openxmlformats-package.relationships+xml"/>
  <Override PartName="/ppt/slides/_rels/slide14.xml.rels" ContentType="application/vnd.openxmlformats-package.relationships+xml"/>
  <Override PartName="/ppt/slides/_rels/slide23.xml.rels" ContentType="application/vnd.openxmlformats-package.relationships+xml"/>
  <Override PartName="/ppt/slides/_rels/slide10.xml.rels" ContentType="application/vnd.openxmlformats-package.relationships+xml"/>
  <Override PartName="/ppt/slides/_rels/slide25.xml.rels" ContentType="application/vnd.openxmlformats-package.relationships+xml"/>
  <Override PartName="/ppt/slides/_rels/slide16.xml.rels" ContentType="application/vnd.openxmlformats-package.relationships+xml"/>
  <Override PartName="/ppt/slides/_rels/slide32.xml.rels" ContentType="application/vnd.openxmlformats-package.relationships+xml"/>
  <Override PartName="/ppt/slides/_rels/slide15.xml.rels" ContentType="application/vnd.openxmlformats-package.relationships+xml"/>
  <Override PartName="/ppt/slides/_rels/slide31.xml.rels" ContentType="application/vnd.openxmlformats-package.relationships+xml"/>
  <Override PartName="/ppt/slides/_rels/slide24.xml.rels" ContentType="application/vnd.openxmlformats-package.relationships+xml"/>
  <Override PartName="/ppt/slides/_rels/slide8.xml.rels" ContentType="application/vnd.openxmlformats-package.relationships+xml"/>
  <Override PartName="/ppt/slides/_rels/slide27.xml.rels" ContentType="application/vnd.openxmlformats-package.relationships+xml"/>
  <Override PartName="/ppt/slides/_rels/slide2.xml.rels" ContentType="application/vnd.openxmlformats-package.relationships+xml"/>
  <Override PartName="/ppt/slides/_rels/slide36.xml.rels" ContentType="application/vnd.openxmlformats-package.relationships+xml"/>
  <Override PartName="/ppt/slides/_rels/slide21.xml.rels" ContentType="application/vnd.openxmlformats-package.relationships+xml"/>
  <Override PartName="/ppt/slides/_rels/slide35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_rels/slide7.xml.rels" ContentType="application/vnd.openxmlformats-package.relationships+xml"/>
  <Override PartName="/ppt/slides/_rels/slide34.xml.rels" ContentType="application/vnd.openxmlformats-package.relationships+xml"/>
  <Override PartName="/ppt/slides/_rels/slide6.xml.rels" ContentType="application/vnd.openxmlformats-package.relationships+xml"/>
  <Override PartName="/ppt/slides/_rels/slide33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34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dt" idx="7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ftr" idx="8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9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D5C21ACB-DE3F-451F-B706-B69F906ED760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5D51827-A757-4AB2-A132-BA261A439C3A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1BAF7A7-BDDF-4433-B384-C5CDA93C67FD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68E9190-2ABB-49F3-8706-F76EC5BA9E7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F8B4595-C415-4BE5-9BAC-A89D96614A9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EA70908-81DE-4FEC-ACAF-ACAF2189F08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2B1675C-18BB-4392-BF9F-83500353353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02F0FDA-D89F-4A49-8A1E-90942E0C1B3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C7BFEA0-49B4-43FF-879F-5023199B906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47C0892-CB9E-4E7A-B867-9EDD7AAABDF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86E8E90-9F2F-49AA-891B-90C97A2B959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D3ADBF8-A2E6-4670-BFDE-8081459B918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2B02676-CC46-43A9-B48D-DE814E754A9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2CEAA64-FC63-4582-8EEA-67047EA725D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F5DC3FD-5AE4-4E54-A007-908CBB0C5CA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99F6641-4B55-42D7-9434-D7EAD4A16ED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564C8ED-4C50-4C1C-AE31-8B4D3E9F4E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DEF6FBE-E5B4-4126-BF32-62D22B509BC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ECCFF1D-436C-43D6-800D-1316BD6F924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4080F35-AE86-4D35-BA4B-AC59DA62360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BBFB52F-E6EB-48B6-A360-FAE5E7CEF43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7F59656-0EA9-4CB6-80A5-57884DFDEC7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70564F7-4AEE-4BD9-B79A-51ACA51968D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483B11E-910A-40E3-91CE-9D3F3152A79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09EDF64-F083-42E9-A533-75CBAC8CA98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4740902-BD67-4C2C-A31B-9D051F0F213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666355A-06FB-49BF-BD3E-7F6256B8315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09040" cy="35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37440" cy="35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787878"/>
                </a:solidFill>
                <a:latin typeface="等线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B00D0D8-7358-49A6-9439-EDD48677E218}" type="slidenum">
              <a:rPr b="0" lang="en-US" sz="1200" spc="-1" strike="noStrike">
                <a:solidFill>
                  <a:srgbClr val="787878"/>
                </a:solidFill>
                <a:latin typeface="等线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37440" cy="35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09040" cy="35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37440" cy="35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787878"/>
                </a:solidFill>
                <a:latin typeface="等线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E23D133-35A4-41BE-B793-99C9CCD83D48}" type="slidenum">
              <a:rPr b="0" lang="en-US" sz="1200" spc="-1" strike="noStrike">
                <a:solidFill>
                  <a:srgbClr val="787878"/>
                </a:solidFill>
                <a:latin typeface="等线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37440" cy="35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"/>
          <p:cNvSpPr/>
          <p:nvPr/>
        </p:nvSpPr>
        <p:spPr>
          <a:xfrm>
            <a:off x="360" y="-34560"/>
            <a:ext cx="1292760" cy="34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masi_28_1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89" name="" descr=""/>
          <p:cNvPicPr/>
          <p:nvPr/>
        </p:nvPicPr>
        <p:blipFill>
          <a:blip r:embed="rId1"/>
          <a:stretch/>
        </p:blipFill>
        <p:spPr>
          <a:xfrm>
            <a:off x="351000" y="511920"/>
            <a:ext cx="5590440" cy="3143520"/>
          </a:xfrm>
          <a:prstGeom prst="rect">
            <a:avLst/>
          </a:prstGeom>
          <a:ln w="0">
            <a:noFill/>
          </a:ln>
        </p:spPr>
      </p:pic>
      <p:pic>
        <p:nvPicPr>
          <p:cNvPr id="90" name="" descr=""/>
          <p:cNvPicPr/>
          <p:nvPr/>
        </p:nvPicPr>
        <p:blipFill>
          <a:blip r:embed="rId2"/>
          <a:stretch/>
        </p:blipFill>
        <p:spPr>
          <a:xfrm>
            <a:off x="6294600" y="457200"/>
            <a:ext cx="5687640" cy="3198240"/>
          </a:xfrm>
          <a:prstGeom prst="rect">
            <a:avLst/>
          </a:prstGeom>
          <a:ln w="0">
            <a:noFill/>
          </a:ln>
        </p:spPr>
      </p:pic>
      <p:sp>
        <p:nvSpPr>
          <p:cNvPr id="91" name=""/>
          <p:cNvSpPr/>
          <p:nvPr/>
        </p:nvSpPr>
        <p:spPr>
          <a:xfrm>
            <a:off x="1731960" y="110520"/>
            <a:ext cx="2380680" cy="34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2026-01-05_18-09-03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92" name="" descr=""/>
          <p:cNvPicPr/>
          <p:nvPr/>
        </p:nvPicPr>
        <p:blipFill>
          <a:blip r:embed="rId3"/>
          <a:stretch/>
        </p:blipFill>
        <p:spPr>
          <a:xfrm>
            <a:off x="288720" y="3886200"/>
            <a:ext cx="4052520" cy="2372400"/>
          </a:xfrm>
          <a:prstGeom prst="rect">
            <a:avLst/>
          </a:prstGeom>
          <a:ln w="0">
            <a:noFill/>
          </a:ln>
        </p:spPr>
      </p:pic>
      <p:pic>
        <p:nvPicPr>
          <p:cNvPr id="93" name="" descr=""/>
          <p:cNvPicPr/>
          <p:nvPr/>
        </p:nvPicPr>
        <p:blipFill>
          <a:blip r:embed="rId4"/>
          <a:stretch/>
        </p:blipFill>
        <p:spPr>
          <a:xfrm>
            <a:off x="4632120" y="3886200"/>
            <a:ext cx="4052520" cy="2372400"/>
          </a:xfrm>
          <a:prstGeom prst="rect">
            <a:avLst/>
          </a:prstGeom>
          <a:ln w="0">
            <a:noFill/>
          </a:ln>
        </p:spPr>
      </p:pic>
      <p:sp>
        <p:nvSpPr>
          <p:cNvPr id="94" name=""/>
          <p:cNvSpPr/>
          <p:nvPr/>
        </p:nvSpPr>
        <p:spPr>
          <a:xfrm>
            <a:off x="4266360" y="224640"/>
            <a:ext cx="2818080" cy="2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events.out.tfevents.1767629354.home.17879.0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1"/>
          <p:cNvSpPr/>
          <p:nvPr/>
        </p:nvSpPr>
        <p:spPr>
          <a:xfrm>
            <a:off x="1440" y="549720"/>
            <a:ext cx="1368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5000/500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228600" y="1041840"/>
            <a:ext cx="11275920" cy="2385720"/>
          </a:xfrm>
          <a:prstGeom prst="rect">
            <a:avLst/>
          </a:prstGeom>
          <a:ln w="0">
            <a:noFill/>
          </a:ln>
        </p:spPr>
      </p:pic>
      <p:sp>
        <p:nvSpPr>
          <p:cNvPr id="97" name=""/>
          <p:cNvSpPr/>
          <p:nvPr/>
        </p:nvSpPr>
        <p:spPr>
          <a:xfrm>
            <a:off x="1371600" y="55080"/>
            <a:ext cx="7191360" cy="85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python scripts/reinforcement_learning/rsl_rl/train.py --num_envs 500 \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--task Isaac-Masi-LogIK-train-v0 \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--experiment_name masi_logik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98" name="" descr=""/>
          <p:cNvPicPr/>
          <p:nvPr/>
        </p:nvPicPr>
        <p:blipFill>
          <a:blip r:embed="rId2"/>
          <a:stretch/>
        </p:blipFill>
        <p:spPr>
          <a:xfrm>
            <a:off x="228600" y="3657600"/>
            <a:ext cx="12190320" cy="2579400"/>
          </a:xfrm>
          <a:prstGeom prst="rect">
            <a:avLst/>
          </a:prstGeom>
          <a:ln w="0">
            <a:noFill/>
          </a:ln>
        </p:spPr>
      </p:pic>
      <p:sp>
        <p:nvSpPr>
          <p:cNvPr id="99" name=""/>
          <p:cNvSpPr/>
          <p:nvPr/>
        </p:nvSpPr>
        <p:spPr>
          <a:xfrm>
            <a:off x="5943600" y="567720"/>
            <a:ext cx="523296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tensorboard --logdir . --port 6018 --load_fast=false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4"/>
          <p:cNvSpPr/>
          <p:nvPr/>
        </p:nvSpPr>
        <p:spPr>
          <a:xfrm>
            <a:off x="1440" y="549720"/>
            <a:ext cx="1368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5000/500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1371600" y="55080"/>
            <a:ext cx="7191360" cy="85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python scripts/reinforcement_learning/rsl_rl/train.py --num_envs 500 \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--task Isaac-Masi-LogIK-train-v0 \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--experiment_name masi_logik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228600" y="914400"/>
            <a:ext cx="12190320" cy="5748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5"/>
          <p:cNvSpPr/>
          <p:nvPr/>
        </p:nvSpPr>
        <p:spPr>
          <a:xfrm>
            <a:off x="1440" y="549720"/>
            <a:ext cx="1368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5000/500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1371600" y="55080"/>
            <a:ext cx="7191360" cy="85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python scripts/reinforcement_learning/rsl_rl/train.py --num_envs 500 \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--task Isaac-Masi-LogIK-train-v0 \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--experiment_name masi_logik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0" y="1371600"/>
            <a:ext cx="12190320" cy="2974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"/>
          <p:cNvSpPr/>
          <p:nvPr/>
        </p:nvSpPr>
        <p:spPr>
          <a:xfrm>
            <a:off x="206280" y="184680"/>
            <a:ext cx="7793640" cy="392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ting seed: 42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[INFO]: Base environment: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Environment device    : cuda:0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Environment seed      : 42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Physics step-size     : 0.016666666666666666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Rendering step-size   : 0.03333333333333333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Environment step-size : 0.03333333333333333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[INFO]: Time taken for scene creation : 3.104542 seconds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[INFO]: Scene manager:  &lt;class InteractiveScene&gt;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Number of environments: 4090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Environment spacing   : 2.5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Source prim name      : /World/envs/env_0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Global prim paths     : []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Replicate physics     : True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[INFO]: Starting the simulation. This may take a few seconds. Please wait...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817560" y="4800600"/>
            <a:ext cx="23817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2026-01-05_21-43-36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914400" y="5257800"/>
            <a:ext cx="49467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events.out.tfevents.1767642223.home.31458.0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"/>
          <p:cNvSpPr/>
          <p:nvPr/>
        </p:nvSpPr>
        <p:spPr>
          <a:xfrm>
            <a:off x="182160" y="228600"/>
            <a:ext cx="8274960" cy="64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################################################################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Learning iteration 8600/10000                     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Computation: 11375 steps/s (collection: 8.577s, learning 0.052s)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Mean action noise std: 13.84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Mean value_function loss: 0.7078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  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Mean surrogate loss: -0.0008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    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Mean entropy loss: 23.1809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Mean reward: 122.37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  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Mean episode length: 349.77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Episode_Reward/ee_to_log: 2.6600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Episode_Reward/yaw_alignment: 0.4580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Episode_Reward/vertical_upright: 0.9721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Episode_Reward/grasp_open_close: 0.5788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Episode_Reward/log_lift: 5.6734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Episode_Reward/action_rate: 0.0000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Episode_Termination/time_out: 0.9777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Episode_Termination/root_oob: 0.0000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Episode_Termination/ee_speed_oob: 0.0223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--------------------------------------------------------------------------------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Total timesteps: 844274160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Iteration time: 8.63s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Time elapsed: 15:10:37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ETA: 02:28:13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Box 8"/>
          <p:cNvSpPr/>
          <p:nvPr/>
        </p:nvSpPr>
        <p:spPr>
          <a:xfrm>
            <a:off x="0" y="0"/>
            <a:ext cx="3199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10000  4090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28600" y="685800"/>
            <a:ext cx="7191720" cy="136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python scripts/reinforcement_learning/rsl_rl/train.py --num_envs 500 \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--task Isaac-Masi-LogIK-train-v0 \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--experiment_name masi_logik \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--load_run 2026-01-05_21-43-36 \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--resume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222120" y="2286000"/>
            <a:ext cx="7320600" cy="4029120"/>
          </a:xfrm>
          <a:prstGeom prst="rect">
            <a:avLst/>
          </a:prstGeom>
          <a:ln w="0">
            <a:noFill/>
          </a:ln>
        </p:spPr>
      </p:pic>
      <p:pic>
        <p:nvPicPr>
          <p:cNvPr id="113" name="" descr=""/>
          <p:cNvPicPr/>
          <p:nvPr/>
        </p:nvPicPr>
        <p:blipFill>
          <a:blip r:embed="rId2"/>
          <a:stretch/>
        </p:blipFill>
        <p:spPr>
          <a:xfrm>
            <a:off x="6400800" y="1143000"/>
            <a:ext cx="5596920" cy="3080160"/>
          </a:xfrm>
          <a:prstGeom prst="rect">
            <a:avLst/>
          </a:prstGeom>
          <a:ln w="0">
            <a:noFill/>
          </a:ln>
        </p:spPr>
      </p:pic>
      <p:pic>
        <p:nvPicPr>
          <p:cNvPr id="114" name="" descr=""/>
          <p:cNvPicPr/>
          <p:nvPr/>
        </p:nvPicPr>
        <p:blipFill>
          <a:blip r:embed="rId3"/>
          <a:stretch/>
        </p:blipFill>
        <p:spPr>
          <a:xfrm>
            <a:off x="7086600" y="3781800"/>
            <a:ext cx="4806000" cy="2617920"/>
          </a:xfrm>
          <a:prstGeom prst="rect">
            <a:avLst/>
          </a:prstGeom>
          <a:ln w="0">
            <a:noFill/>
          </a:ln>
        </p:spPr>
      </p:pic>
      <p:pic>
        <p:nvPicPr>
          <p:cNvPr id="115" name="" descr=""/>
          <p:cNvPicPr/>
          <p:nvPr/>
        </p:nvPicPr>
        <p:blipFill>
          <a:blip r:embed="rId4"/>
          <a:stretch/>
        </p:blipFill>
        <p:spPr>
          <a:xfrm>
            <a:off x="8019360" y="3886200"/>
            <a:ext cx="4552560" cy="2480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7"/>
          <p:cNvSpPr/>
          <p:nvPr/>
        </p:nvSpPr>
        <p:spPr>
          <a:xfrm>
            <a:off x="0" y="0"/>
            <a:ext cx="3199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10000  4090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17" name="" descr=""/>
          <p:cNvPicPr/>
          <p:nvPr/>
        </p:nvPicPr>
        <p:blipFill>
          <a:blip r:embed="rId1"/>
          <a:stretch/>
        </p:blipFill>
        <p:spPr>
          <a:xfrm>
            <a:off x="0" y="602280"/>
            <a:ext cx="12190680" cy="2597040"/>
          </a:xfrm>
          <a:prstGeom prst="rect">
            <a:avLst/>
          </a:prstGeom>
          <a:ln w="0">
            <a:noFill/>
          </a:ln>
        </p:spPr>
      </p:pic>
      <p:pic>
        <p:nvPicPr>
          <p:cNvPr id="118" name="" descr=""/>
          <p:cNvPicPr/>
          <p:nvPr/>
        </p:nvPicPr>
        <p:blipFill>
          <a:blip r:embed="rId2"/>
          <a:stretch/>
        </p:blipFill>
        <p:spPr>
          <a:xfrm>
            <a:off x="228600" y="3429000"/>
            <a:ext cx="11886120" cy="2532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Box 14"/>
          <p:cNvSpPr/>
          <p:nvPr/>
        </p:nvSpPr>
        <p:spPr>
          <a:xfrm>
            <a:off x="0" y="0"/>
            <a:ext cx="3199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10000  4090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20" name="" descr=""/>
          <p:cNvPicPr/>
          <p:nvPr/>
        </p:nvPicPr>
        <p:blipFill>
          <a:blip r:embed="rId1"/>
          <a:stretch/>
        </p:blipFill>
        <p:spPr>
          <a:xfrm>
            <a:off x="360" y="602280"/>
            <a:ext cx="12190680" cy="2597040"/>
          </a:xfrm>
          <a:prstGeom prst="rect">
            <a:avLst/>
          </a:prstGeom>
          <a:ln w="0">
            <a:noFill/>
          </a:ln>
        </p:spPr>
      </p:pic>
      <p:pic>
        <p:nvPicPr>
          <p:cNvPr id="121" name="" descr=""/>
          <p:cNvPicPr/>
          <p:nvPr/>
        </p:nvPicPr>
        <p:blipFill>
          <a:blip r:embed="rId2"/>
          <a:stretch/>
        </p:blipFill>
        <p:spPr>
          <a:xfrm>
            <a:off x="152280" y="3394080"/>
            <a:ext cx="11962440" cy="2548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0"/>
          <p:cNvSpPr/>
          <p:nvPr/>
        </p:nvSpPr>
        <p:spPr>
          <a:xfrm>
            <a:off x="0" y="0"/>
            <a:ext cx="3199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10000  4090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30600" y="457200"/>
            <a:ext cx="12190680" cy="2597040"/>
          </a:xfrm>
          <a:prstGeom prst="rect">
            <a:avLst/>
          </a:prstGeom>
          <a:ln w="0">
            <a:noFill/>
          </a:ln>
        </p:spPr>
      </p:pic>
      <p:pic>
        <p:nvPicPr>
          <p:cNvPr id="124" name="" descr=""/>
          <p:cNvPicPr/>
          <p:nvPr/>
        </p:nvPicPr>
        <p:blipFill>
          <a:blip r:embed="rId2"/>
          <a:stretch/>
        </p:blipFill>
        <p:spPr>
          <a:xfrm>
            <a:off x="0" y="3429000"/>
            <a:ext cx="12190680" cy="2597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Box 12"/>
          <p:cNvSpPr/>
          <p:nvPr/>
        </p:nvSpPr>
        <p:spPr>
          <a:xfrm>
            <a:off x="0" y="0"/>
            <a:ext cx="3199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10000  4090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243000" y="567720"/>
            <a:ext cx="73000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Masi_29_0   180 ~ -180   on the 180 and  -180  are dead corner 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27" name="" descr=""/>
          <p:cNvPicPr/>
          <p:nvPr/>
        </p:nvPicPr>
        <p:blipFill>
          <a:blip r:embed="rId1"/>
          <a:srcRect l="0" t="0" r="3182" b="0"/>
          <a:stretch/>
        </p:blipFill>
        <p:spPr>
          <a:xfrm>
            <a:off x="355680" y="948240"/>
            <a:ext cx="6958440" cy="3851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Box 15"/>
          <p:cNvSpPr/>
          <p:nvPr/>
        </p:nvSpPr>
        <p:spPr>
          <a:xfrm>
            <a:off x="0" y="0"/>
            <a:ext cx="3199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5000  4090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228600" y="1143000"/>
            <a:ext cx="5765760" cy="94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"offset_b": (0.55, 0.0, 0.05),129 "circle_radius": 0.55,130 "circle_angle_range": (-1.57079632679, 1.57079632679),130 "circle_angle_range": (-1.0471975512, 1.0471975512),131 "circle_z": 0.05,132 "yaw_range": 0.02,133 },11 unmodified lines145 "log_asset_cfg": SceneEntityCfg("log"),146 "offset_b": (0.55, 0.0, 0.05),147 "circle_radius": 0.55,148 "circle_angle_range": (-1.57079632679, 1.57079632679),148 "circle_angle_range": (-1.0471975512, 1.0471975512),149 "circle_z": 0.05,150 "max_dist": 0.95,151 },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243000" y="568080"/>
            <a:ext cx="73000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Masi_29_0~1   random   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31" name="" descr=""/>
          <p:cNvPicPr/>
          <p:nvPr/>
        </p:nvPicPr>
        <p:blipFill>
          <a:blip r:embed="rId1"/>
          <a:stretch/>
        </p:blipFill>
        <p:spPr>
          <a:xfrm>
            <a:off x="457200" y="2091240"/>
            <a:ext cx="8914680" cy="2251440"/>
          </a:xfrm>
          <a:prstGeom prst="rect">
            <a:avLst/>
          </a:prstGeom>
          <a:ln w="0">
            <a:noFill/>
          </a:ln>
        </p:spPr>
      </p:pic>
      <p:pic>
        <p:nvPicPr>
          <p:cNvPr id="132" name="" descr=""/>
          <p:cNvPicPr/>
          <p:nvPr/>
        </p:nvPicPr>
        <p:blipFill>
          <a:blip r:embed="rId2"/>
          <a:stretch/>
        </p:blipFill>
        <p:spPr>
          <a:xfrm>
            <a:off x="457200" y="4378680"/>
            <a:ext cx="8909280" cy="2250000"/>
          </a:xfrm>
          <a:prstGeom prst="rect">
            <a:avLst/>
          </a:prstGeom>
          <a:ln w="0">
            <a:noFill/>
          </a:ln>
        </p:spPr>
      </p:pic>
      <p:sp>
        <p:nvSpPr>
          <p:cNvPr id="133" name=""/>
          <p:cNvSpPr/>
          <p:nvPr/>
        </p:nvSpPr>
        <p:spPr>
          <a:xfrm>
            <a:off x="6172200" y="796320"/>
            <a:ext cx="33940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https://youtu.be/jAsTWnVO9FM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Box 13"/>
          <p:cNvSpPr/>
          <p:nvPr/>
        </p:nvSpPr>
        <p:spPr>
          <a:xfrm>
            <a:off x="0" y="0"/>
            <a:ext cx="3199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5000  4090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147240" y="484560"/>
            <a:ext cx="11510640" cy="5608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" descr=""/>
          <p:cNvPicPr/>
          <p:nvPr/>
        </p:nvPicPr>
        <p:blipFill>
          <a:blip r:embed="rId1"/>
          <a:stretch/>
        </p:blipFill>
        <p:spPr>
          <a:xfrm>
            <a:off x="147240" y="26280"/>
            <a:ext cx="12191040" cy="685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" descr=""/>
          <p:cNvPicPr/>
          <p:nvPr/>
        </p:nvPicPr>
        <p:blipFill>
          <a:blip r:embed="rId1"/>
          <a:stretch/>
        </p:blipFill>
        <p:spPr>
          <a:xfrm>
            <a:off x="147240" y="26280"/>
            <a:ext cx="12191040" cy="685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2"/>
          <p:cNvSpPr/>
          <p:nvPr/>
        </p:nvSpPr>
        <p:spPr>
          <a:xfrm>
            <a:off x="228600" y="185040"/>
            <a:ext cx="159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5000  4090 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39" name="" descr=""/>
          <p:cNvPicPr/>
          <p:nvPr/>
        </p:nvPicPr>
        <p:blipFill>
          <a:blip r:embed="rId1"/>
          <a:stretch/>
        </p:blipFill>
        <p:spPr>
          <a:xfrm>
            <a:off x="152640" y="685800"/>
            <a:ext cx="11733840" cy="2693880"/>
          </a:xfrm>
          <a:prstGeom prst="rect">
            <a:avLst/>
          </a:prstGeom>
          <a:ln w="0">
            <a:noFill/>
          </a:ln>
        </p:spPr>
      </p:pic>
      <p:pic>
        <p:nvPicPr>
          <p:cNvPr id="140" name="" descr=""/>
          <p:cNvPicPr/>
          <p:nvPr/>
        </p:nvPicPr>
        <p:blipFill>
          <a:blip r:embed="rId2"/>
          <a:stretch/>
        </p:blipFill>
        <p:spPr>
          <a:xfrm>
            <a:off x="152640" y="3657600"/>
            <a:ext cx="11733840" cy="2693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Box 16"/>
          <p:cNvSpPr/>
          <p:nvPr/>
        </p:nvSpPr>
        <p:spPr>
          <a:xfrm>
            <a:off x="457200" y="549720"/>
            <a:ext cx="1368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plan2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" descr=""/>
          <p:cNvPicPr/>
          <p:nvPr/>
        </p:nvPicPr>
        <p:blipFill>
          <a:blip r:embed="rId1"/>
          <a:stretch/>
        </p:blipFill>
        <p:spPr>
          <a:xfrm>
            <a:off x="122040" y="209520"/>
            <a:ext cx="7418520" cy="3216240"/>
          </a:xfrm>
          <a:prstGeom prst="rect">
            <a:avLst/>
          </a:prstGeom>
          <a:ln w="0">
            <a:noFill/>
          </a:ln>
        </p:spPr>
      </p:pic>
      <p:pic>
        <p:nvPicPr>
          <p:cNvPr id="143" name="" descr=""/>
          <p:cNvPicPr/>
          <p:nvPr/>
        </p:nvPicPr>
        <p:blipFill>
          <a:blip r:embed="rId2"/>
          <a:stretch/>
        </p:blipFill>
        <p:spPr>
          <a:xfrm>
            <a:off x="5470560" y="3518280"/>
            <a:ext cx="6642000" cy="2879280"/>
          </a:xfrm>
          <a:prstGeom prst="rect">
            <a:avLst/>
          </a:prstGeom>
          <a:ln w="0">
            <a:noFill/>
          </a:ln>
        </p:spPr>
      </p:pic>
      <p:pic>
        <p:nvPicPr>
          <p:cNvPr id="144" name="" descr=""/>
          <p:cNvPicPr/>
          <p:nvPr/>
        </p:nvPicPr>
        <p:blipFill>
          <a:blip r:embed="rId3"/>
          <a:stretch/>
        </p:blipFill>
        <p:spPr>
          <a:xfrm>
            <a:off x="5486760" y="3572280"/>
            <a:ext cx="5196960" cy="2596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" descr=""/>
          <p:cNvPicPr/>
          <p:nvPr/>
        </p:nvPicPr>
        <p:blipFill>
          <a:blip r:embed="rId1"/>
          <a:stretch/>
        </p:blipFill>
        <p:spPr>
          <a:xfrm>
            <a:off x="228600" y="638280"/>
            <a:ext cx="5254920" cy="2850840"/>
          </a:xfrm>
          <a:prstGeom prst="rect">
            <a:avLst/>
          </a:prstGeom>
          <a:ln w="0">
            <a:noFill/>
          </a:ln>
        </p:spPr>
      </p:pic>
      <p:sp>
        <p:nvSpPr>
          <p:cNvPr id="146" name="TextBox 3"/>
          <p:cNvSpPr/>
          <p:nvPr/>
        </p:nvSpPr>
        <p:spPr>
          <a:xfrm>
            <a:off x="0" y="0"/>
            <a:ext cx="5026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Add dynamic target function that make the Grabber  around the base   code:2 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6220080" y="685800"/>
            <a:ext cx="10236240" cy="21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=&gt; saving checkpoint 'logs/rl_games/masi_direct/2026-01-01_18-37-58/nn/masi_direct.pth'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fps step: 5413 fps step and policy inference: 5350 fps total: 5249 epoch: 125/250 frames: 19046400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fps step: 5608 fps step and policy inference: 5542 fps total: 5433 epoch: 126/250 frames: 19200000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saving next best rewards:  [20355.043]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=&gt; saving checkpoint 'logs/rl_games/masi_direct/2026-01-01_18-37-58/nn/masi_direct.pth'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fps step: 5512 fps step and policy inference: 5448 fps total: 5343 epoch: 127/250 frames: 19353600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457200" y="5943600"/>
            <a:ext cx="7410960" cy="68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log_spawn_radius_min = 0.50 # </a:t>
            </a:r>
            <a:r>
              <a:rPr b="0" lang="zh-CN" sz="1000" spc="-1" strike="noStrike">
                <a:solidFill>
                  <a:srgbClr val="000000"/>
                </a:solidFill>
                <a:latin typeface="Arial"/>
                <a:ea typeface="DejaVu Sans"/>
              </a:rPr>
              <a:t>距离底座中心的最小半径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(</a:t>
            </a:r>
            <a:r>
              <a:rPr b="0" lang="zh-CN" sz="1000" spc="-1" strike="noStrike">
                <a:solidFill>
                  <a:srgbClr val="000000"/>
                </a:solidFill>
                <a:latin typeface="Arial"/>
                <a:ea typeface="DejaVu Sans"/>
              </a:rPr>
              <a:t>米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) log_spawn_radius_max = 0.65 # </a:t>
            </a:r>
            <a:r>
              <a:rPr b="0" lang="zh-CN" sz="1000" spc="-1" strike="noStrike">
                <a:solidFill>
                  <a:srgbClr val="000000"/>
                </a:solidFill>
                <a:latin typeface="Arial"/>
                <a:ea typeface="DejaVu Sans"/>
              </a:rPr>
              <a:t>距离底座中心的最大半径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(</a:t>
            </a:r>
            <a:r>
              <a:rPr b="0" lang="zh-CN" sz="1000" spc="-1" strike="noStrike">
                <a:solidFill>
                  <a:srgbClr val="000000"/>
                </a:solidFill>
                <a:latin typeface="Arial"/>
                <a:ea typeface="DejaVu Sans"/>
              </a:rPr>
              <a:t>米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)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</p:txBody>
      </p:sp>
      <p:pic>
        <p:nvPicPr>
          <p:cNvPr id="149" name="" descr=""/>
          <p:cNvPicPr/>
          <p:nvPr/>
        </p:nvPicPr>
        <p:blipFill>
          <a:blip r:embed="rId2"/>
          <a:stretch/>
        </p:blipFill>
        <p:spPr>
          <a:xfrm>
            <a:off x="2784600" y="3548520"/>
            <a:ext cx="3841920" cy="2392200"/>
          </a:xfrm>
          <a:prstGeom prst="rect">
            <a:avLst/>
          </a:prstGeom>
          <a:ln w="0">
            <a:noFill/>
          </a:ln>
        </p:spPr>
      </p:pic>
      <p:pic>
        <p:nvPicPr>
          <p:cNvPr id="150" name="" descr=""/>
          <p:cNvPicPr/>
          <p:nvPr/>
        </p:nvPicPr>
        <p:blipFill>
          <a:blip r:embed="rId3"/>
          <a:stretch/>
        </p:blipFill>
        <p:spPr>
          <a:xfrm>
            <a:off x="7645320" y="2533680"/>
            <a:ext cx="4239000" cy="1806840"/>
          </a:xfrm>
          <a:prstGeom prst="rect">
            <a:avLst/>
          </a:prstGeom>
          <a:ln w="0">
            <a:noFill/>
          </a:ln>
        </p:spPr>
      </p:pic>
      <p:sp>
        <p:nvSpPr>
          <p:cNvPr id="151" name=""/>
          <p:cNvSpPr/>
          <p:nvPr/>
        </p:nvSpPr>
        <p:spPr>
          <a:xfrm>
            <a:off x="8317080" y="4491000"/>
            <a:ext cx="10425240" cy="21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ps step: 5006 fps step and policy inference: 4954 fps total: 4866 epoch: 248/250 frames: 37939200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saving next best rewards:  [32838.46]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=&gt; saving checkpoint 'logs/rl_games/masi_direct/2026-01-01_18-37-58/nn/masi_direct.pth'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fps step: 4990 fps step and policy inference: 4938 fps total: 4851 epoch: 249/250 frames: 38092800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fps step: 5009 fps step and policy inference: 4957 fps total: 4869 epoch: 250/250 frames: 38246400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=&gt; saving checkpoint 'logs/rl_games/masi_direct/2026-01-01_18-37-58/nn/last_masi_direct_ep_250_rew__30362.361_.pth'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MAX EPOCHS NUM!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>
            <a:off x="524880" y="457200"/>
            <a:ext cx="24465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train_2_initial_1.webm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53" name="" descr=""/>
          <p:cNvPicPr/>
          <p:nvPr/>
        </p:nvPicPr>
        <p:blipFill>
          <a:blip r:embed="rId1"/>
          <a:stretch/>
        </p:blipFill>
        <p:spPr>
          <a:xfrm>
            <a:off x="457200" y="914400"/>
            <a:ext cx="10164600" cy="5200200"/>
          </a:xfrm>
          <a:prstGeom prst="rect">
            <a:avLst/>
          </a:prstGeom>
          <a:ln w="0">
            <a:noFill/>
          </a:ln>
        </p:spPr>
      </p:pic>
      <p:sp>
        <p:nvSpPr>
          <p:cNvPr id="154" name=""/>
          <p:cNvSpPr/>
          <p:nvPr/>
        </p:nvSpPr>
        <p:spPr>
          <a:xfrm>
            <a:off x="3200400" y="339120"/>
            <a:ext cx="15231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masi30_1.zip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>
            <a:off x="424800" y="267480"/>
            <a:ext cx="4832640" cy="24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latin typeface="Arial"/>
              </a:rPr>
              <a:t>I widened the auto‑grip distances and relaxed the grasp reward threshold so the claws close earlier and stay closed longer. That should make it easier to actually pick the log up.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latin typeface="Arial"/>
              </a:rPr>
              <a:t>Changes: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latin typeface="Arial"/>
              </a:rPr>
              <a:t>ik_rel_log_env_cfg.py — close_dist 0.08, open_dist 0.12, grasp threshold 0.1.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latin typeface="Arial"/>
              </a:rPr>
              <a:t>If this still doesn’t lift, I want to verify you’re training with this exact cfg file. Which config path are you launching? If you want, I can also temporarily set yaw_range to 0 during training to confirm the lift pipeline still works, then re‑enable yaw later.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546120" y="2743200"/>
            <a:ext cx="72259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/home/jack/NA3/IsaacLab/logs/rsl_rl/masi_logik/2026-01-25_22-50-18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57" name="" descr=""/>
          <p:cNvPicPr/>
          <p:nvPr/>
        </p:nvPicPr>
        <p:blipFill>
          <a:blip r:embed="rId1"/>
          <a:stretch/>
        </p:blipFill>
        <p:spPr>
          <a:xfrm>
            <a:off x="685800" y="3200400"/>
            <a:ext cx="4409280" cy="2980440"/>
          </a:xfrm>
          <a:prstGeom prst="rect">
            <a:avLst/>
          </a:prstGeom>
          <a:ln w="0">
            <a:noFill/>
          </a:ln>
        </p:spPr>
      </p:pic>
      <p:sp>
        <p:nvSpPr>
          <p:cNvPr id="158" name=""/>
          <p:cNvSpPr/>
          <p:nvPr/>
        </p:nvSpPr>
        <p:spPr>
          <a:xfrm>
            <a:off x="5391000" y="3653640"/>
            <a:ext cx="1238040" cy="23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latin typeface="Arial"/>
              </a:rPr>
              <a:t>"yaw_range": 0.35,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6837480" y="3575520"/>
            <a:ext cx="18489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latin typeface="Arial"/>
              </a:rPr>
              <a:t>0.35</a:t>
            </a:r>
            <a:r>
              <a:rPr b="0" lang="zh-CN" sz="1000" spc="-1" strike="noStrike">
                <a:latin typeface="Arial"/>
              </a:rPr>
              <a:t>（≈</a:t>
            </a:r>
            <a:r>
              <a:rPr b="0" lang="en-US" sz="1000" spc="-1" strike="noStrike">
                <a:latin typeface="Arial"/>
              </a:rPr>
              <a:t>±20°</a:t>
            </a:r>
            <a:r>
              <a:rPr b="0" lang="zh-CN" sz="1000" spc="-1" strike="noStrike">
                <a:latin typeface="Arial"/>
              </a:rPr>
              <a:t>）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5466240" y="4114800"/>
            <a:ext cx="32202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latin typeface="Arial"/>
              </a:rPr>
              <a:t>Now   ±90°</a:t>
            </a:r>
            <a:r>
              <a:rPr b="0" lang="zh-CN" sz="1000" spc="-1" strike="noStrike">
                <a:latin typeface="Arial"/>
              </a:rPr>
              <a:t>（</a:t>
            </a:r>
            <a:r>
              <a:rPr b="0" lang="en-US" sz="1000" spc="-1" strike="noStrike">
                <a:latin typeface="Arial"/>
              </a:rPr>
              <a:t>yaw_range = 1.5707963267948966</a:t>
            </a:r>
            <a:r>
              <a:rPr b="0" lang="zh-CN" sz="1000" spc="-1" strike="noStrike">
                <a:latin typeface="Arial"/>
              </a:rPr>
              <a:t>）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>
            <a:off x="547920" y="567720"/>
            <a:ext cx="15091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31_1_train_1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2514600" y="567720"/>
            <a:ext cx="30499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https://youtu.be/rtYx0ppcatE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457200" y="2396520"/>
            <a:ext cx="23824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2026-01-26_16-47-35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2971800" y="2514600"/>
            <a:ext cx="30499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Play,  10000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631440" y="2053440"/>
            <a:ext cx="1654200" cy="23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latin typeface="Arial"/>
              </a:rPr>
              <a:t>30 1 play 1 1000 episodes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468720" y="3301920"/>
            <a:ext cx="4788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latin typeface="Arial"/>
              </a:rPr>
              <a:t> </a:t>
            </a:r>
            <a:r>
              <a:rPr b="0" lang="en-US" sz="1000" spc="-1" strike="noStrike">
                <a:latin typeface="Arial"/>
              </a:rPr>
              <a:t>±90°</a:t>
            </a:r>
            <a:r>
              <a:rPr b="0" lang="zh-CN" sz="1000" spc="-1" strike="noStrike">
                <a:latin typeface="Arial"/>
              </a:rPr>
              <a:t>（</a:t>
            </a:r>
            <a:r>
              <a:rPr b="0" lang="en-US" sz="1000" spc="-1" strike="noStrike">
                <a:latin typeface="Arial"/>
              </a:rPr>
              <a:t>yaw_range = 1.5707963267948966</a:t>
            </a:r>
            <a:r>
              <a:rPr b="0" lang="zh-CN" sz="1000" spc="-1" strike="noStrike">
                <a:latin typeface="Arial"/>
              </a:rPr>
              <a:t>）在 </a:t>
            </a:r>
            <a:r>
              <a:rPr b="0" lang="en-US" sz="1000" spc="-1" strike="noStrike">
                <a:latin typeface="Arial"/>
              </a:rPr>
              <a:t>ik_rel_log_env_cfg.py</a:t>
            </a:r>
            <a:r>
              <a:rPr b="0" lang="zh-CN" sz="1000" spc="-1" strike="noStrike">
                <a:latin typeface="Arial"/>
              </a:rPr>
              <a:t>。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914400" y="3886200"/>
            <a:ext cx="34768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https://youtu.be/VP38rEwmWuM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914400" y="4343400"/>
            <a:ext cx="32558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https://youtu.be/YJpLcEPTuLo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" descr=""/>
          <p:cNvPicPr/>
          <p:nvPr/>
        </p:nvPicPr>
        <p:blipFill>
          <a:blip r:embed="rId1"/>
          <a:stretch/>
        </p:blipFill>
        <p:spPr>
          <a:xfrm>
            <a:off x="228600" y="374400"/>
            <a:ext cx="8000640" cy="4883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" descr=""/>
          <p:cNvPicPr/>
          <p:nvPr/>
        </p:nvPicPr>
        <p:blipFill>
          <a:blip r:embed="rId1"/>
          <a:stretch/>
        </p:blipFill>
        <p:spPr>
          <a:xfrm>
            <a:off x="508680" y="9720"/>
            <a:ext cx="11234880" cy="6857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" descr=""/>
          <p:cNvPicPr/>
          <p:nvPr/>
        </p:nvPicPr>
        <p:blipFill>
          <a:blip r:embed="rId1"/>
          <a:stretch/>
        </p:blipFill>
        <p:spPr>
          <a:xfrm>
            <a:off x="546480" y="9720"/>
            <a:ext cx="11159280" cy="6857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" descr=""/>
          <p:cNvPicPr/>
          <p:nvPr/>
        </p:nvPicPr>
        <p:blipFill>
          <a:blip r:embed="rId1"/>
          <a:stretch/>
        </p:blipFill>
        <p:spPr>
          <a:xfrm>
            <a:off x="546480" y="9720"/>
            <a:ext cx="11159280" cy="6857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" descr=""/>
          <p:cNvPicPr/>
          <p:nvPr/>
        </p:nvPicPr>
        <p:blipFill>
          <a:blip r:embed="rId1"/>
          <a:stretch/>
        </p:blipFill>
        <p:spPr>
          <a:xfrm>
            <a:off x="546480" y="9720"/>
            <a:ext cx="11159280" cy="6857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1810160" cy="4599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" descr=""/>
          <p:cNvPicPr/>
          <p:nvPr/>
        </p:nvPicPr>
        <p:blipFill>
          <a:blip r:embed="rId1"/>
          <a:stretch/>
        </p:blipFill>
        <p:spPr>
          <a:xfrm>
            <a:off x="652680" y="9720"/>
            <a:ext cx="10946880" cy="6857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Box 6"/>
          <p:cNvSpPr/>
          <p:nvPr/>
        </p:nvSpPr>
        <p:spPr>
          <a:xfrm>
            <a:off x="528480" y="641880"/>
            <a:ext cx="786816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 Unicode MS"/>
                <a:ea typeface="DejaVu Sans"/>
              </a:rPr>
              <a:t>base</a:t>
            </a:r>
            <a:r>
              <a:rPr b="0" lang="en-US" sz="1400" spc="-1" strike="noStrike">
                <a:solidFill>
                  <a:srgbClr val="000000"/>
                </a:solidFill>
                <a:latin typeface="等线"/>
                <a:ea typeface="DejaVu Sans"/>
              </a:rPr>
              <a:t> ≈ </a:t>
            </a:r>
            <a:r>
              <a:rPr b="0" lang="en-US" sz="1800" spc="-1" strike="noStrike">
                <a:solidFill>
                  <a:srgbClr val="000000"/>
                </a:solidFill>
                <a:latin typeface="Arial Unicode MS"/>
                <a:ea typeface="DejaVu Sans"/>
              </a:rPr>
              <a:t>test_bench</a:t>
            </a:r>
            <a:r>
              <a:rPr b="0" lang="zh-CN" sz="1400" spc="-1" strike="noStrike">
                <a:solidFill>
                  <a:srgbClr val="000000"/>
                </a:solidFill>
                <a:latin typeface="等线"/>
                <a:ea typeface="DejaVu Sans"/>
              </a:rPr>
              <a:t>（或者 </a:t>
            </a:r>
            <a:r>
              <a:rPr b="0" lang="en-US" sz="1800" spc="-1" strike="noStrike">
                <a:solidFill>
                  <a:srgbClr val="000000"/>
                </a:solidFill>
                <a:latin typeface="Arial Unicode MS"/>
                <a:ea typeface="DejaVu Sans"/>
              </a:rPr>
              <a:t>test_bench + mountboom</a:t>
            </a:r>
            <a:r>
              <a:rPr b="0" lang="en-US" sz="1400" spc="-1" strike="noStrike">
                <a:solidFill>
                  <a:srgbClr val="000000"/>
                </a:solidFill>
                <a:latin typeface="等线"/>
                <a:ea typeface="DejaVu Sans"/>
              </a:rPr>
              <a:t> </a:t>
            </a:r>
            <a:r>
              <a:rPr b="0" lang="zh-CN" sz="1400" spc="-1" strike="noStrike">
                <a:solidFill>
                  <a:srgbClr val="000000"/>
                </a:solidFill>
                <a:latin typeface="等线"/>
                <a:ea typeface="DejaVu Sans"/>
              </a:rPr>
              <a:t>这一块底座）</a:t>
            </a:r>
            <a:endParaRPr b="0" lang="en-US" sz="14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 Unicode MS"/>
                <a:ea typeface="DejaVu Sans"/>
              </a:rPr>
              <a:t>boom</a:t>
            </a:r>
            <a:r>
              <a:rPr b="0" lang="en-US" sz="1400" spc="-1" strike="noStrike">
                <a:solidFill>
                  <a:srgbClr val="000000"/>
                </a:solidFill>
                <a:latin typeface="等线"/>
                <a:ea typeface="DejaVu Sans"/>
              </a:rPr>
              <a:t> ≈ </a:t>
            </a:r>
            <a:r>
              <a:rPr b="0" lang="en-US" sz="1800" spc="-1" strike="noStrike">
                <a:solidFill>
                  <a:srgbClr val="000000"/>
                </a:solidFill>
                <a:latin typeface="Arial Unicode MS"/>
                <a:ea typeface="DejaVu Sans"/>
              </a:rPr>
              <a:t>liftboom</a:t>
            </a:r>
            <a:r>
              <a:rPr b="0" lang="zh-CN" sz="1400" spc="-1" strike="noStrike">
                <a:solidFill>
                  <a:srgbClr val="000000"/>
                </a:solidFill>
                <a:latin typeface="等线"/>
                <a:ea typeface="DejaVu Sans"/>
              </a:rPr>
              <a:t>（第一节大臂，负责 </a:t>
            </a:r>
            <a:r>
              <a:rPr b="0" lang="en-US" sz="1400" spc="-1" strike="noStrike">
                <a:solidFill>
                  <a:srgbClr val="000000"/>
                </a:solidFill>
                <a:latin typeface="等线"/>
                <a:ea typeface="DejaVu Sans"/>
              </a:rPr>
              <a:t>lift</a:t>
            </a:r>
            <a:r>
              <a:rPr b="0" lang="zh-CN" sz="1400" spc="-1" strike="noStrike">
                <a:solidFill>
                  <a:srgbClr val="000000"/>
                </a:solidFill>
                <a:latin typeface="等线"/>
                <a:ea typeface="DejaVu Sans"/>
              </a:rPr>
              <a:t>）</a:t>
            </a:r>
            <a:endParaRPr b="0" lang="en-US" sz="14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 Unicode MS"/>
                <a:ea typeface="DejaVu Sans"/>
              </a:rPr>
              <a:t>arm</a:t>
            </a:r>
            <a:r>
              <a:rPr b="0" lang="en-US" sz="1400" spc="-1" strike="noStrike">
                <a:solidFill>
                  <a:srgbClr val="000000"/>
                </a:solidFill>
                <a:latin typeface="等线"/>
                <a:ea typeface="DejaVu Sans"/>
              </a:rPr>
              <a:t> ≈ </a:t>
            </a:r>
            <a:r>
              <a:rPr b="0" lang="en-US" sz="1800" spc="-1" strike="noStrike">
                <a:solidFill>
                  <a:srgbClr val="000000"/>
                </a:solidFill>
                <a:latin typeface="Arial Unicode MS"/>
                <a:ea typeface="DejaVu Sans"/>
              </a:rPr>
              <a:t>tiltboom</a:t>
            </a:r>
            <a:r>
              <a:rPr b="0" lang="zh-CN" sz="1400" spc="-1" strike="noStrike">
                <a:solidFill>
                  <a:srgbClr val="000000"/>
                </a:solidFill>
                <a:latin typeface="等线"/>
                <a:ea typeface="DejaVu Sans"/>
              </a:rPr>
              <a:t>（第二节小臂，负责 </a:t>
            </a:r>
            <a:r>
              <a:rPr b="0" lang="en-US" sz="1400" spc="-1" strike="noStrike">
                <a:solidFill>
                  <a:srgbClr val="000000"/>
                </a:solidFill>
                <a:latin typeface="等线"/>
                <a:ea typeface="DejaVu Sans"/>
              </a:rPr>
              <a:t>tilt</a:t>
            </a:r>
            <a:r>
              <a:rPr b="0" lang="zh-CN" sz="1400" spc="-1" strike="noStrike">
                <a:solidFill>
                  <a:srgbClr val="000000"/>
                </a:solidFill>
                <a:latin typeface="等线"/>
                <a:ea typeface="DejaVu Sans"/>
              </a:rPr>
              <a:t>）</a:t>
            </a:r>
            <a:endParaRPr b="0" lang="en-US" sz="14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 Unicode MS"/>
                <a:ea typeface="DejaVu Sans"/>
              </a:rPr>
              <a:t>bucket</a:t>
            </a:r>
            <a:r>
              <a:rPr b="0" lang="en-US" sz="1400" spc="-1" strike="noStrike">
                <a:solidFill>
                  <a:srgbClr val="000000"/>
                </a:solidFill>
                <a:latin typeface="等线"/>
                <a:ea typeface="DejaVu Sans"/>
              </a:rPr>
              <a:t> ≈ </a:t>
            </a:r>
            <a:r>
              <a:rPr b="0" lang="en-US" sz="1800" spc="-1" strike="noStrike">
                <a:solidFill>
                  <a:srgbClr val="000000"/>
                </a:solidFill>
                <a:latin typeface="Arial Unicode MS"/>
                <a:ea typeface="DejaVu Sans"/>
              </a:rPr>
              <a:t>scoop</a:t>
            </a:r>
            <a:r>
              <a:rPr b="0" lang="zh-CN" sz="1400" spc="-1" strike="noStrike">
                <a:solidFill>
                  <a:srgbClr val="000000"/>
                </a:solidFill>
                <a:latin typeface="等线"/>
                <a:ea typeface="DejaVu Sans"/>
              </a:rPr>
              <a:t>（铲斗）</a:t>
            </a:r>
            <a:endParaRPr b="0" lang="en-US" sz="14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 Unicode MS"/>
                <a:ea typeface="DejaVu Sans"/>
              </a:rPr>
              <a:t>tip</a:t>
            </a:r>
            <a:r>
              <a:rPr b="0" lang="en-US" sz="1400" spc="-1" strike="noStrike">
                <a:solidFill>
                  <a:srgbClr val="000000"/>
                </a:solidFill>
                <a:latin typeface="等线"/>
                <a:ea typeface="DejaVu Sans"/>
              </a:rPr>
              <a:t> ≈ </a:t>
            </a:r>
            <a:r>
              <a:rPr b="0" lang="en-US" sz="1800" spc="-1" strike="noStrike">
                <a:solidFill>
                  <a:srgbClr val="000000"/>
                </a:solidFill>
                <a:latin typeface="Arial Unicode MS"/>
                <a:ea typeface="DejaVu Sans"/>
              </a:rPr>
              <a:t>end_point</a:t>
            </a:r>
            <a:r>
              <a:rPr b="0" lang="zh-CN" sz="1400" spc="-1" strike="noStrike">
                <a:solidFill>
                  <a:srgbClr val="000000"/>
                </a:solidFill>
                <a:latin typeface="等线"/>
                <a:ea typeface="DejaVu Sans"/>
              </a:rPr>
              <a:t>（末端点）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77" name="TextBox 9"/>
          <p:cNvSpPr/>
          <p:nvPr/>
        </p:nvSpPr>
        <p:spPr>
          <a:xfrm>
            <a:off x="609480" y="2452680"/>
            <a:ext cx="901620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等线"/>
                <a:ea typeface="DejaVu Sans"/>
              </a:rPr>
              <a:t>test_bench ──fix_to_scene──&gt; mountboom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等线"/>
                <a:ea typeface="DejaVu Sans"/>
              </a:rPr>
              <a:t>  └─</a:t>
            </a:r>
            <a:r>
              <a:rPr b="0" lang="en-US" sz="1800" spc="-1" strike="noStrike">
                <a:solidFill>
                  <a:srgbClr val="000000"/>
                </a:solidFill>
                <a:latin typeface="等线"/>
                <a:ea typeface="DejaVu Sans"/>
              </a:rPr>
              <a:t>(revolute_lift)──&gt; liftboom        ← </a:t>
            </a:r>
            <a:r>
              <a:rPr b="0" lang="zh-CN" sz="1800" spc="-1" strike="noStrike">
                <a:solidFill>
                  <a:srgbClr val="000000"/>
                </a:solidFill>
                <a:latin typeface="等线"/>
                <a:ea typeface="DejaVu Sans"/>
              </a:rPr>
              <a:t>对应原来的 </a:t>
            </a:r>
            <a:r>
              <a:rPr b="0" lang="en-US" sz="1800" spc="-1" strike="noStrike">
                <a:solidFill>
                  <a:srgbClr val="000000"/>
                </a:solidFill>
                <a:latin typeface="等线"/>
                <a:ea typeface="DejaVu Sans"/>
              </a:rPr>
              <a:t>boom </a:t>
            </a:r>
            <a:r>
              <a:rPr b="0" lang="zh-CN" sz="1800" spc="-1" strike="noStrike">
                <a:solidFill>
                  <a:srgbClr val="000000"/>
                </a:solidFill>
                <a:latin typeface="等线"/>
                <a:ea typeface="DejaVu Sans"/>
              </a:rPr>
              <a:t>关节（</a:t>
            </a:r>
            <a:r>
              <a:rPr b="0" lang="en-US" sz="1800" spc="-1" strike="noStrike">
                <a:solidFill>
                  <a:srgbClr val="000000"/>
                </a:solidFill>
                <a:latin typeface="等线"/>
                <a:ea typeface="DejaVu Sans"/>
              </a:rPr>
              <a:t>jointBoom</a:t>
            </a:r>
            <a:r>
              <a:rPr b="0" lang="zh-CN" sz="1800" spc="-1" strike="noStrike">
                <a:solidFill>
                  <a:srgbClr val="000000"/>
                </a:solidFill>
                <a:latin typeface="等线"/>
                <a:ea typeface="DejaVu Sans"/>
              </a:rPr>
              <a:t>）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等线"/>
                <a:ea typeface="DejaVu Sans"/>
              </a:rPr>
              <a:t>        └─</a:t>
            </a:r>
            <a:r>
              <a:rPr b="0" lang="en-US" sz="1800" spc="-1" strike="noStrike">
                <a:solidFill>
                  <a:srgbClr val="000000"/>
                </a:solidFill>
                <a:latin typeface="等线"/>
                <a:ea typeface="DejaVu Sans"/>
              </a:rPr>
              <a:t>(revolute_tilt)──&gt; tiltboom  ← </a:t>
            </a:r>
            <a:r>
              <a:rPr b="0" lang="zh-CN" sz="1800" spc="-1" strike="noStrike">
                <a:solidFill>
                  <a:srgbClr val="000000"/>
                </a:solidFill>
                <a:latin typeface="等线"/>
                <a:ea typeface="DejaVu Sans"/>
              </a:rPr>
              <a:t>对应原来的 </a:t>
            </a:r>
            <a:r>
              <a:rPr b="0" lang="en-US" sz="1800" spc="-1" strike="noStrike">
                <a:solidFill>
                  <a:srgbClr val="000000"/>
                </a:solidFill>
                <a:latin typeface="等线"/>
                <a:ea typeface="DejaVu Sans"/>
              </a:rPr>
              <a:t>arm </a:t>
            </a:r>
            <a:r>
              <a:rPr b="0" lang="zh-CN" sz="1800" spc="-1" strike="noStrike">
                <a:solidFill>
                  <a:srgbClr val="000000"/>
                </a:solidFill>
                <a:latin typeface="等线"/>
                <a:ea typeface="DejaVu Sans"/>
              </a:rPr>
              <a:t>关节（</a:t>
            </a:r>
            <a:r>
              <a:rPr b="0" lang="en-US" sz="1800" spc="-1" strike="noStrike">
                <a:solidFill>
                  <a:srgbClr val="000000"/>
                </a:solidFill>
                <a:latin typeface="等线"/>
                <a:ea typeface="DejaVu Sans"/>
              </a:rPr>
              <a:t>jointArm</a:t>
            </a:r>
            <a:r>
              <a:rPr b="0" lang="zh-CN" sz="1800" spc="-1" strike="noStrike">
                <a:solidFill>
                  <a:srgbClr val="000000"/>
                </a:solidFill>
                <a:latin typeface="等线"/>
                <a:ea typeface="DejaVu Sans"/>
              </a:rPr>
              <a:t>）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等线"/>
                <a:ea typeface="DejaVu Sans"/>
              </a:rPr>
              <a:t>              └─</a:t>
            </a:r>
            <a:r>
              <a:rPr b="0" lang="en-US" sz="1800" spc="-1" strike="noStrike">
                <a:solidFill>
                  <a:srgbClr val="000000"/>
                </a:solidFill>
                <a:latin typeface="等线"/>
                <a:ea typeface="DejaVu Sans"/>
              </a:rPr>
              <a:t>(revolute_scoop)──&gt; scoop  ← </a:t>
            </a:r>
            <a:r>
              <a:rPr b="0" lang="zh-CN" sz="1800" spc="-1" strike="noStrike">
                <a:solidFill>
                  <a:srgbClr val="000000"/>
                </a:solidFill>
                <a:latin typeface="等线"/>
                <a:ea typeface="DejaVu Sans"/>
              </a:rPr>
              <a:t>对应原来的 </a:t>
            </a:r>
            <a:r>
              <a:rPr b="0" lang="en-US" sz="1800" spc="-1" strike="noStrike">
                <a:solidFill>
                  <a:srgbClr val="000000"/>
                </a:solidFill>
                <a:latin typeface="等线"/>
                <a:ea typeface="DejaVu Sans"/>
              </a:rPr>
              <a:t>bucket </a:t>
            </a:r>
            <a:r>
              <a:rPr b="0" lang="zh-CN" sz="1800" spc="-1" strike="noStrike">
                <a:solidFill>
                  <a:srgbClr val="000000"/>
                </a:solidFill>
                <a:latin typeface="等线"/>
                <a:ea typeface="DejaVu Sans"/>
              </a:rPr>
              <a:t>关节（</a:t>
            </a:r>
            <a:r>
              <a:rPr b="0" lang="en-US" sz="1800" spc="-1" strike="noStrike">
                <a:solidFill>
                  <a:srgbClr val="000000"/>
                </a:solidFill>
                <a:latin typeface="等线"/>
                <a:ea typeface="DejaVu Sans"/>
              </a:rPr>
              <a:t>jointBucket</a:t>
            </a:r>
            <a:r>
              <a:rPr b="0" lang="zh-CN" sz="1800" spc="-1" strike="noStrike">
                <a:solidFill>
                  <a:srgbClr val="000000"/>
                </a:solidFill>
                <a:latin typeface="等线"/>
                <a:ea typeface="DejaVu Sans"/>
              </a:rPr>
              <a:t>）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等线"/>
                <a:ea typeface="DejaVu Sans"/>
              </a:rPr>
              <a:t>                    └─</a:t>
            </a:r>
            <a:r>
              <a:rPr b="0" lang="en-US" sz="1800" spc="-1" strike="noStrike">
                <a:solidFill>
                  <a:srgbClr val="000000"/>
                </a:solidFill>
                <a:latin typeface="等线"/>
                <a:ea typeface="DejaVu Sans"/>
              </a:rPr>
              <a:t>FixedJoint──&gt; end_point  ← </a:t>
            </a:r>
            <a:r>
              <a:rPr b="0" lang="zh-CN" sz="1800" spc="-1" strike="noStrike">
                <a:solidFill>
                  <a:srgbClr val="000000"/>
                </a:solidFill>
                <a:latin typeface="等线"/>
                <a:ea typeface="DejaVu Sans"/>
              </a:rPr>
              <a:t>对应原来的 </a:t>
            </a:r>
            <a:r>
              <a:rPr b="0" lang="en-US" sz="1800" spc="-1" strike="noStrike">
                <a:solidFill>
                  <a:srgbClr val="000000"/>
                </a:solidFill>
                <a:latin typeface="等线"/>
                <a:ea typeface="DejaVu Sans"/>
              </a:rPr>
              <a:t>tip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8" name="TextBox 11"/>
          <p:cNvSpPr/>
          <p:nvPr/>
        </p:nvSpPr>
        <p:spPr>
          <a:xfrm>
            <a:off x="914040" y="4450680"/>
            <a:ext cx="985968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等线"/>
                <a:ea typeface="DejaVu Sans"/>
              </a:rPr>
              <a:t>&lt;joint name="revolute_tilt" origin="0.20564 0 0.420085" parent="liftboom" child="tiltboom"/&gt;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等线"/>
                <a:ea typeface="DejaVu Sans"/>
              </a:rPr>
              <a:t>&lt;joint name="revolute_scoop" origin="0.25 0 0" parent="tiltboom" child="scoop"/&gt;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Rectangle 7"/>
          <p:cNvSpPr/>
          <p:nvPr/>
        </p:nvSpPr>
        <p:spPr>
          <a:xfrm>
            <a:off x="0" y="0"/>
            <a:ext cx="12186360" cy="68522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0" name="Right Triangle 9"/>
          <p:cNvSpPr/>
          <p:nvPr/>
        </p:nvSpPr>
        <p:spPr>
          <a:xfrm flipH="1">
            <a:off x="8570880" y="3335760"/>
            <a:ext cx="3286080" cy="319464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1" name="Rectangle 11"/>
          <p:cNvSpPr/>
          <p:nvPr/>
        </p:nvSpPr>
        <p:spPr>
          <a:xfrm>
            <a:off x="641880" y="623160"/>
            <a:ext cx="10899360" cy="5601960"/>
          </a:xfrm>
          <a:prstGeom prst="rect">
            <a:avLst/>
          </a:prstGeom>
          <a:noFill/>
          <a:ln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1075680" y="1188720"/>
            <a:ext cx="2982600" cy="447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algn="r">
              <a:lnSpc>
                <a:spcPct val="90000"/>
              </a:lnSpc>
              <a:buNone/>
            </a:pPr>
            <a:r>
              <a:rPr b="1" lang="en-US" sz="6600" spc="-1" strike="noStrike">
                <a:solidFill>
                  <a:srgbClr val="000000"/>
                </a:solidFill>
                <a:latin typeface="等线 Light"/>
              </a:rPr>
              <a:t>outline</a:t>
            </a:r>
            <a:endParaRPr b="0" lang="en-US" sz="6600" spc="-1" strike="noStrike">
              <a:latin typeface="Arial"/>
            </a:endParaRPr>
          </a:p>
        </p:txBody>
      </p:sp>
      <p:sp>
        <p:nvSpPr>
          <p:cNvPr id="183" name="Straight Connector 13"/>
          <p:cNvSpPr/>
          <p:nvPr/>
        </p:nvSpPr>
        <p:spPr>
          <a:xfrm>
            <a:off x="4654080" y="1852560"/>
            <a:ext cx="360" cy="3236760"/>
          </a:xfrm>
          <a:prstGeom prst="line">
            <a:avLst/>
          </a:prstGeom>
          <a:ln cap="sq" w="1905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4" name="PlaceHolder 2"/>
          <p:cNvSpPr>
            <a:spLocks noGrp="1"/>
          </p:cNvSpPr>
          <p:nvPr>
            <p:ph type="subTitle"/>
          </p:nvPr>
        </p:nvSpPr>
        <p:spPr>
          <a:xfrm>
            <a:off x="5255280" y="1648800"/>
            <a:ext cx="4696920" cy="35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marL="2160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等线"/>
              </a:rPr>
              <a:t>Topic</a:t>
            </a:r>
            <a:endParaRPr b="0" lang="en-US" sz="2400" spc="-1" strike="noStrike">
              <a:latin typeface="Arial"/>
            </a:endParaRPr>
          </a:p>
          <a:p>
            <a:pPr marL="2160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等线"/>
              </a:rPr>
              <a:t>Goals</a:t>
            </a:r>
            <a:endParaRPr b="0" lang="en-US" sz="2400" spc="-1" strike="noStrike">
              <a:latin typeface="Arial"/>
            </a:endParaRPr>
          </a:p>
          <a:p>
            <a:pPr marL="2160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等线"/>
              </a:rPr>
              <a:t>Plans</a:t>
            </a:r>
            <a:endParaRPr b="0" lang="en-US" sz="2400" spc="-1" strike="noStrike">
              <a:latin typeface="Arial"/>
            </a:endParaRPr>
          </a:p>
          <a:p>
            <a:pPr marL="2160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等线"/>
              </a:rPr>
              <a:t>Study resource/ code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3727440" y="594720"/>
            <a:ext cx="4601160" cy="98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en-US" sz="6000" spc="-1" strike="noStrike">
                <a:solidFill>
                  <a:srgbClr val="000000"/>
                </a:solidFill>
                <a:latin typeface="等线 Light"/>
              </a:rPr>
              <a:t>Thesis  topic </a:t>
            </a:r>
            <a:endParaRPr b="0" lang="en-US" sz="6000" spc="-1" strike="noStrike">
              <a:latin typeface="Arial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subTitle"/>
          </p:nvPr>
        </p:nvSpPr>
        <p:spPr>
          <a:xfrm>
            <a:off x="1523880" y="2371320"/>
            <a:ext cx="900756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等线"/>
              </a:rPr>
              <a:t>Simulation-based development for a nonlinear  excavator system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等线"/>
              </a:rPr>
              <a:t>(with emphasis on practical </a:t>
            </a:r>
            <a:r>
              <a:rPr b="1" lang="en-US" sz="2400" spc="-1" strike="noStrike">
                <a:solidFill>
                  <a:srgbClr val="000000"/>
                </a:solidFill>
                <a:latin typeface="等线"/>
              </a:rPr>
              <a:t>feasibility</a:t>
            </a:r>
            <a:r>
              <a:rPr b="0" lang="en-US" sz="2400" spc="-1" strike="noStrike">
                <a:solidFill>
                  <a:srgbClr val="000000"/>
                </a:solidFill>
                <a:latin typeface="等线"/>
              </a:rPr>
              <a:t> and flexible model choice)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1523880" y="219960"/>
            <a:ext cx="9138240" cy="142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en-US" sz="6000" spc="-1" strike="noStrike">
                <a:solidFill>
                  <a:srgbClr val="000000"/>
                </a:solidFill>
                <a:latin typeface="等线 Light"/>
              </a:rPr>
              <a:t>Research Goals</a:t>
            </a:r>
            <a:br>
              <a:rPr sz="6000"/>
            </a:br>
            <a:endParaRPr b="0" lang="en-US" sz="6000" spc="-1" strike="noStrike"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subTitle"/>
          </p:nvPr>
        </p:nvSpPr>
        <p:spPr>
          <a:xfrm>
            <a:off x="1589400" y="1650960"/>
            <a:ext cx="900756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等线"/>
              </a:rPr>
              <a:t>1.Use provided excavator model or similar excavator model from open resource to build environment 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等线"/>
              </a:rPr>
              <a:t>2. model-based learning model or reinforcement learning model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GB" sz="2400" spc="-1" strike="noStrike">
                <a:solidFill>
                  <a:srgbClr val="000000"/>
                </a:solidFill>
                <a:latin typeface="等线"/>
              </a:rPr>
              <a:t>3.generate a simulation demo for illustrative tasks (such as log lifting or trajectory tracking).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GB" sz="2400" spc="-1" strike="noStrike">
                <a:solidFill>
                  <a:srgbClr val="000000"/>
                </a:solidFill>
                <a:latin typeface="等线"/>
              </a:rPr>
              <a:t>4.optionally implement and compare different control strategies on simulator  environment, such as MPC vs PID;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Rectangle 6"/>
          <p:cNvSpPr/>
          <p:nvPr/>
        </p:nvSpPr>
        <p:spPr>
          <a:xfrm>
            <a:off x="0" y="0"/>
            <a:ext cx="12186360" cy="68522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0" name="Right Triangle 8"/>
          <p:cNvSpPr/>
          <p:nvPr/>
        </p:nvSpPr>
        <p:spPr>
          <a:xfrm flipH="1">
            <a:off x="8570880" y="3335760"/>
            <a:ext cx="3286080" cy="319464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1" name="Rectangle 10"/>
          <p:cNvSpPr/>
          <p:nvPr/>
        </p:nvSpPr>
        <p:spPr>
          <a:xfrm>
            <a:off x="641880" y="623160"/>
            <a:ext cx="10899360" cy="5601960"/>
          </a:xfrm>
          <a:prstGeom prst="rect">
            <a:avLst/>
          </a:prstGeom>
          <a:noFill/>
          <a:ln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1285200" y="1009080"/>
            <a:ext cx="9225720" cy="353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/>
          </a:bodyPr>
          <a:p>
            <a:pPr>
              <a:lnSpc>
                <a:spcPct val="90000"/>
              </a:lnSpc>
              <a:buNone/>
            </a:pPr>
            <a:r>
              <a:rPr b="0" lang="en-US" sz="11500" spc="-1" strike="noStrike">
                <a:solidFill>
                  <a:srgbClr val="000000"/>
                </a:solidFill>
                <a:latin typeface="等线 Light"/>
              </a:rPr>
              <a:t>Thanks</a:t>
            </a:r>
            <a:endParaRPr b="0" lang="en-US" sz="1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withEffect" fill="hold" presetClass="entr" presetID="10">
                                  <p:stCondLst>
                                    <p:cond delay="5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4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11099</TotalTime>
  <Application>LibreOffice/7.3.7.2$Linux_X86_64 LibreOffice_project/30$Build-2</Application>
  <AppVersion>15.0000</AppVersion>
  <Words>895</Words>
  <Paragraphs>69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2025-12-02T10:32:42Z</dcterms:created>
  <dc:creator>Jiancai x Hou</dc:creator>
  <dc:description/>
  <dc:language>en-US</dc:language>
  <cp:lastModifiedBy/>
  <dcterms:modified xsi:type="dcterms:W3CDTF">2026-01-27T19:22:08Z</dcterms:modified>
  <cp:revision>527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1</vt:i4>
  </property>
  <property fmtid="{D5CDD505-2E9C-101B-9397-08002B2CF9AE}" pid="3" name="Notes">
    <vt:i4>6</vt:i4>
  </property>
  <property fmtid="{D5CDD505-2E9C-101B-9397-08002B2CF9AE}" pid="4" name="PresentationFormat">
    <vt:lpwstr>Widescreen</vt:lpwstr>
  </property>
  <property fmtid="{D5CDD505-2E9C-101B-9397-08002B2CF9AE}" pid="5" name="Slides">
    <vt:i4>21</vt:i4>
  </property>
</Properties>
</file>