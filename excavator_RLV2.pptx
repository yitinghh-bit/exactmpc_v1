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6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315" r:id="rId43"/>
    <p:sldId id="296" r:id="rId44"/>
    <p:sldId id="297" r:id="rId45"/>
    <p:sldId id="298" r:id="rId46"/>
    <p:sldId id="314" r:id="rId47"/>
    <p:sldId id="299" r:id="rId48"/>
    <p:sldId id="300" r:id="rId49"/>
    <p:sldId id="301" r:id="rId50"/>
    <p:sldId id="302" r:id="rId51"/>
    <p:sldId id="303" r:id="rId52"/>
    <p:sldId id="316" r:id="rId53"/>
    <p:sldId id="317" r:id="rId54"/>
    <p:sldId id="318" r:id="rId55"/>
    <p:sldId id="319" r:id="rId56"/>
    <p:sldId id="320" r:id="rId57"/>
    <p:sldId id="321" r:id="rId58"/>
    <p:sldId id="304" r:id="rId59"/>
    <p:sldId id="305" r:id="rId60"/>
    <p:sldId id="306" r:id="rId61"/>
    <p:sldId id="307" r:id="rId62"/>
    <p:sldId id="308" r:id="rId63"/>
    <p:sldId id="309" r:id="rId64"/>
    <p:sldId id="310" r:id="rId65"/>
    <p:sldId id="311" r:id="rId66"/>
    <p:sldId id="312" r:id="rId67"/>
    <p:sldId id="313" r:id="rId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8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85"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86"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87"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6155EA4C-B5D4-4B3F-837C-296DDBDE96A1}"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idx="9"/>
          </p:nvPr>
        </p:nvSpPr>
        <p:spPr/>
        <p:txBody>
          <a:bodyPr/>
          <a:lstStyle/>
          <a:p>
            <a:pPr algn="r">
              <a:buNone/>
            </a:pPr>
            <a:fld id="{6155EA4C-B5D4-4B3F-837C-296DDBDE96A1}" type="slidenum">
              <a:rPr lang="en-US" sz="1400" b="0" strike="noStrike" spc="-1" smtClean="0">
                <a:latin typeface="Times New Roman"/>
              </a:rPr>
              <a:t>45</a:t>
            </a:fld>
            <a:endParaRPr lang="en-US" sz="1400" b="0" strike="noStrike" spc="-1">
              <a:latin typeface="Times New Roman"/>
            </a:endParaRPr>
          </a:p>
        </p:txBody>
      </p:sp>
    </p:spTree>
    <p:extLst>
      <p:ext uri="{BB962C8B-B14F-4D97-AF65-F5344CB8AC3E}">
        <p14:creationId xmlns:p14="http://schemas.microsoft.com/office/powerpoint/2010/main" val="2891713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685800" y="1143000"/>
            <a:ext cx="5481720" cy="3081600"/>
          </a:xfrm>
          <a:prstGeom prst="rect">
            <a:avLst/>
          </a:prstGeom>
          <a:ln w="0">
            <a:noFill/>
          </a:ln>
        </p:spPr>
      </p:sp>
      <p:sp>
        <p:nvSpPr>
          <p:cNvPr id="308" name="PlaceHolder 2"/>
          <p:cNvSpPr>
            <a:spLocks noGrp="1"/>
          </p:cNvSpPr>
          <p:nvPr>
            <p:ph type="body"/>
          </p:nvPr>
        </p:nvSpPr>
        <p:spPr>
          <a:xfrm>
            <a:off x="685800" y="4400640"/>
            <a:ext cx="5481720" cy="3595680"/>
          </a:xfrm>
          <a:prstGeom prst="rect">
            <a:avLst/>
          </a:prstGeom>
          <a:noFill/>
          <a:ln w="0">
            <a:noFill/>
          </a:ln>
        </p:spPr>
        <p:txBody>
          <a:bodyPr lIns="0" tIns="0" rIns="0" bIns="0" anchor="t">
            <a:noAutofit/>
          </a:bodyPr>
          <a:lstStyle/>
          <a:p>
            <a:endParaRPr lang="en-US" sz="2000" b="0" strike="noStrike" spc="-1">
              <a:latin typeface="Arial"/>
            </a:endParaRPr>
          </a:p>
        </p:txBody>
      </p:sp>
      <p:sp>
        <p:nvSpPr>
          <p:cNvPr id="309" name="PlaceHolder 3"/>
          <p:cNvSpPr>
            <a:spLocks noGrp="1"/>
          </p:cNvSpPr>
          <p:nvPr>
            <p:ph type="sldNum" idx="10"/>
          </p:nvPr>
        </p:nvSpPr>
        <p:spPr>
          <a:xfrm>
            <a:off x="3884760" y="8685360"/>
            <a:ext cx="2967120" cy="4539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9684DFA6-CD47-43D3-A479-E6B1A365D00E}" type="slidenum">
              <a:rPr lang="en-US" sz="1200" b="0" strike="noStrike" spc="-1">
                <a:latin typeface="Times New Roman"/>
              </a:rPr>
              <a:t>63</a:t>
            </a:fld>
            <a:endParaRPr lang="en-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noRot="1" noChangeAspect="1"/>
          </p:cNvSpPr>
          <p:nvPr>
            <p:ph type="sldImg"/>
          </p:nvPr>
        </p:nvSpPr>
        <p:spPr>
          <a:xfrm>
            <a:off x="685800" y="1143000"/>
            <a:ext cx="5481720" cy="3081600"/>
          </a:xfrm>
          <a:prstGeom prst="rect">
            <a:avLst/>
          </a:prstGeom>
          <a:ln w="0">
            <a:noFill/>
          </a:ln>
        </p:spPr>
      </p:sp>
      <p:sp>
        <p:nvSpPr>
          <p:cNvPr id="311" name="PlaceHolder 2"/>
          <p:cNvSpPr>
            <a:spLocks noGrp="1"/>
          </p:cNvSpPr>
          <p:nvPr>
            <p:ph type="body"/>
          </p:nvPr>
        </p:nvSpPr>
        <p:spPr>
          <a:xfrm>
            <a:off x="685800" y="4400640"/>
            <a:ext cx="5481720" cy="3595680"/>
          </a:xfrm>
          <a:prstGeom prst="rect">
            <a:avLst/>
          </a:prstGeom>
          <a:noFill/>
          <a:ln w="0">
            <a:noFill/>
          </a:ln>
        </p:spPr>
        <p:txBody>
          <a:bodyPr lIns="0" tIns="0" rIns="0" bIns="0" anchor="t">
            <a:noAutofit/>
          </a:bodyPr>
          <a:lstStyle/>
          <a:p>
            <a:endParaRPr lang="en-US" sz="2000" b="0" strike="noStrike" spc="-1">
              <a:latin typeface="Arial"/>
            </a:endParaRPr>
          </a:p>
        </p:txBody>
      </p:sp>
      <p:sp>
        <p:nvSpPr>
          <p:cNvPr id="312" name="PlaceHolder 3"/>
          <p:cNvSpPr>
            <a:spLocks noGrp="1"/>
          </p:cNvSpPr>
          <p:nvPr>
            <p:ph type="sldNum" idx="11"/>
          </p:nvPr>
        </p:nvSpPr>
        <p:spPr>
          <a:xfrm>
            <a:off x="3884760" y="8685360"/>
            <a:ext cx="2967120" cy="4539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13867DEA-AFA4-4CE7-9219-8038094C4D73}" type="slidenum">
              <a:rPr lang="en-US" sz="1200" b="0" strike="noStrike" spc="-1">
                <a:latin typeface="Times New Roman"/>
              </a:rPr>
              <a:t>66</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43253E41-5C27-4332-8233-FAF667C7C18C}"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65B2EB15-5BF8-49DC-BA9D-EC6728F3DDB5}"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FA3A4B2-07FD-429E-9E1D-F511BD262247}"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63B4F544-897F-4D38-9841-8E3C64010611}"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AF17B217-1FCD-4CB7-BA1B-3BDEF6800F97}"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7D151804-ACB9-47BF-999C-F21CE7928511}"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5C7BE74-9C4B-4971-BA93-C2E36F4BA88E}"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76EE6E2-1B8D-4765-8F5C-1B9CE998CD68}"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59293F0-3A54-452F-B593-DC27E9E20DD8}"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BD0FB678-3BE2-42F9-92D7-A97E6DF7469B}"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63776CCC-CFCC-42F2-8BC4-54B7B73E60C0}"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E10E3DE9-F0C9-44D6-A3B2-B1EBA102DA60}"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93518511-9BEE-4F5F-BC42-93E6DBC83420}"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759A945B-2AE8-474C-9DB8-238C78F11540}"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D6EBE1CC-A763-49F3-BBEB-B2EF24125DF9}"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BB3DBC43-E766-442D-AC27-CC34CF6CD624}"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2E941685-49E6-4D4B-8567-E72C06BD908D}"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EED3B3F0-4AFE-4FC4-903F-86DDB291E690}"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FD471AAF-D94B-4D8C-BD9D-D00E6E6CF90E}"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774A1814-483F-4DEA-AA33-4AF9ED54B5A5}"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C49DAF87-42D0-4DF3-A85A-66C0B548DB94}"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ED22FF01-9A2A-4FCE-81A3-37A13494609E}"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FAAF46BE-BC0E-4D2E-863A-CA608895311E}"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95D6C02A-D0B0-44D4-970B-58AA2889DBF5}"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4038480" y="6356520"/>
            <a:ext cx="4110120" cy="360360"/>
          </a:xfrm>
          <a:prstGeom prst="rect">
            <a:avLst/>
          </a:prstGeom>
          <a:noFill/>
          <a:ln w="0">
            <a:noFill/>
          </a:ln>
        </p:spPr>
        <p:txBody>
          <a:bodyPr lIns="90000" tIns="45000" rIns="90000" bIns="45000" anchor="ctr">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6" name="PlaceHolder 2"/>
          <p:cNvSpPr>
            <a:spLocks noGrp="1"/>
          </p:cNvSpPr>
          <p:nvPr>
            <p:ph type="sldNum" idx="2"/>
          </p:nvPr>
        </p:nvSpPr>
        <p:spPr>
          <a:xfrm>
            <a:off x="8610480" y="6356520"/>
            <a:ext cx="2738520" cy="360360"/>
          </a:xfrm>
          <a:prstGeom prst="rect">
            <a:avLst/>
          </a:prstGeom>
          <a:noFill/>
          <a:ln w="0">
            <a:noFill/>
          </a:ln>
        </p:spPr>
        <p:txBody>
          <a:bodyPr lIns="90000" tIns="45000" rIns="90000" bIns="45000" anchor="ctr">
            <a:noAutofit/>
          </a:bodyPr>
          <a:lstStyle>
            <a:lvl1pPr algn="r">
              <a:lnSpc>
                <a:spcPct val="100000"/>
              </a:lnSpc>
              <a:buNone/>
              <a:defRPr lang="en-US" sz="1200" b="0" strike="noStrike" spc="-1">
                <a:solidFill>
                  <a:srgbClr val="787878"/>
                </a:solidFill>
                <a:latin typeface="等线"/>
              </a:defRPr>
            </a:lvl1pPr>
          </a:lstStyle>
          <a:p>
            <a:pPr algn="r">
              <a:lnSpc>
                <a:spcPct val="100000"/>
              </a:lnSpc>
              <a:buNone/>
            </a:pPr>
            <a:fld id="{EE30669E-5B06-4192-A945-6D2CDDFA0B41}" type="slidenum">
              <a:rPr lang="en-US" sz="1200" b="0" strike="noStrike" spc="-1">
                <a:solidFill>
                  <a:srgbClr val="787878"/>
                </a:solidFill>
                <a:latin typeface="等线"/>
              </a:rPr>
              <a:t>‹#›</a:t>
            </a:fld>
            <a:endParaRPr lang="en-US" sz="1200" b="0" strike="noStrike" spc="-1">
              <a:latin typeface="Times New Roman"/>
            </a:endParaRPr>
          </a:p>
        </p:txBody>
      </p:sp>
      <p:sp>
        <p:nvSpPr>
          <p:cNvPr id="2" name="PlaceHolder 3"/>
          <p:cNvSpPr>
            <a:spLocks noGrp="1"/>
          </p:cNvSpPr>
          <p:nvPr>
            <p:ph type="dt" idx="3"/>
          </p:nvPr>
        </p:nvSpPr>
        <p:spPr>
          <a:xfrm>
            <a:off x="838080" y="6356520"/>
            <a:ext cx="2738520" cy="36036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10120" cy="360360"/>
          </a:xfrm>
          <a:prstGeom prst="rect">
            <a:avLst/>
          </a:prstGeom>
          <a:noFill/>
          <a:ln w="0">
            <a:noFill/>
          </a:ln>
        </p:spPr>
        <p:txBody>
          <a:bodyPr lIns="90000" tIns="45000" rIns="90000" bIns="45000" anchor="ctr">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42" name="PlaceHolder 2"/>
          <p:cNvSpPr>
            <a:spLocks noGrp="1"/>
          </p:cNvSpPr>
          <p:nvPr>
            <p:ph type="sldNum" idx="5"/>
          </p:nvPr>
        </p:nvSpPr>
        <p:spPr>
          <a:xfrm>
            <a:off x="8610480" y="6356520"/>
            <a:ext cx="2738520" cy="360360"/>
          </a:xfrm>
          <a:prstGeom prst="rect">
            <a:avLst/>
          </a:prstGeom>
          <a:noFill/>
          <a:ln w="0">
            <a:noFill/>
          </a:ln>
        </p:spPr>
        <p:txBody>
          <a:bodyPr lIns="90000" tIns="45000" rIns="90000" bIns="45000" anchor="ctr">
            <a:noAutofit/>
          </a:bodyPr>
          <a:lstStyle>
            <a:lvl1pPr algn="r">
              <a:lnSpc>
                <a:spcPct val="100000"/>
              </a:lnSpc>
              <a:buNone/>
              <a:defRPr lang="en-US" sz="1200" b="0" strike="noStrike" spc="-1">
                <a:solidFill>
                  <a:srgbClr val="787878"/>
                </a:solidFill>
                <a:latin typeface="等线"/>
              </a:defRPr>
            </a:lvl1pPr>
          </a:lstStyle>
          <a:p>
            <a:pPr algn="r">
              <a:lnSpc>
                <a:spcPct val="100000"/>
              </a:lnSpc>
              <a:buNone/>
            </a:pPr>
            <a:fld id="{A6134009-60C1-470E-90B6-325B0B3E7582}" type="slidenum">
              <a:rPr lang="en-US" sz="1200" b="0" strike="noStrike" spc="-1">
                <a:solidFill>
                  <a:srgbClr val="787878"/>
                </a:solidFill>
                <a:latin typeface="等线"/>
              </a:rPr>
              <a:t>‹#›</a:t>
            </a:fld>
            <a:endParaRPr lang="en-US" sz="1200" b="0" strike="noStrike" spc="-1">
              <a:latin typeface="Times New Roman"/>
            </a:endParaRPr>
          </a:p>
        </p:txBody>
      </p:sp>
      <p:sp>
        <p:nvSpPr>
          <p:cNvPr id="43" name="PlaceHolder 3"/>
          <p:cNvSpPr>
            <a:spLocks noGrp="1"/>
          </p:cNvSpPr>
          <p:nvPr>
            <p:ph type="dt" idx="6"/>
          </p:nvPr>
        </p:nvSpPr>
        <p:spPr>
          <a:xfrm>
            <a:off x="838080" y="6356520"/>
            <a:ext cx="2738520" cy="36036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hyperlink" Target="https://github.com/yitingHH-bit/manager_based/blob/main/masi_pefect_one_V25_21_12.zip"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Picture 87"/>
          <p:cNvPicPr/>
          <p:nvPr/>
        </p:nvPicPr>
        <p:blipFill>
          <a:blip r:embed="rId2"/>
          <a:stretch/>
        </p:blipFill>
        <p:spPr>
          <a:xfrm>
            <a:off x="6629760" y="3600720"/>
            <a:ext cx="5024520" cy="2824200"/>
          </a:xfrm>
          <a:prstGeom prst="rect">
            <a:avLst/>
          </a:prstGeom>
          <a:ln w="0">
            <a:noFill/>
          </a:ln>
        </p:spPr>
      </p:pic>
      <p:pic>
        <p:nvPicPr>
          <p:cNvPr id="89" name="Picture 88"/>
          <p:cNvPicPr/>
          <p:nvPr/>
        </p:nvPicPr>
        <p:blipFill>
          <a:blip r:embed="rId3"/>
          <a:stretch/>
        </p:blipFill>
        <p:spPr>
          <a:xfrm>
            <a:off x="6629400" y="228600"/>
            <a:ext cx="4940280" cy="3081600"/>
          </a:xfrm>
          <a:prstGeom prst="rect">
            <a:avLst/>
          </a:prstGeom>
          <a:ln w="0">
            <a:noFill/>
          </a:ln>
        </p:spPr>
      </p:pic>
      <p:pic>
        <p:nvPicPr>
          <p:cNvPr id="90" name="Picture 89"/>
          <p:cNvPicPr/>
          <p:nvPr/>
        </p:nvPicPr>
        <p:blipFill>
          <a:blip r:embed="rId4"/>
          <a:stretch/>
        </p:blipFill>
        <p:spPr>
          <a:xfrm>
            <a:off x="572040" y="3476520"/>
            <a:ext cx="4681440" cy="2919960"/>
          </a:xfrm>
          <a:prstGeom prst="rect">
            <a:avLst/>
          </a:prstGeom>
          <a:ln w="0">
            <a:noFill/>
          </a:ln>
        </p:spPr>
      </p:pic>
      <p:sp>
        <p:nvSpPr>
          <p:cNvPr id="91" name="Rectangle 90"/>
          <p:cNvSpPr/>
          <p:nvPr/>
        </p:nvSpPr>
        <p:spPr>
          <a:xfrm>
            <a:off x="2057400" y="5486400"/>
            <a:ext cx="4438800" cy="59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        Episode_Reward/action_rate: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Metrics/ee_pose/position_error: 0.0680</a:t>
            </a:r>
            <a:endParaRPr lang="en-US"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 name="Picture 91"/>
          <p:cNvPicPr/>
          <p:nvPr/>
        </p:nvPicPr>
        <p:blipFill>
          <a:blip r:embed="rId2"/>
          <a:stretch/>
        </p:blipFill>
        <p:spPr>
          <a:xfrm>
            <a:off x="457200" y="228600"/>
            <a:ext cx="6710760" cy="4272480"/>
          </a:xfrm>
          <a:prstGeom prst="rect">
            <a:avLst/>
          </a:prstGeom>
          <a:ln w="0">
            <a:noFill/>
          </a:ln>
        </p:spPr>
      </p:pic>
      <p:pic>
        <p:nvPicPr>
          <p:cNvPr id="93" name="Picture 92"/>
          <p:cNvPicPr/>
          <p:nvPr/>
        </p:nvPicPr>
        <p:blipFill>
          <a:blip r:embed="rId3"/>
          <a:stretch/>
        </p:blipFill>
        <p:spPr>
          <a:xfrm>
            <a:off x="4800600" y="1371600"/>
            <a:ext cx="6710760" cy="4272480"/>
          </a:xfrm>
          <a:prstGeom prst="rect">
            <a:avLst/>
          </a:prstGeom>
          <a:ln w="0">
            <a:noFill/>
          </a:ln>
        </p:spPr>
      </p:pic>
      <p:pic>
        <p:nvPicPr>
          <p:cNvPr id="94" name="Picture 93"/>
          <p:cNvPicPr/>
          <p:nvPr/>
        </p:nvPicPr>
        <p:blipFill>
          <a:blip r:embed="rId4"/>
          <a:stretch/>
        </p:blipFill>
        <p:spPr>
          <a:xfrm>
            <a:off x="8915400" y="3886200"/>
            <a:ext cx="2621880" cy="166824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p:cNvSpPr/>
          <p:nvPr/>
        </p:nvSpPr>
        <p:spPr>
          <a:xfrm>
            <a:off x="228600" y="457200"/>
            <a:ext cx="12012120" cy="78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The current issue is that when the claw encounters an obstacle, it doesn't descend vertically. Could we modify the logic so that when the claw attempts to move forward, it shifts downward once it reaches a certain distance from the target point (log)? This way, log would be directly beneath the claw. As the claw wraps around the target, it would exert upward force to lift it.</a:t>
            </a:r>
            <a:endParaRPr lang="en-US" sz="1000" b="0" strike="noStrike" spc="-1">
              <a:latin typeface="Arial"/>
            </a:endParaRPr>
          </a:p>
          <a:p>
            <a:pPr>
              <a:lnSpc>
                <a:spcPct val="100000"/>
              </a:lnSpc>
              <a:buNone/>
            </a:pPr>
            <a:endParaRPr lang="en-US" sz="1000" b="0" strike="noStrike" spc="-1">
              <a:latin typeface="Arial"/>
            </a:endParaRPr>
          </a:p>
        </p:txBody>
      </p:sp>
      <p:sp>
        <p:nvSpPr>
          <p:cNvPr id="96" name="Rectangle 95"/>
          <p:cNvSpPr/>
          <p:nvPr/>
        </p:nvSpPr>
        <p:spPr>
          <a:xfrm>
            <a:off x="228600" y="2058120"/>
            <a:ext cx="3882240" cy="205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sync_command_with_log = EventTerm( func=mdp.sync_ee_pose_to_log_center, mode="interval", interval_range_s=(0.0, 0.0), # </a:t>
            </a:r>
            <a:r>
              <a:rPr lang="zh-CN" sz="1000" b="0" strike="noStrike" spc="-1">
                <a:solidFill>
                  <a:srgbClr val="000000"/>
                </a:solidFill>
                <a:latin typeface="Arial"/>
                <a:ea typeface="DejaVu Sans"/>
              </a:rPr>
              <a:t>每步更新 </a:t>
            </a:r>
            <a:r>
              <a:rPr lang="en-US" sz="1000" b="0" strike="noStrike" spc="-1">
                <a:solidFill>
                  <a:srgbClr val="000000"/>
                </a:solidFill>
                <a:latin typeface="Arial"/>
                <a:ea typeface="DejaVu Sans"/>
              </a:rPr>
              <a:t>params={ "command_name": "ee_pose", "robot_asset_cfg": SceneEntityCfg("robot"), "log_asset_cfg": SceneEntityCfg("log"), "z_offset": 0.0, # </a:t>
            </a:r>
            <a:r>
              <a:rPr lang="zh-CN" sz="1000" b="0" strike="noStrike" spc="-1">
                <a:solidFill>
                  <a:srgbClr val="000000"/>
                </a:solidFill>
                <a:latin typeface="Arial"/>
                <a:ea typeface="DejaVu Sans"/>
              </a:rPr>
              <a:t>目标</a:t>
            </a:r>
            <a:r>
              <a:rPr lang="en-US" sz="1000" b="0" strike="noStrike" spc="-1">
                <a:solidFill>
                  <a:srgbClr val="000000"/>
                </a:solidFill>
                <a:latin typeface="Arial"/>
                <a:ea typeface="DejaVu Sans"/>
              </a:rPr>
              <a:t>=log</a:t>
            </a:r>
            <a:r>
              <a:rPr lang="zh-CN" sz="1000" b="0" strike="noStrike" spc="-1">
                <a:solidFill>
                  <a:srgbClr val="000000"/>
                </a:solidFill>
                <a:latin typeface="Arial"/>
                <a:ea typeface="DejaVu Sans"/>
              </a:rPr>
              <a:t>中心；如果想抓上表面可设 </a:t>
            </a:r>
            <a:r>
              <a:rPr lang="en-US" sz="1000" b="0" strike="noStrike" spc="-1">
                <a:solidFill>
                  <a:srgbClr val="000000"/>
                </a:solidFill>
                <a:latin typeface="Arial"/>
                <a:ea typeface="DejaVu Sans"/>
              </a:rPr>
              <a:t>0.02 },</a:t>
            </a:r>
            <a:endParaRPr lang="en-US" sz="1000" b="0" strike="noStrike" spc="-1">
              <a:latin typeface="Arial"/>
            </a:endParaRPr>
          </a:p>
        </p:txBody>
      </p:sp>
      <p:pic>
        <p:nvPicPr>
          <p:cNvPr id="97" name="Picture 96"/>
          <p:cNvPicPr/>
          <p:nvPr/>
        </p:nvPicPr>
        <p:blipFill>
          <a:blip r:embed="rId2"/>
          <a:stretch/>
        </p:blipFill>
        <p:spPr>
          <a:xfrm>
            <a:off x="4343400" y="1143000"/>
            <a:ext cx="5567760" cy="354456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97"/>
          <p:cNvPicPr/>
          <p:nvPr/>
        </p:nvPicPr>
        <p:blipFill>
          <a:blip r:embed="rId2"/>
          <a:stretch/>
        </p:blipFill>
        <p:spPr>
          <a:xfrm>
            <a:off x="143280" y="295560"/>
            <a:ext cx="5567760" cy="3544560"/>
          </a:xfrm>
          <a:prstGeom prst="rect">
            <a:avLst/>
          </a:prstGeom>
          <a:ln w="0">
            <a:noFill/>
          </a:ln>
        </p:spPr>
      </p:pic>
      <p:sp>
        <p:nvSpPr>
          <p:cNvPr id="99" name="Rectangle 98"/>
          <p:cNvSpPr/>
          <p:nvPr/>
        </p:nvSpPr>
        <p:spPr>
          <a:xfrm>
            <a:off x="914400" y="4069800"/>
            <a:ext cx="3594960" cy="26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zh-CN" sz="1000" b="0" strike="noStrike" spc="-1">
                <a:solidFill>
                  <a:srgbClr val="000000"/>
                </a:solidFill>
                <a:latin typeface="Arial"/>
                <a:ea typeface="DejaVu Sans"/>
              </a:rPr>
              <a:t>夹爪关节 </a:t>
            </a:r>
            <a:r>
              <a:rPr lang="en-US" sz="1000" b="0" strike="noStrike" spc="-1">
                <a:solidFill>
                  <a:srgbClr val="000000"/>
                </a:solidFill>
                <a:latin typeface="Arial"/>
                <a:ea typeface="DejaVu Sans"/>
              </a:rPr>
              <a:t>limit </a:t>
            </a:r>
            <a:r>
              <a:rPr lang="zh-CN" sz="1000" b="0" strike="noStrike" spc="-1">
                <a:solidFill>
                  <a:srgbClr val="000000"/>
                </a:solidFill>
                <a:latin typeface="Arial"/>
                <a:ea typeface="DejaVu Sans"/>
              </a:rPr>
              <a:t>本来就没到 </a:t>
            </a:r>
            <a:r>
              <a:rPr lang="en-US" sz="1000" b="0" strike="noStrike" spc="-1">
                <a:solidFill>
                  <a:srgbClr val="000000"/>
                </a:solidFill>
                <a:latin typeface="Arial"/>
                <a:ea typeface="DejaVu Sans"/>
              </a:rPr>
              <a:t>0.6rad</a:t>
            </a:r>
            <a:r>
              <a:rPr lang="zh-CN" sz="1000" b="0" strike="noStrike" spc="-1">
                <a:solidFill>
                  <a:srgbClr val="000000"/>
                </a:solidFill>
                <a:latin typeface="Arial"/>
                <a:ea typeface="DejaVu Sans"/>
              </a:rPr>
              <a:t>（被物理限位 </a:t>
            </a:r>
            <a:r>
              <a:rPr lang="en-US" sz="1000" b="0" strike="noStrike" spc="-1">
                <a:solidFill>
                  <a:srgbClr val="000000"/>
                </a:solidFill>
                <a:latin typeface="Arial"/>
                <a:ea typeface="DejaVu Sans"/>
              </a:rPr>
              <a:t>clamp </a:t>
            </a:r>
            <a:r>
              <a:rPr lang="zh-CN" sz="1000" b="0" strike="noStrike" spc="-1">
                <a:solidFill>
                  <a:srgbClr val="000000"/>
                </a:solidFill>
                <a:latin typeface="Arial"/>
                <a:ea typeface="DejaVu Sans"/>
              </a:rPr>
              <a:t>了）</a:t>
            </a:r>
            <a:endParaRPr lang="en-US" sz="1000" b="0" strike="noStrike" spc="-1">
              <a:latin typeface="Arial"/>
            </a:endParaRPr>
          </a:p>
        </p:txBody>
      </p:sp>
      <p:pic>
        <p:nvPicPr>
          <p:cNvPr id="100" name="Picture 99"/>
          <p:cNvPicPr/>
          <p:nvPr/>
        </p:nvPicPr>
        <p:blipFill>
          <a:blip r:embed="rId3"/>
          <a:stretch/>
        </p:blipFill>
        <p:spPr>
          <a:xfrm>
            <a:off x="5943600" y="228600"/>
            <a:ext cx="5482440" cy="3490200"/>
          </a:xfrm>
          <a:prstGeom prst="rect">
            <a:avLst/>
          </a:prstGeom>
          <a:ln w="0">
            <a:noFill/>
          </a:ln>
        </p:spPr>
      </p:pic>
      <p:pic>
        <p:nvPicPr>
          <p:cNvPr id="101" name="Picture 100"/>
          <p:cNvPicPr/>
          <p:nvPr/>
        </p:nvPicPr>
        <p:blipFill>
          <a:blip r:embed="rId4"/>
          <a:stretch/>
        </p:blipFill>
        <p:spPr>
          <a:xfrm>
            <a:off x="6015240" y="3886200"/>
            <a:ext cx="3810600" cy="242532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Picture 101"/>
          <p:cNvPicPr/>
          <p:nvPr/>
        </p:nvPicPr>
        <p:blipFill>
          <a:blip r:embed="rId2"/>
          <a:stretch/>
        </p:blipFill>
        <p:spPr>
          <a:xfrm>
            <a:off x="1371600" y="393480"/>
            <a:ext cx="2967840" cy="1888560"/>
          </a:xfrm>
          <a:prstGeom prst="rect">
            <a:avLst/>
          </a:prstGeom>
          <a:ln w="0">
            <a:noFill/>
          </a:ln>
        </p:spPr>
      </p:pic>
      <p:pic>
        <p:nvPicPr>
          <p:cNvPr id="103" name="Picture 102"/>
          <p:cNvPicPr/>
          <p:nvPr/>
        </p:nvPicPr>
        <p:blipFill>
          <a:blip r:embed="rId3"/>
          <a:stretch/>
        </p:blipFill>
        <p:spPr>
          <a:xfrm>
            <a:off x="4572000" y="385200"/>
            <a:ext cx="2967840" cy="1888560"/>
          </a:xfrm>
          <a:prstGeom prst="rect">
            <a:avLst/>
          </a:prstGeom>
          <a:ln w="0">
            <a:noFill/>
          </a:ln>
        </p:spPr>
      </p:pic>
      <p:pic>
        <p:nvPicPr>
          <p:cNvPr id="104" name="Picture 103"/>
          <p:cNvPicPr/>
          <p:nvPr/>
        </p:nvPicPr>
        <p:blipFill>
          <a:blip r:embed="rId4"/>
          <a:stretch/>
        </p:blipFill>
        <p:spPr>
          <a:xfrm>
            <a:off x="1371600" y="2514600"/>
            <a:ext cx="2967840" cy="1888560"/>
          </a:xfrm>
          <a:prstGeom prst="rect">
            <a:avLst/>
          </a:prstGeom>
          <a:ln w="0">
            <a:noFill/>
          </a:ln>
        </p:spPr>
      </p:pic>
      <p:sp>
        <p:nvSpPr>
          <p:cNvPr id="105" name="Rectangle 104"/>
          <p:cNvSpPr/>
          <p:nvPr/>
        </p:nvSpPr>
        <p:spPr>
          <a:xfrm>
            <a:off x="0" y="228600"/>
            <a:ext cx="1139040" cy="22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Align with  object</a:t>
            </a:r>
            <a:endParaRPr lang="en-US" sz="1000" b="0" strike="noStrike" spc="-1">
              <a:latin typeface="Arial"/>
            </a:endParaRPr>
          </a:p>
        </p:txBody>
      </p:sp>
      <p:pic>
        <p:nvPicPr>
          <p:cNvPr id="106" name="Picture 105"/>
          <p:cNvPicPr/>
          <p:nvPr/>
        </p:nvPicPr>
        <p:blipFill>
          <a:blip r:embed="rId5"/>
          <a:stretch/>
        </p:blipFill>
        <p:spPr>
          <a:xfrm>
            <a:off x="4662720" y="2524320"/>
            <a:ext cx="2852640" cy="1815120"/>
          </a:xfrm>
          <a:prstGeom prst="rect">
            <a:avLst/>
          </a:prstGeom>
          <a:ln w="0">
            <a:noFill/>
          </a:ln>
        </p:spPr>
      </p:pic>
      <p:pic>
        <p:nvPicPr>
          <p:cNvPr id="107" name="Picture 106"/>
          <p:cNvPicPr/>
          <p:nvPr/>
        </p:nvPicPr>
        <p:blipFill>
          <a:blip r:embed="rId6"/>
          <a:stretch/>
        </p:blipFill>
        <p:spPr>
          <a:xfrm>
            <a:off x="1371600" y="4800600"/>
            <a:ext cx="3069000" cy="195300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107"/>
          <p:cNvPicPr/>
          <p:nvPr/>
        </p:nvPicPr>
        <p:blipFill>
          <a:blip r:embed="rId2"/>
          <a:stretch/>
        </p:blipFill>
        <p:spPr>
          <a:xfrm>
            <a:off x="729360" y="466920"/>
            <a:ext cx="3929400" cy="2500920"/>
          </a:xfrm>
          <a:prstGeom prst="rect">
            <a:avLst/>
          </a:prstGeom>
          <a:ln w="0">
            <a:noFill/>
          </a:ln>
        </p:spPr>
      </p:pic>
      <p:sp>
        <p:nvSpPr>
          <p:cNvPr id="109" name="Rectangle 108"/>
          <p:cNvSpPr/>
          <p:nvPr/>
        </p:nvSpPr>
        <p:spPr>
          <a:xfrm>
            <a:off x="5029200" y="1371600"/>
            <a:ext cx="4614480" cy="34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ik_rel_log_env_cfg copy 8  after align ok .py</a:t>
            </a:r>
            <a:endParaRPr lang="en-US" sz="18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685800" y="681840"/>
            <a:ext cx="844200" cy="22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masi_v9.zip</a:t>
            </a:r>
            <a:endParaRPr lang="en-US" sz="1000" b="0" strike="noStrike" spc="-1">
              <a:latin typeface="Arial"/>
            </a:endParaRPr>
          </a:p>
        </p:txBody>
      </p:sp>
      <p:pic>
        <p:nvPicPr>
          <p:cNvPr id="111" name="Picture 110"/>
          <p:cNvPicPr/>
          <p:nvPr/>
        </p:nvPicPr>
        <p:blipFill>
          <a:blip r:embed="rId2"/>
          <a:stretch/>
        </p:blipFill>
        <p:spPr>
          <a:xfrm>
            <a:off x="448200" y="1143000"/>
            <a:ext cx="3662640" cy="2417400"/>
          </a:xfrm>
          <a:prstGeom prst="rect">
            <a:avLst/>
          </a:prstGeom>
          <a:ln w="0">
            <a:noFill/>
          </a:ln>
        </p:spPr>
      </p:pic>
      <p:sp>
        <p:nvSpPr>
          <p:cNvPr id="112" name="Rectangle 111"/>
          <p:cNvSpPr/>
          <p:nvPr/>
        </p:nvSpPr>
        <p:spPr>
          <a:xfrm>
            <a:off x="4572000" y="185400"/>
            <a:ext cx="8026920" cy="699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                   Learning iteration 91/5000                       </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Computation: 4961 steps/s (collection: 2.357s, learning 0.062s)</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action noise std: 0.60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value_function loss: 0.0008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surrogate loss: -0.0027</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entropy loss: 6.3417</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reward: -2.90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episode length: 360.00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Episode_Reward/end_effector_position_tracking: -0.1712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Episode_Reward/end_effector_position_tracking_fine_grained: 0.1862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Episode_Reward/action_rate: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Episode_Reward/log_lift_reward: 0.1398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Episode_Reward/end_effector_orientation_tracking: -0.3976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Metrics/ee_pose/position_error: 0.1459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Metrics/ee_pose/orientation_error: 0.9408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Episode_Termination/time_out: 0.9811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Episode_Termination/root_oob: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Episode_Termination/ee_speed_oob: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Episode_Termination/any_link_speed_oob: 0.0189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Episode_Termination/any_link_oob: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Episode_Termination/nan_inf_guard: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Total timesteps: 1104000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Iteration time: 2.42s</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Time elapsed: 00:03:36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ETA: 03:12:25</a:t>
            </a:r>
            <a:endParaRPr lang="en-US" sz="1800" b="0" strike="noStrike" spc="-1">
              <a:latin typeface="Arial"/>
            </a:endParaRPr>
          </a:p>
        </p:txBody>
      </p:sp>
      <p:pic>
        <p:nvPicPr>
          <p:cNvPr id="113" name="Picture 112"/>
          <p:cNvPicPr/>
          <p:nvPr/>
        </p:nvPicPr>
        <p:blipFill>
          <a:blip r:embed="rId3"/>
          <a:stretch/>
        </p:blipFill>
        <p:spPr>
          <a:xfrm>
            <a:off x="457200" y="3657600"/>
            <a:ext cx="3479040" cy="229608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Picture 113"/>
          <p:cNvPicPr/>
          <p:nvPr/>
        </p:nvPicPr>
        <p:blipFill>
          <a:blip r:embed="rId2"/>
          <a:stretch/>
        </p:blipFill>
        <p:spPr>
          <a:xfrm>
            <a:off x="457200" y="1128960"/>
            <a:ext cx="2786760" cy="1838880"/>
          </a:xfrm>
          <a:prstGeom prst="rect">
            <a:avLst/>
          </a:prstGeom>
          <a:ln w="0">
            <a:noFill/>
          </a:ln>
        </p:spPr>
      </p:pic>
      <p:sp>
        <p:nvSpPr>
          <p:cNvPr id="115" name="Rectangle 114"/>
          <p:cNvSpPr/>
          <p:nvPr/>
        </p:nvSpPr>
        <p:spPr>
          <a:xfrm>
            <a:off x="685800" y="681840"/>
            <a:ext cx="844200" cy="22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masi_v9.zip</a:t>
            </a:r>
            <a:endParaRPr lang="en-US" sz="1000" b="0" strike="noStrike" spc="-1">
              <a:latin typeface="Arial"/>
            </a:endParaRPr>
          </a:p>
        </p:txBody>
      </p:sp>
      <p:pic>
        <p:nvPicPr>
          <p:cNvPr id="116" name="Picture 115"/>
          <p:cNvPicPr/>
          <p:nvPr/>
        </p:nvPicPr>
        <p:blipFill>
          <a:blip r:embed="rId3"/>
          <a:stretch/>
        </p:blipFill>
        <p:spPr>
          <a:xfrm>
            <a:off x="3437280" y="457200"/>
            <a:ext cx="4102560" cy="401508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Picture 116"/>
          <p:cNvPicPr/>
          <p:nvPr/>
        </p:nvPicPr>
        <p:blipFill>
          <a:blip r:embed="rId2"/>
          <a:stretch/>
        </p:blipFill>
        <p:spPr>
          <a:xfrm>
            <a:off x="686160" y="457200"/>
            <a:ext cx="4568040" cy="2567880"/>
          </a:xfrm>
          <a:prstGeom prst="rect">
            <a:avLst/>
          </a:prstGeom>
          <a:ln w="0">
            <a:noFill/>
          </a:ln>
        </p:spPr>
      </p:pic>
      <p:sp>
        <p:nvSpPr>
          <p:cNvPr id="118" name="Rectangle 117"/>
          <p:cNvSpPr/>
          <p:nvPr/>
        </p:nvSpPr>
        <p:spPr>
          <a:xfrm>
            <a:off x="685800" y="110520"/>
            <a:ext cx="68220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v 9</a:t>
            </a:r>
            <a:endParaRPr lang="en-US" sz="1800" b="0" strike="noStrike" spc="-1">
              <a:latin typeface="Arial"/>
            </a:endParaRPr>
          </a:p>
        </p:txBody>
      </p:sp>
      <p:sp>
        <p:nvSpPr>
          <p:cNvPr id="119" name="Rectangle 118"/>
          <p:cNvSpPr/>
          <p:nvPr/>
        </p:nvSpPr>
        <p:spPr>
          <a:xfrm>
            <a:off x="6172200" y="685080"/>
            <a:ext cx="3433680" cy="110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body_offset=DifferentialInverseKinematicsActionCfg.OffsetCfg( # </a:t>
            </a:r>
            <a:r>
              <a:rPr lang="zh-CN" sz="1000" b="0" strike="noStrike" spc="-1">
                <a:solidFill>
                  <a:srgbClr val="000000"/>
                </a:solidFill>
                <a:latin typeface="Arial"/>
                <a:ea typeface="DejaVu Sans"/>
              </a:rPr>
              <a:t>关键改动：把“虚拟末端”从 </a:t>
            </a:r>
            <a:r>
              <a:rPr lang="en-US" sz="1000" b="0" strike="noStrike" spc="-1">
                <a:solidFill>
                  <a:srgbClr val="000000"/>
                </a:solidFill>
                <a:latin typeface="Arial"/>
                <a:ea typeface="DejaVu Sans"/>
              </a:rPr>
              <a:t>gripper_frame </a:t>
            </a:r>
            <a:r>
              <a:rPr lang="zh-CN" sz="1000" b="0" strike="noStrike" spc="-1">
                <a:solidFill>
                  <a:srgbClr val="000000"/>
                </a:solidFill>
                <a:latin typeface="Arial"/>
                <a:ea typeface="DejaVu Sans"/>
              </a:rPr>
              <a:t>向下挪一段到铲斗前端 </a:t>
            </a:r>
            <a:r>
              <a:rPr lang="en-US" sz="1000" b="0" strike="noStrike" spc="-1">
                <a:solidFill>
                  <a:srgbClr val="000000"/>
                </a:solidFill>
                <a:latin typeface="Arial"/>
                <a:ea typeface="DejaVu Sans"/>
              </a:rPr>
              <a:t># </a:t>
            </a:r>
            <a:r>
              <a:rPr lang="zh-CN" sz="1000" b="0" strike="noStrike" spc="-1">
                <a:solidFill>
                  <a:srgbClr val="000000"/>
                </a:solidFill>
                <a:latin typeface="Arial"/>
                <a:ea typeface="DejaVu Sans"/>
              </a:rPr>
              <a:t>数值你可以微调，先试 </a:t>
            </a:r>
            <a:r>
              <a:rPr lang="en-US" sz="1000" b="0" strike="noStrike" spc="-1">
                <a:solidFill>
                  <a:srgbClr val="000000"/>
                </a:solidFill>
                <a:latin typeface="Arial"/>
                <a:ea typeface="DejaVu Sans"/>
              </a:rPr>
              <a:t>-0.25</a:t>
            </a:r>
            <a:r>
              <a:rPr lang="zh-CN" sz="1000" b="0" strike="noStrike" spc="-1">
                <a:solidFill>
                  <a:srgbClr val="000000"/>
                </a:solidFill>
                <a:latin typeface="Arial"/>
                <a:ea typeface="DejaVu Sans"/>
              </a:rPr>
              <a:t>，如果目标点还在铲斗中间就再缩小一点 </a:t>
            </a:r>
            <a:r>
              <a:rPr lang="en-US" sz="1000" b="0" strike="noStrike" spc="-1">
                <a:solidFill>
                  <a:srgbClr val="000000"/>
                </a:solidFill>
                <a:latin typeface="Arial"/>
                <a:ea typeface="DejaVu Sans"/>
              </a:rPr>
              <a:t>pos=[0.0, 0.0, -0.19], # v9 pos=[0.0, 0.0, -0.19], rot=[0.7071068, 0.0, 0.7071068, 0.0], # v9 </a:t>
            </a:r>
            <a:r>
              <a:rPr lang="zh-CN" sz="1000" b="0" strike="noStrike" spc="-1">
                <a:solidFill>
                  <a:srgbClr val="000000"/>
                </a:solidFill>
                <a:latin typeface="Arial"/>
                <a:ea typeface="DejaVu Sans"/>
              </a:rPr>
              <a:t>绕 </a:t>
            </a:r>
            <a:r>
              <a:rPr lang="en-US" sz="1000" b="0" strike="noStrike" spc="-1">
                <a:solidFill>
                  <a:srgbClr val="000000"/>
                </a:solidFill>
                <a:latin typeface="Arial"/>
                <a:ea typeface="DejaVu Sans"/>
              </a:rPr>
              <a:t>Y </a:t>
            </a:r>
            <a:r>
              <a:rPr lang="zh-CN" sz="1000" b="0" strike="noStrike" spc="-1">
                <a:solidFill>
                  <a:srgbClr val="000000"/>
                </a:solidFill>
                <a:latin typeface="Arial"/>
                <a:ea typeface="DejaVu Sans"/>
              </a:rPr>
              <a:t>轴 </a:t>
            </a:r>
            <a:r>
              <a:rPr lang="en-US" sz="1000" b="0" strike="noStrike" spc="-1">
                <a:solidFill>
                  <a:srgbClr val="000000"/>
                </a:solidFill>
                <a:latin typeface="Arial"/>
                <a:ea typeface="DejaVu Sans"/>
              </a:rPr>
              <a:t>+90° ), )</a:t>
            </a:r>
            <a:endParaRPr lang="en-US" sz="1000" b="0" strike="noStrike" spc="-1">
              <a:latin typeface="Arial"/>
            </a:endParaRPr>
          </a:p>
        </p:txBody>
      </p:sp>
      <p:sp>
        <p:nvSpPr>
          <p:cNvPr id="120" name="Rectangle 119"/>
          <p:cNvSpPr/>
          <p:nvPr/>
        </p:nvSpPr>
        <p:spPr>
          <a:xfrm>
            <a:off x="6163920" y="228600"/>
            <a:ext cx="3433680" cy="45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Lets try</a:t>
            </a:r>
            <a:endParaRPr lang="en-US" sz="1000" b="0" strike="noStrike" spc="-1">
              <a:latin typeface="Arial"/>
            </a:endParaRPr>
          </a:p>
        </p:txBody>
      </p:sp>
      <p:pic>
        <p:nvPicPr>
          <p:cNvPr id="121" name="Picture 120"/>
          <p:cNvPicPr/>
          <p:nvPr/>
        </p:nvPicPr>
        <p:blipFill>
          <a:blip r:embed="rId3"/>
          <a:stretch/>
        </p:blipFill>
        <p:spPr>
          <a:xfrm>
            <a:off x="685800" y="3200400"/>
            <a:ext cx="3241440" cy="332316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Picture 121"/>
          <p:cNvPicPr/>
          <p:nvPr/>
        </p:nvPicPr>
        <p:blipFill>
          <a:blip r:embed="rId2"/>
          <a:stretch/>
        </p:blipFill>
        <p:spPr>
          <a:xfrm>
            <a:off x="4343400" y="0"/>
            <a:ext cx="5047560" cy="3882600"/>
          </a:xfrm>
          <a:prstGeom prst="rect">
            <a:avLst/>
          </a:prstGeom>
          <a:ln w="0">
            <a:noFill/>
          </a:ln>
        </p:spPr>
      </p:pic>
      <p:sp>
        <p:nvSpPr>
          <p:cNvPr id="123" name="Rectangle 122"/>
          <p:cNvSpPr/>
          <p:nvPr/>
        </p:nvSpPr>
        <p:spPr>
          <a:xfrm>
            <a:off x="139320" y="83160"/>
            <a:ext cx="3286080" cy="599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 body_name="gripper_frame",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body_name="ee",</a:t>
            </a:r>
            <a:endParaRPr lang="en-US" sz="1800" b="0" strike="noStrike" spc="-1">
              <a:latin typeface="Arial"/>
            </a:endParaRPr>
          </a:p>
        </p:txBody>
      </p:sp>
      <p:pic>
        <p:nvPicPr>
          <p:cNvPr id="124" name="Picture 123"/>
          <p:cNvPicPr/>
          <p:nvPr/>
        </p:nvPicPr>
        <p:blipFill>
          <a:blip r:embed="rId3"/>
          <a:stretch/>
        </p:blipFill>
        <p:spPr>
          <a:xfrm>
            <a:off x="228600" y="794160"/>
            <a:ext cx="4015440" cy="3088440"/>
          </a:xfrm>
          <a:prstGeom prst="rect">
            <a:avLst/>
          </a:prstGeom>
          <a:ln w="0">
            <a:noFill/>
          </a:ln>
        </p:spPr>
      </p:pic>
      <p:pic>
        <p:nvPicPr>
          <p:cNvPr id="125" name="Picture 124"/>
          <p:cNvPicPr/>
          <p:nvPr/>
        </p:nvPicPr>
        <p:blipFill>
          <a:blip r:embed="rId4"/>
          <a:stretch/>
        </p:blipFill>
        <p:spPr>
          <a:xfrm>
            <a:off x="8576280" y="300240"/>
            <a:ext cx="3612240" cy="312516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Picture 125"/>
          <p:cNvPicPr/>
          <p:nvPr/>
        </p:nvPicPr>
        <p:blipFill>
          <a:blip r:embed="rId2"/>
          <a:stretch/>
        </p:blipFill>
        <p:spPr>
          <a:xfrm>
            <a:off x="0" y="0"/>
            <a:ext cx="6854400" cy="3023280"/>
          </a:xfrm>
          <a:prstGeom prst="rect">
            <a:avLst/>
          </a:prstGeom>
          <a:ln w="0">
            <a:noFill/>
          </a:ln>
        </p:spPr>
      </p:pic>
      <p:sp>
        <p:nvSpPr>
          <p:cNvPr id="127" name="Rectangle 126"/>
          <p:cNvSpPr/>
          <p:nvPr/>
        </p:nvSpPr>
        <p:spPr>
          <a:xfrm>
            <a:off x="7225920" y="914400"/>
            <a:ext cx="3286080" cy="162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Save  v10 version for this modify</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Noto Sans CJK SC"/>
              </a:rPr>
              <a:t>Has contained the log but cannot catch and lift  it </a:t>
            </a:r>
            <a:endParaRPr lang="en-US" sz="1800" b="0" strike="noStrike" spc="-1">
              <a:latin typeface="Arial"/>
            </a:endParaRPr>
          </a:p>
        </p:txBody>
      </p:sp>
      <p:pic>
        <p:nvPicPr>
          <p:cNvPr id="128" name="Picture 127"/>
          <p:cNvPicPr/>
          <p:nvPr/>
        </p:nvPicPr>
        <p:blipFill>
          <a:blip r:embed="rId3"/>
          <a:stretch/>
        </p:blipFill>
        <p:spPr>
          <a:xfrm>
            <a:off x="827640" y="3200400"/>
            <a:ext cx="3740760" cy="2287080"/>
          </a:xfrm>
          <a:prstGeom prst="rect">
            <a:avLst/>
          </a:prstGeom>
          <a:ln w="0">
            <a:noFill/>
          </a:ln>
        </p:spPr>
      </p:pic>
      <p:sp>
        <p:nvSpPr>
          <p:cNvPr id="129" name="Rectangle 128"/>
          <p:cNvSpPr/>
          <p:nvPr/>
        </p:nvSpPr>
        <p:spPr>
          <a:xfrm>
            <a:off x="7125120" y="3200400"/>
            <a:ext cx="2472480" cy="13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The current training phase is such that when the claw wraps around the log target, it does not immediately grasp the object. Instead, it continues pushing the object until the claw can no longer wrap around it.</a:t>
            </a:r>
            <a:endParaRPr lang="en-US" sz="1000" b="0" strike="noStrike" spc="-1">
              <a:latin typeface="Arial"/>
            </a:endParaRPr>
          </a:p>
          <a:p>
            <a:pPr>
              <a:lnSpc>
                <a:spcPct val="100000"/>
              </a:lnSpc>
              <a:buNone/>
            </a:pPr>
            <a:endParaRPr lang="en-US" sz="1000" b="0" strike="noStrike" spc="-1">
              <a:latin typeface="Arial"/>
            </a:endParaRPr>
          </a:p>
        </p:txBody>
      </p:sp>
      <p:sp>
        <p:nvSpPr>
          <p:cNvPr id="130" name="Rectangle 129"/>
          <p:cNvSpPr/>
          <p:nvPr/>
        </p:nvSpPr>
        <p:spPr>
          <a:xfrm>
            <a:off x="4800600" y="4572000"/>
            <a:ext cx="6809040" cy="184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"close_dist": 0.02,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+"close_dist": 0.05,       # </a:t>
            </a:r>
            <a:r>
              <a:rPr lang="zh-CN" sz="1800" b="0" strike="noStrike" spc="-1">
                <a:solidFill>
                  <a:srgbClr val="000000"/>
                </a:solidFill>
                <a:latin typeface="Arial"/>
                <a:ea typeface="DejaVu Sans"/>
              </a:rPr>
              <a:t>先从 </a:t>
            </a:r>
            <a:r>
              <a:rPr lang="en-US" sz="1800" b="0" strike="noStrike" spc="-1">
                <a:solidFill>
                  <a:srgbClr val="000000"/>
                </a:solidFill>
                <a:latin typeface="Arial"/>
                <a:ea typeface="DejaVu Sans"/>
              </a:rPr>
              <a:t>5cm </a:t>
            </a:r>
            <a:r>
              <a:rPr lang="zh-CN" sz="1800" b="0" strike="noStrike" spc="-1">
                <a:solidFill>
                  <a:srgbClr val="000000"/>
                </a:solidFill>
                <a:latin typeface="Arial"/>
                <a:ea typeface="DejaVu Sans"/>
              </a:rPr>
              <a:t>开始</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"keep_open_xy": 0.10,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+"keep_open_xy": 0.06,     # </a:t>
            </a:r>
            <a:r>
              <a:rPr lang="zh-CN" sz="1800" b="0" strike="noStrike" spc="-1">
                <a:solidFill>
                  <a:srgbClr val="000000"/>
                </a:solidFill>
                <a:latin typeface="Arial"/>
                <a:ea typeface="DejaVu Sans"/>
              </a:rPr>
              <a:t>对齐要求更严格，否则老是强制张开</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"keep_open_z_above": 0.02,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+"keep_open_z_above": 0.01 # </a:t>
            </a:r>
            <a:r>
              <a:rPr lang="zh-CN" sz="1800" b="0" strike="noStrike" spc="-1">
                <a:solidFill>
                  <a:srgbClr val="000000"/>
                </a:solidFill>
                <a:latin typeface="Arial"/>
                <a:ea typeface="DejaVu Sans"/>
              </a:rPr>
              <a:t>离得不高了就允许夹</a:t>
            </a:r>
            <a:endParaRPr lang="en-US" sz="1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Picture 130"/>
          <p:cNvPicPr/>
          <p:nvPr/>
        </p:nvPicPr>
        <p:blipFill>
          <a:blip r:embed="rId2"/>
          <a:stretch/>
        </p:blipFill>
        <p:spPr>
          <a:xfrm>
            <a:off x="657720" y="371880"/>
            <a:ext cx="5053680" cy="3053520"/>
          </a:xfrm>
          <a:prstGeom prst="rect">
            <a:avLst/>
          </a:prstGeom>
          <a:ln w="0">
            <a:noFill/>
          </a:ln>
        </p:spPr>
      </p:pic>
      <p:sp>
        <p:nvSpPr>
          <p:cNvPr id="132" name="Rectangle 131"/>
          <p:cNvSpPr/>
          <p:nvPr/>
        </p:nvSpPr>
        <p:spPr>
          <a:xfrm>
            <a:off x="6137640" y="914400"/>
            <a:ext cx="1173960" cy="239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masi_V11</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Can contain and grasp  but cannot  lift</a:t>
            </a:r>
            <a:endParaRPr lang="en-US" sz="1800" b="0" strike="noStrike" spc="-1">
              <a:latin typeface="Arial"/>
            </a:endParaRPr>
          </a:p>
        </p:txBody>
      </p:sp>
      <p:sp>
        <p:nvSpPr>
          <p:cNvPr id="133" name="Rectangle 132"/>
          <p:cNvSpPr/>
          <p:nvPr/>
        </p:nvSpPr>
        <p:spPr>
          <a:xfrm>
            <a:off x="685800" y="3657600"/>
            <a:ext cx="150768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masi_v12.zip</a:t>
            </a:r>
            <a:endParaRPr lang="en-US" sz="1800" b="0" strike="noStrike" spc="-1">
              <a:latin typeface="Arial"/>
            </a:endParaRPr>
          </a:p>
        </p:txBody>
      </p:sp>
      <p:pic>
        <p:nvPicPr>
          <p:cNvPr id="134" name="Picture 133"/>
          <p:cNvPicPr/>
          <p:nvPr/>
        </p:nvPicPr>
        <p:blipFill>
          <a:blip r:embed="rId3"/>
          <a:stretch/>
        </p:blipFill>
        <p:spPr>
          <a:xfrm>
            <a:off x="6172200" y="3886200"/>
            <a:ext cx="4312800" cy="2288880"/>
          </a:xfrm>
          <a:prstGeom prst="rect">
            <a:avLst/>
          </a:prstGeom>
          <a:ln w="0">
            <a:noFill/>
          </a:ln>
        </p:spPr>
      </p:pic>
      <p:sp>
        <p:nvSpPr>
          <p:cNvPr id="135" name="Rectangle 134"/>
          <p:cNvSpPr/>
          <p:nvPr/>
        </p:nvSpPr>
        <p:spPr>
          <a:xfrm>
            <a:off x="4432320" y="3886200"/>
            <a:ext cx="150768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masi_v13.zip</a:t>
            </a:r>
            <a:endParaRPr lang="en-US" sz="18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135"/>
          <p:cNvSpPr/>
          <p:nvPr/>
        </p:nvSpPr>
        <p:spPr>
          <a:xfrm>
            <a:off x="228600" y="685800"/>
            <a:ext cx="1368000" cy="1139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Can contain and grasp  but cannot  lift</a:t>
            </a:r>
            <a:endParaRPr lang="en-US" sz="1800" b="0" strike="noStrike" spc="-1">
              <a:latin typeface="Arial"/>
            </a:endParaRPr>
          </a:p>
        </p:txBody>
      </p:sp>
      <p:sp>
        <p:nvSpPr>
          <p:cNvPr id="137" name="Rectangle 136"/>
          <p:cNvSpPr/>
          <p:nvPr/>
        </p:nvSpPr>
        <p:spPr>
          <a:xfrm>
            <a:off x="228600" y="228600"/>
            <a:ext cx="150768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masi_v14.zip</a:t>
            </a:r>
            <a:endParaRPr lang="en-US" sz="1800" b="0" strike="noStrike" spc="-1">
              <a:latin typeface="Arial"/>
            </a:endParaRPr>
          </a:p>
        </p:txBody>
      </p:sp>
      <p:pic>
        <p:nvPicPr>
          <p:cNvPr id="138" name="Picture 137"/>
          <p:cNvPicPr/>
          <p:nvPr/>
        </p:nvPicPr>
        <p:blipFill>
          <a:blip r:embed="rId2"/>
          <a:stretch/>
        </p:blipFill>
        <p:spPr>
          <a:xfrm>
            <a:off x="2057400" y="300960"/>
            <a:ext cx="5025600" cy="2667240"/>
          </a:xfrm>
          <a:prstGeom prst="rect">
            <a:avLst/>
          </a:prstGeom>
          <a:ln w="0">
            <a:noFill/>
          </a:ln>
        </p:spPr>
      </p:pic>
      <p:sp>
        <p:nvSpPr>
          <p:cNvPr id="139" name="Rectangle 138"/>
          <p:cNvSpPr/>
          <p:nvPr/>
        </p:nvSpPr>
        <p:spPr>
          <a:xfrm>
            <a:off x="7315200" y="228600"/>
            <a:ext cx="2851200" cy="93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Modified: When the log is wrapped, it moves upward, but the claw remains firmly gripped on the log entity.</a:t>
            </a:r>
            <a:endParaRPr lang="en-US" sz="1000" b="0" strike="noStrike" spc="-1">
              <a:latin typeface="Arial"/>
            </a:endParaRPr>
          </a:p>
          <a:p>
            <a:pPr>
              <a:lnSpc>
                <a:spcPct val="100000"/>
              </a:lnSpc>
              <a:buNone/>
            </a:pPr>
            <a:endParaRPr lang="en-US" sz="1000" b="0" strike="noStrike" spc="-1">
              <a:latin typeface="Arial"/>
            </a:endParaRPr>
          </a:p>
        </p:txBody>
      </p:sp>
      <p:pic>
        <p:nvPicPr>
          <p:cNvPr id="140" name="Picture 139"/>
          <p:cNvPicPr/>
          <p:nvPr/>
        </p:nvPicPr>
        <p:blipFill>
          <a:blip r:embed="rId3"/>
          <a:stretch/>
        </p:blipFill>
        <p:spPr>
          <a:xfrm>
            <a:off x="7386480" y="900360"/>
            <a:ext cx="3354120" cy="2067840"/>
          </a:xfrm>
          <a:prstGeom prst="rect">
            <a:avLst/>
          </a:prstGeom>
          <a:ln w="0">
            <a:noFill/>
          </a:ln>
        </p:spPr>
      </p:pic>
      <p:pic>
        <p:nvPicPr>
          <p:cNvPr id="141" name="Picture 140"/>
          <p:cNvPicPr/>
          <p:nvPr/>
        </p:nvPicPr>
        <p:blipFill>
          <a:blip r:embed="rId4"/>
          <a:stretch/>
        </p:blipFill>
        <p:spPr>
          <a:xfrm>
            <a:off x="2057400" y="3105000"/>
            <a:ext cx="5025600" cy="3148920"/>
          </a:xfrm>
          <a:prstGeom prst="rect">
            <a:avLst/>
          </a:prstGeom>
          <a:ln w="0">
            <a:noFill/>
          </a:ln>
        </p:spPr>
      </p:pic>
      <p:pic>
        <p:nvPicPr>
          <p:cNvPr id="142" name="Picture 141"/>
          <p:cNvPicPr/>
          <p:nvPr/>
        </p:nvPicPr>
        <p:blipFill>
          <a:blip r:embed="rId5"/>
          <a:stretch/>
        </p:blipFill>
        <p:spPr>
          <a:xfrm>
            <a:off x="7401240" y="3162240"/>
            <a:ext cx="3339360" cy="209196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142"/>
          <p:cNvSpPr/>
          <p:nvPr/>
        </p:nvSpPr>
        <p:spPr>
          <a:xfrm>
            <a:off x="228600" y="685800"/>
            <a:ext cx="2739960" cy="68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Eetu help check the model  (17.12.2025) </a:t>
            </a:r>
            <a:endParaRPr lang="en-US" sz="1800" b="0" strike="noStrike" spc="-1">
              <a:latin typeface="Arial"/>
            </a:endParaRPr>
          </a:p>
        </p:txBody>
      </p:sp>
      <p:sp>
        <p:nvSpPr>
          <p:cNvPr id="144" name="Rectangle 143"/>
          <p:cNvSpPr/>
          <p:nvPr/>
        </p:nvSpPr>
        <p:spPr>
          <a:xfrm>
            <a:off x="228600" y="228600"/>
            <a:ext cx="150768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masi_v15.zip</a:t>
            </a:r>
            <a:endParaRPr lang="en-US" sz="1800" b="0" strike="noStrike" spc="-1">
              <a:latin typeface="Arial"/>
            </a:endParaRPr>
          </a:p>
        </p:txBody>
      </p:sp>
      <p:sp>
        <p:nvSpPr>
          <p:cNvPr id="145" name="Rectangle 144"/>
          <p:cNvSpPr/>
          <p:nvPr/>
        </p:nvSpPr>
        <p:spPr>
          <a:xfrm>
            <a:off x="7315200" y="228600"/>
            <a:ext cx="2851200" cy="93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Modified: When the log is wrapped, it moves upward, but the claw remains firmly gripped on the log entity.</a:t>
            </a:r>
            <a:endParaRPr lang="en-US" sz="1000" b="0" strike="noStrike" spc="-1">
              <a:latin typeface="Arial"/>
            </a:endParaRPr>
          </a:p>
          <a:p>
            <a:pPr>
              <a:lnSpc>
                <a:spcPct val="100000"/>
              </a:lnSpc>
              <a:buNone/>
            </a:pPr>
            <a:endParaRPr lang="en-US" sz="1000" b="0" strike="noStrike" spc="-1">
              <a:latin typeface="Arial"/>
            </a:endParaRPr>
          </a:p>
        </p:txBody>
      </p:sp>
      <p:sp>
        <p:nvSpPr>
          <p:cNvPr id="146" name="Rectangle 145"/>
          <p:cNvSpPr/>
          <p:nvPr/>
        </p:nvSpPr>
        <p:spPr>
          <a:xfrm>
            <a:off x="228600" y="2286000"/>
            <a:ext cx="4350600" cy="136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19.12.2025:</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masi_v17  recovery for this version </a:t>
            </a:r>
            <a:endParaRPr lang="en-US" sz="1800" b="0" strike="noStrike" spc="-1">
              <a:latin typeface="Arial"/>
            </a:endParaRPr>
          </a:p>
        </p:txBody>
      </p:sp>
      <p:pic>
        <p:nvPicPr>
          <p:cNvPr id="147" name="Picture 146"/>
          <p:cNvPicPr/>
          <p:nvPr/>
        </p:nvPicPr>
        <p:blipFill>
          <a:blip r:embed="rId2"/>
          <a:stretch/>
        </p:blipFill>
        <p:spPr>
          <a:xfrm>
            <a:off x="3886560" y="1086120"/>
            <a:ext cx="4568760" cy="2568600"/>
          </a:xfrm>
          <a:prstGeom prst="rect">
            <a:avLst/>
          </a:prstGeom>
          <a:ln w="0">
            <a:noFill/>
          </a:ln>
        </p:spPr>
      </p:pic>
      <p:sp>
        <p:nvSpPr>
          <p:cNvPr id="148" name="Rectangle 147"/>
          <p:cNvSpPr/>
          <p:nvPr/>
        </p:nvSpPr>
        <p:spPr>
          <a:xfrm>
            <a:off x="235440" y="3886200"/>
            <a:ext cx="3647880" cy="79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The target has already soared halfway up, yet its claws still scrape the ground.</a:t>
            </a:r>
            <a:endParaRPr lang="en-US" sz="1000" b="0" strike="noStrike" spc="-1">
              <a:latin typeface="Arial"/>
            </a:endParaRPr>
          </a:p>
          <a:p>
            <a:pPr>
              <a:lnSpc>
                <a:spcPct val="100000"/>
              </a:lnSpc>
              <a:buNone/>
            </a:pPr>
            <a:endParaRPr lang="en-US" sz="1000" b="0" strike="noStrike" spc="-1">
              <a:latin typeface="Arial"/>
            </a:endParaRPr>
          </a:p>
        </p:txBody>
      </p:sp>
      <p:pic>
        <p:nvPicPr>
          <p:cNvPr id="149" name="Picture 148"/>
          <p:cNvPicPr/>
          <p:nvPr/>
        </p:nvPicPr>
        <p:blipFill>
          <a:blip r:embed="rId3"/>
          <a:stretch/>
        </p:blipFill>
        <p:spPr>
          <a:xfrm>
            <a:off x="8649000" y="1117440"/>
            <a:ext cx="2549520" cy="2537280"/>
          </a:xfrm>
          <a:prstGeom prst="rect">
            <a:avLst/>
          </a:prstGeom>
          <a:ln w="0">
            <a:noFill/>
          </a:ln>
        </p:spPr>
      </p:pic>
      <p:pic>
        <p:nvPicPr>
          <p:cNvPr id="150" name="Picture 149"/>
          <p:cNvPicPr/>
          <p:nvPr/>
        </p:nvPicPr>
        <p:blipFill>
          <a:blip r:embed="rId4"/>
          <a:stretch/>
        </p:blipFill>
        <p:spPr>
          <a:xfrm>
            <a:off x="235440" y="4343400"/>
            <a:ext cx="3883320" cy="200844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150"/>
          <p:cNvSpPr/>
          <p:nvPr/>
        </p:nvSpPr>
        <p:spPr>
          <a:xfrm>
            <a:off x="228960" y="0"/>
            <a:ext cx="2739960" cy="68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masi_v18.zip</a:t>
            </a:r>
            <a:endParaRPr lang="en-US" sz="1800" b="0" strike="noStrike" spc="-1">
              <a:latin typeface="Arial"/>
            </a:endParaRPr>
          </a:p>
        </p:txBody>
      </p:sp>
      <p:sp>
        <p:nvSpPr>
          <p:cNvPr id="152" name="Rectangle 151"/>
          <p:cNvSpPr/>
          <p:nvPr/>
        </p:nvSpPr>
        <p:spPr>
          <a:xfrm>
            <a:off x="228600" y="228600"/>
            <a:ext cx="1507680" cy="34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masi_v15.zip</a:t>
            </a:r>
            <a:endParaRPr lang="en-US" sz="1800" b="0" strike="noStrike" spc="-1">
              <a:latin typeface="Arial"/>
            </a:endParaRPr>
          </a:p>
        </p:txBody>
      </p:sp>
      <p:sp>
        <p:nvSpPr>
          <p:cNvPr id="153" name="Rectangle 152"/>
          <p:cNvSpPr/>
          <p:nvPr/>
        </p:nvSpPr>
        <p:spPr>
          <a:xfrm>
            <a:off x="7315200" y="228600"/>
            <a:ext cx="2851200" cy="93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Modified: When the log is wrapped, it moves upward, but the claw remains firmly gripped on the log entity.</a:t>
            </a:r>
            <a:endParaRPr lang="en-US" sz="1000" b="0" strike="noStrike" spc="-1">
              <a:latin typeface="Arial"/>
            </a:endParaRPr>
          </a:p>
          <a:p>
            <a:pPr>
              <a:lnSpc>
                <a:spcPct val="100000"/>
              </a:lnSpc>
              <a:buNone/>
            </a:pPr>
            <a:endParaRPr lang="en-US" sz="1000" b="0" strike="noStrike" spc="-1">
              <a:latin typeface="Arial"/>
            </a:endParaRPr>
          </a:p>
        </p:txBody>
      </p:sp>
      <p:pic>
        <p:nvPicPr>
          <p:cNvPr id="154" name="Picture 153"/>
          <p:cNvPicPr/>
          <p:nvPr/>
        </p:nvPicPr>
        <p:blipFill>
          <a:blip r:embed="rId2"/>
          <a:stretch/>
        </p:blipFill>
        <p:spPr>
          <a:xfrm>
            <a:off x="333720" y="574560"/>
            <a:ext cx="5378400" cy="2782440"/>
          </a:xfrm>
          <a:prstGeom prst="rect">
            <a:avLst/>
          </a:prstGeom>
          <a:ln w="0">
            <a:noFill/>
          </a:ln>
        </p:spPr>
      </p:pic>
      <p:pic>
        <p:nvPicPr>
          <p:cNvPr id="155" name="Picture 154"/>
          <p:cNvPicPr/>
          <p:nvPr/>
        </p:nvPicPr>
        <p:blipFill>
          <a:blip r:embed="rId3"/>
          <a:stretch/>
        </p:blipFill>
        <p:spPr>
          <a:xfrm>
            <a:off x="5844240" y="914400"/>
            <a:ext cx="4439880" cy="2290680"/>
          </a:xfrm>
          <a:prstGeom prst="rect">
            <a:avLst/>
          </a:prstGeom>
          <a:ln w="0">
            <a:noFill/>
          </a:ln>
        </p:spPr>
      </p:pic>
      <p:pic>
        <p:nvPicPr>
          <p:cNvPr id="156" name="Picture 155"/>
          <p:cNvPicPr/>
          <p:nvPr/>
        </p:nvPicPr>
        <p:blipFill>
          <a:blip r:embed="rId4"/>
          <a:stretch/>
        </p:blipFill>
        <p:spPr>
          <a:xfrm>
            <a:off x="457200" y="3637800"/>
            <a:ext cx="5251680" cy="253152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Rectangle 156"/>
          <p:cNvSpPr/>
          <p:nvPr/>
        </p:nvSpPr>
        <p:spPr>
          <a:xfrm>
            <a:off x="396720" y="970200"/>
            <a:ext cx="4629600" cy="855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[ActionTerms] ['arm_action', 'gripper_action']</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[ActionDims ] [3,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[GripSlice ] slice(3, 4, None)</a:t>
            </a:r>
            <a:endParaRPr lang="en-US" sz="1800" b="0" strike="noStrike" spc="-1">
              <a:latin typeface="Arial"/>
            </a:endParaRPr>
          </a:p>
        </p:txBody>
      </p:sp>
      <p:pic>
        <p:nvPicPr>
          <p:cNvPr id="158" name="Picture 157"/>
          <p:cNvPicPr/>
          <p:nvPr/>
        </p:nvPicPr>
        <p:blipFill>
          <a:blip r:embed="rId2"/>
          <a:stretch/>
        </p:blipFill>
        <p:spPr>
          <a:xfrm>
            <a:off x="5715000" y="0"/>
            <a:ext cx="6020280" cy="2902320"/>
          </a:xfrm>
          <a:prstGeom prst="rect">
            <a:avLst/>
          </a:prstGeom>
          <a:ln w="0">
            <a:noFill/>
          </a:ln>
        </p:spPr>
      </p:pic>
      <p:sp>
        <p:nvSpPr>
          <p:cNvPr id="159" name="Rectangle 158"/>
          <p:cNvSpPr/>
          <p:nvPr/>
        </p:nvSpPr>
        <p:spPr>
          <a:xfrm>
            <a:off x="396720" y="2057400"/>
            <a:ext cx="4629600" cy="111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[ActionTerms] ['arm_action', 'gripper_action']</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[ActionDims ] [3,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[GripSlice ] slice(3, 4, None)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p:txBody>
      </p:sp>
      <p:sp>
        <p:nvSpPr>
          <p:cNvPr id="160" name="Rectangle 159"/>
          <p:cNvSpPr/>
          <p:nvPr/>
        </p:nvSpPr>
        <p:spPr>
          <a:xfrm>
            <a:off x="372600" y="3832560"/>
            <a:ext cx="8082720" cy="1879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[ActionTerms] ['arm_action', 'gripper_action']</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[ActionDims ] [3,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[GripSlice ] slice(3, 4, None)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[0.800000011920929, -0.800000011920929]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0</a:t>
            </a:r>
            <a:endParaRPr lang="en-US" sz="18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160"/>
          <p:cNvSpPr/>
          <p:nvPr/>
        </p:nvSpPr>
        <p:spPr>
          <a:xfrm>
            <a:off x="648360" y="796320"/>
            <a:ext cx="1406160" cy="136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masi_v18_2  and  3,4 (event)  just stable than before</a:t>
            </a:r>
            <a:endParaRPr lang="en-US" sz="1800" b="0" strike="noStrike" spc="-1">
              <a:latin typeface="Arial"/>
            </a:endParaRPr>
          </a:p>
        </p:txBody>
      </p:sp>
      <p:sp>
        <p:nvSpPr>
          <p:cNvPr id="162" name="Rectangle 161"/>
          <p:cNvSpPr/>
          <p:nvPr/>
        </p:nvSpPr>
        <p:spPr>
          <a:xfrm>
            <a:off x="203760" y="2113560"/>
            <a:ext cx="11842560" cy="264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t_limits` property will be deprecated in a future release. Please use `joint_pos_limits` instead.</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62"/>
          <p:cNvSpPr/>
          <p:nvPr/>
        </p:nvSpPr>
        <p:spPr>
          <a:xfrm>
            <a:off x="203760" y="1473840"/>
            <a:ext cx="11842560" cy="392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[DBG] d_xy= 0.09066011011600494  dz_top= 0.22005146741867065  approaching= True  ready_to_close= False  close_xy/close_z= 0.06 0.06  keep_open_z_above=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d_xy / dz_top / dist_top = 0.09066011011600494 0.22005146741867065 0.23799559473991394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approaching / ready_to_close = True False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params close_dist/keep_open_xy/keep_open_z_above = 0.06 0.08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p:txBody>
      </p:sp>
      <p:sp>
        <p:nvSpPr>
          <p:cNvPr id="164" name="Rectangle 163"/>
          <p:cNvSpPr/>
          <p:nvPr/>
        </p:nvSpPr>
        <p:spPr>
          <a:xfrm>
            <a:off x="648360" y="1440"/>
            <a:ext cx="2320560" cy="136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masi_v18_2  and  3,4 (event)  just stable than before   19.11.2025 18:24 </a:t>
            </a:r>
            <a:endParaRPr lang="en-US" sz="1800" b="0" strike="noStrike" spc="-1">
              <a:latin typeface="Arial"/>
            </a:endParaRPr>
          </a:p>
        </p:txBody>
      </p:sp>
      <p:sp>
        <p:nvSpPr>
          <p:cNvPr id="165" name="Rectangle 164"/>
          <p:cNvSpPr/>
          <p:nvPr/>
        </p:nvSpPr>
        <p:spPr>
          <a:xfrm>
            <a:off x="457200" y="5943600"/>
            <a:ext cx="7168680" cy="74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"close_dist": 0.10,      # </a:t>
            </a:r>
            <a:r>
              <a:rPr lang="zh-CN" sz="1800" b="0" strike="noStrike" spc="-1">
                <a:solidFill>
                  <a:srgbClr val="000000"/>
                </a:solidFill>
                <a:latin typeface="Arial"/>
                <a:ea typeface="DejaVu Sans"/>
              </a:rPr>
              <a:t>原来 </a:t>
            </a:r>
            <a:r>
              <a:rPr lang="en-US" sz="1800" b="0" strike="noStrike" spc="-1">
                <a:solidFill>
                  <a:srgbClr val="000000"/>
                </a:solidFill>
                <a:latin typeface="Arial"/>
                <a:ea typeface="DejaVu Sans"/>
              </a:rPr>
              <a:t>0.06 </a:t>
            </a:r>
            <a:r>
              <a:rPr lang="zh-CN" sz="1800" b="0" strike="noStrike" spc="-1">
                <a:solidFill>
                  <a:srgbClr val="000000"/>
                </a:solidFill>
                <a:latin typeface="Arial"/>
                <a:ea typeface="DejaVu Sans"/>
              </a:rPr>
              <a:t>太严</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"keep_open_xy": 0.12,    # </a:t>
            </a:r>
            <a:r>
              <a:rPr lang="zh-CN" sz="1800" b="0" strike="noStrike" spc="-1">
                <a:solidFill>
                  <a:srgbClr val="000000"/>
                </a:solidFill>
                <a:latin typeface="Arial"/>
                <a:ea typeface="DejaVu Sans"/>
              </a:rPr>
              <a:t>原来 </a:t>
            </a:r>
            <a:r>
              <a:rPr lang="en-US" sz="1800" b="0" strike="noStrike" spc="-1">
                <a:solidFill>
                  <a:srgbClr val="000000"/>
                </a:solidFill>
                <a:latin typeface="Arial"/>
                <a:ea typeface="DejaVu Sans"/>
              </a:rPr>
              <a:t>0.08 </a:t>
            </a:r>
            <a:r>
              <a:rPr lang="zh-CN" sz="1800" b="0" strike="noStrike" spc="-1">
                <a:solidFill>
                  <a:srgbClr val="000000"/>
                </a:solidFill>
                <a:latin typeface="Arial"/>
                <a:ea typeface="DejaVu Sans"/>
              </a:rPr>
              <a:t>太严（你现在 </a:t>
            </a:r>
            <a:r>
              <a:rPr lang="en-US" sz="1800" b="0" strike="noStrike" spc="-1">
                <a:solidFill>
                  <a:srgbClr val="000000"/>
                </a:solidFill>
                <a:latin typeface="Arial"/>
                <a:ea typeface="DejaVu Sans"/>
              </a:rPr>
              <a:t>d_xy=0.0906</a:t>
            </a:r>
            <a:r>
              <a:rPr lang="zh-CN"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Rectangle 165"/>
          <p:cNvSpPr/>
          <p:nvPr/>
        </p:nvSpPr>
        <p:spPr>
          <a:xfrm>
            <a:off x="203760" y="1473840"/>
            <a:ext cx="11842560" cy="392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[DBG] d_xy= 0.09066011011600494  dz_top= 0.22005146741867065  approaching= False  ready_to_close= False  close_xy/close_z= 0.1 0.1  keep_open_z_above=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d_xy / dz_top / dist_top = 0.09066011011600494 0.22005146741867065 0.23799559473991394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approaching / ready_to_close = False False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params close_dist/keep_open_xy/keep_open_z_above = 0.1 0.12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ctangle 166"/>
          <p:cNvSpPr/>
          <p:nvPr/>
        </p:nvSpPr>
        <p:spPr>
          <a:xfrm>
            <a:off x="203760" y="1473840"/>
            <a:ext cx="11842560" cy="392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[DBG] d_xy= 0.09066011011600494  dz_top= 0.22005146741867065  approaching= False  ready_to_close= True  close_xy/close_z= 0.1 0.25  keep_open_z_above=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d_xy / dz_top / dist_top = 0.09066011011600494 0.22005146741867065 0.23799559473991394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approaching / ready_to_close = False True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params close_dist/keep_open_xy/keep_open_z_above = 0.1 0.12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angle 167"/>
          <p:cNvSpPr/>
          <p:nvPr/>
        </p:nvSpPr>
        <p:spPr>
          <a:xfrm>
            <a:off x="203760" y="1345680"/>
            <a:ext cx="11842560" cy="41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[DBG] d_xy= 0.09066011011600494  dz_top= 0.22005146741867065  approaching= False  ready_to_close= True  close_xy/close_z= 0.1 0.25  keep_open_z_above=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d_xy / dz_top / dist_top = 0.09066011011600494 0.22005146741867065 0.23799559473991394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approaching / ready_to_close = False True</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params close_dist/keep_open_xy/keep_open_z_above = 0.1 0.12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grasp_close_counter(eid)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p:cNvSpPr/>
          <p:nvPr/>
        </p:nvSpPr>
        <p:spPr>
          <a:xfrm>
            <a:off x="203760" y="1345680"/>
            <a:ext cx="11842560" cy="41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[DBG] d_xy= 0.09066011011600494  dz_top= 0.22005146741867065  approaching= False  ready_to_close= True  close_xy/close_z= 0.1 0.25  keep_open_z_above=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d_xy / dz_top / dist_top = 0.09066011011600494 0.22005146741867065 0.23799559473991394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params close_dist/keep_open_xy/keep_open_z_above = 0.1 0.12 0.32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claw_joint_ids = [5, 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limits   = [[-0.8726646304130554, 0.5061454772949219], [-0.8726646304130554, 0.5061454772949219]]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cur(claw)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open_tgt = [0.47856926918029785, -0.8450884222984314]</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inferred claw close_tgt=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       = [0.058184847235679626, -0.05750758945941925]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claw joint_pos_target= [-0.8450884222984314, 0.47856926918029785]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phase(eid)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grasp_close_counter(eid)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v_ee(world_up in EE frame) = [-0.006549802143126726, -1.0523775983983796e-07, 0.9999785423278809]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2025-12-19T</a:t>
            </a:r>
            <a:endParaRPr lang="en-US" sz="18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Picture 169"/>
          <p:cNvPicPr/>
          <p:nvPr/>
        </p:nvPicPr>
        <p:blipFill>
          <a:blip r:embed="rId2"/>
          <a:stretch/>
        </p:blipFill>
        <p:spPr>
          <a:xfrm>
            <a:off x="457200" y="685800"/>
            <a:ext cx="5096880" cy="2512080"/>
          </a:xfrm>
          <a:prstGeom prst="rect">
            <a:avLst/>
          </a:prstGeom>
          <a:ln w="0">
            <a:noFill/>
          </a:ln>
        </p:spPr>
      </p:pic>
      <p:sp>
        <p:nvSpPr>
          <p:cNvPr id="171" name="Rectangle 170"/>
          <p:cNvSpPr/>
          <p:nvPr/>
        </p:nvSpPr>
        <p:spPr>
          <a:xfrm>
            <a:off x="419760" y="339120"/>
            <a:ext cx="1406520" cy="34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masi_v19_1</a:t>
            </a:r>
            <a:endParaRPr lang="en-US" sz="1800" b="0" strike="noStrike" spc="-1">
              <a:latin typeface="Arial"/>
            </a:endParaRPr>
          </a:p>
        </p:txBody>
      </p:sp>
      <p:sp>
        <p:nvSpPr>
          <p:cNvPr id="172" name="Rectangle 171"/>
          <p:cNvSpPr/>
          <p:nvPr/>
        </p:nvSpPr>
        <p:spPr>
          <a:xfrm>
            <a:off x="5943600" y="679320"/>
            <a:ext cx="7084080" cy="5718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                       Computation: 6040 steps/s (collection: 1.926s, learning 0.060s)</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action noise std: 0.59</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value_function loss: 0.0285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surrogate loss: -0.0007</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entropy loss: 3.5971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reward: 7.58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episode length: 351.63</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Episode_Reward/end_effector_position_tracking: -0.1103</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Episode_Reward/end_effector_position_tracking_fine_grained: 0.6745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Episode_Reward/action_rate: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Episode_Reward/log_lift_reward: 0.1323</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Metrics/ee_pose/position_error: 0.0825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Metrics/ee_pose/orientation_error: 0.2427</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Episode_Termination/time_out: 0.9848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Episode_Termination/root_oob: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Episode_Termination/ee_speed_oob: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Episode_Termination/any_link_speed_oob: 0.0152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Episode_Termination/any_link_oob: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Episode_Termination/nan_inf_guard: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t>
            </a:r>
            <a:endParaRPr lang="en-US" sz="1800" b="0" strike="noStrike" spc="-1">
              <a:latin typeface="Arial"/>
            </a:endParaRPr>
          </a:p>
        </p:txBody>
      </p:sp>
      <p:pic>
        <p:nvPicPr>
          <p:cNvPr id="173" name="Picture 172"/>
          <p:cNvPicPr/>
          <p:nvPr/>
        </p:nvPicPr>
        <p:blipFill>
          <a:blip r:embed="rId3"/>
          <a:stretch/>
        </p:blipFill>
        <p:spPr>
          <a:xfrm>
            <a:off x="457200" y="3338640"/>
            <a:ext cx="3927240" cy="2145240"/>
          </a:xfrm>
          <a:prstGeom prst="rect">
            <a:avLst/>
          </a:prstGeom>
          <a:ln w="0">
            <a:noFill/>
          </a:ln>
        </p:spPr>
      </p:pic>
      <p:pic>
        <p:nvPicPr>
          <p:cNvPr id="174" name="Picture 173"/>
          <p:cNvPicPr/>
          <p:nvPr/>
        </p:nvPicPr>
        <p:blipFill>
          <a:blip r:embed="rId4"/>
          <a:stretch/>
        </p:blipFill>
        <p:spPr>
          <a:xfrm>
            <a:off x="1276920" y="4572000"/>
            <a:ext cx="3749760" cy="225468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Rectangle 174"/>
          <p:cNvSpPr/>
          <p:nvPr/>
        </p:nvSpPr>
        <p:spPr>
          <a:xfrm>
            <a:off x="282600" y="228600"/>
            <a:ext cx="11907000" cy="136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[DBG] phase= 2 d_xy= 0.058763016015291214 dz(center)= -0.13232935965061188 approach= False ready_close= False c_cnt= 0 l_cnt= 60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a:t>
            </a:r>
            <a:endParaRPr lang="en-US" sz="1800" b="0" strike="noStrike" spc="-1">
              <a:latin typeface="Arial"/>
            </a:endParaRPr>
          </a:p>
        </p:txBody>
      </p:sp>
      <p:sp>
        <p:nvSpPr>
          <p:cNvPr id="176" name="Rectangle 175"/>
          <p:cNvSpPr/>
          <p:nvPr/>
        </p:nvSpPr>
        <p:spPr>
          <a:xfrm>
            <a:off x="457200" y="1885320"/>
            <a:ext cx="1761480" cy="855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masi_v19_2.zip    better  open clips</a:t>
            </a:r>
            <a:endParaRPr lang="en-US" sz="1800" b="0" strike="noStrike" spc="-1">
              <a:latin typeface="Arial"/>
            </a:endParaRPr>
          </a:p>
        </p:txBody>
      </p:sp>
      <p:pic>
        <p:nvPicPr>
          <p:cNvPr id="177" name="Picture 176"/>
          <p:cNvPicPr/>
          <p:nvPr/>
        </p:nvPicPr>
        <p:blipFill>
          <a:blip r:embed="rId2"/>
          <a:stretch/>
        </p:blipFill>
        <p:spPr>
          <a:xfrm>
            <a:off x="2286000" y="1402560"/>
            <a:ext cx="3426840" cy="1879560"/>
          </a:xfrm>
          <a:prstGeom prst="rect">
            <a:avLst/>
          </a:prstGeom>
          <a:ln w="0">
            <a:noFill/>
          </a:ln>
        </p:spPr>
      </p:pic>
      <p:sp>
        <p:nvSpPr>
          <p:cNvPr id="178" name="Rectangle 177"/>
          <p:cNvSpPr/>
          <p:nvPr/>
        </p:nvSpPr>
        <p:spPr>
          <a:xfrm>
            <a:off x="419760" y="3886200"/>
            <a:ext cx="140688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masi_v19_3</a:t>
            </a:r>
            <a:endParaRPr lang="en-US" sz="800" b="0" strike="noStrike" spc="-1">
              <a:latin typeface="Arial"/>
            </a:endParaRPr>
          </a:p>
        </p:txBody>
      </p:sp>
      <p:pic>
        <p:nvPicPr>
          <p:cNvPr id="179" name="Picture 178"/>
          <p:cNvPicPr/>
          <p:nvPr/>
        </p:nvPicPr>
        <p:blipFill>
          <a:blip r:embed="rId3"/>
          <a:stretch/>
        </p:blipFill>
        <p:spPr>
          <a:xfrm>
            <a:off x="2286000" y="3429000"/>
            <a:ext cx="3426840" cy="1926720"/>
          </a:xfrm>
          <a:prstGeom prst="rect">
            <a:avLst/>
          </a:prstGeom>
          <a:ln w="0">
            <a:noFill/>
          </a:ln>
        </p:spPr>
      </p:pic>
      <p:sp>
        <p:nvSpPr>
          <p:cNvPr id="180" name="Rectangle 179"/>
          <p:cNvSpPr/>
          <p:nvPr/>
        </p:nvSpPr>
        <p:spPr>
          <a:xfrm>
            <a:off x="6302520" y="1482120"/>
            <a:ext cx="238212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masi_V20_1_patched</a:t>
            </a:r>
            <a:endParaRPr lang="en-US" sz="800" b="0" strike="noStrike" spc="-1">
              <a:latin typeface="Arial"/>
            </a:endParaRPr>
          </a:p>
        </p:txBody>
      </p:sp>
      <p:pic>
        <p:nvPicPr>
          <p:cNvPr id="181" name="Picture 180"/>
          <p:cNvPicPr/>
          <p:nvPr/>
        </p:nvPicPr>
        <p:blipFill>
          <a:blip r:embed="rId4"/>
          <a:stretch/>
        </p:blipFill>
        <p:spPr>
          <a:xfrm>
            <a:off x="6629400" y="2000520"/>
            <a:ext cx="4569480" cy="256932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Picture 181"/>
          <p:cNvPicPr/>
          <p:nvPr/>
        </p:nvPicPr>
        <p:blipFill>
          <a:blip r:embed="rId2"/>
          <a:stretch/>
        </p:blipFill>
        <p:spPr>
          <a:xfrm>
            <a:off x="685800" y="838440"/>
            <a:ext cx="4798440" cy="3125160"/>
          </a:xfrm>
          <a:prstGeom prst="rect">
            <a:avLst/>
          </a:prstGeom>
          <a:ln w="0">
            <a:noFill/>
          </a:ln>
        </p:spPr>
      </p:pic>
      <p:sp>
        <p:nvSpPr>
          <p:cNvPr id="183" name="Rectangle 182"/>
          <p:cNvSpPr/>
          <p:nvPr/>
        </p:nvSpPr>
        <p:spPr>
          <a:xfrm>
            <a:off x="685800" y="339120"/>
            <a:ext cx="238212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masi_V20_1_patched</a:t>
            </a:r>
            <a:endParaRPr lang="en-US" sz="800" b="0" strike="noStrike" spc="-1">
              <a:latin typeface="Arial"/>
            </a:endParaRPr>
          </a:p>
        </p:txBody>
      </p:sp>
      <p:pic>
        <p:nvPicPr>
          <p:cNvPr id="184" name="Picture 183"/>
          <p:cNvPicPr/>
          <p:nvPr/>
        </p:nvPicPr>
        <p:blipFill>
          <a:blip r:embed="rId3"/>
          <a:stretch/>
        </p:blipFill>
        <p:spPr>
          <a:xfrm>
            <a:off x="5943600" y="1209600"/>
            <a:ext cx="3755880" cy="244584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 name="Picture 184"/>
          <p:cNvPicPr/>
          <p:nvPr/>
        </p:nvPicPr>
        <p:blipFill>
          <a:blip r:embed="rId2"/>
          <a:stretch/>
        </p:blipFill>
        <p:spPr>
          <a:xfrm>
            <a:off x="179280" y="501840"/>
            <a:ext cx="4390560" cy="2128680"/>
          </a:xfrm>
          <a:prstGeom prst="rect">
            <a:avLst/>
          </a:prstGeom>
          <a:ln w="0">
            <a:noFill/>
          </a:ln>
        </p:spPr>
      </p:pic>
      <p:sp>
        <p:nvSpPr>
          <p:cNvPr id="186" name="Rectangle 185"/>
          <p:cNvSpPr/>
          <p:nvPr/>
        </p:nvSpPr>
        <p:spPr>
          <a:xfrm>
            <a:off x="457200" y="3082320"/>
            <a:ext cx="330588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masi_v22_1_direct_aligned.zip</a:t>
            </a:r>
            <a:endParaRPr lang="en-US" sz="800" b="0" strike="noStrike" spc="-1">
              <a:latin typeface="Arial"/>
            </a:endParaRPr>
          </a:p>
        </p:txBody>
      </p:sp>
      <p:sp>
        <p:nvSpPr>
          <p:cNvPr id="187" name="Rectangle 186"/>
          <p:cNvSpPr/>
          <p:nvPr/>
        </p:nvSpPr>
        <p:spPr>
          <a:xfrm>
            <a:off x="64800" y="155160"/>
            <a:ext cx="176184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masi_v22_1.zip</a:t>
            </a:r>
            <a:endParaRPr lang="en-US" sz="800" b="0" strike="noStrike" spc="-1">
              <a:latin typeface="Arial"/>
            </a:endParaRPr>
          </a:p>
        </p:txBody>
      </p:sp>
      <p:pic>
        <p:nvPicPr>
          <p:cNvPr id="188" name="Picture 187"/>
          <p:cNvPicPr/>
          <p:nvPr/>
        </p:nvPicPr>
        <p:blipFill>
          <a:blip r:embed="rId3"/>
          <a:stretch/>
        </p:blipFill>
        <p:spPr>
          <a:xfrm>
            <a:off x="228600" y="3570480"/>
            <a:ext cx="4418640" cy="2142360"/>
          </a:xfrm>
          <a:prstGeom prst="rect">
            <a:avLst/>
          </a:prstGeom>
          <a:ln w="0">
            <a:noFill/>
          </a:ln>
        </p:spPr>
      </p:pic>
      <p:pic>
        <p:nvPicPr>
          <p:cNvPr id="189" name="Picture 188"/>
          <p:cNvPicPr/>
          <p:nvPr/>
        </p:nvPicPr>
        <p:blipFill>
          <a:blip r:embed="rId4"/>
          <a:stretch/>
        </p:blipFill>
        <p:spPr>
          <a:xfrm>
            <a:off x="5257800" y="1187280"/>
            <a:ext cx="4619160" cy="2239560"/>
          </a:xfrm>
          <a:prstGeom prst="rect">
            <a:avLst/>
          </a:prstGeom>
          <a:ln w="0">
            <a:noFill/>
          </a:ln>
        </p:spPr>
      </p:pic>
      <p:sp>
        <p:nvSpPr>
          <p:cNvPr id="190" name="Rectangle 189"/>
          <p:cNvSpPr/>
          <p:nvPr/>
        </p:nvSpPr>
        <p:spPr>
          <a:xfrm>
            <a:off x="5257800" y="110520"/>
            <a:ext cx="331812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masi_v22_1_direct_aligned_v2</a:t>
            </a:r>
            <a:endParaRPr lang="en-US" sz="800" b="0" strike="noStrike" spc="-1">
              <a:latin typeface="Arial"/>
            </a:endParaRPr>
          </a:p>
        </p:txBody>
      </p:sp>
      <p:sp>
        <p:nvSpPr>
          <p:cNvPr id="191" name="Rectangle 190"/>
          <p:cNvSpPr/>
          <p:nvPr/>
        </p:nvSpPr>
        <p:spPr>
          <a:xfrm>
            <a:off x="5257800" y="523440"/>
            <a:ext cx="4347000" cy="1074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How does this directRL align the target to lift the robotic arm upward? Analyze it first, then tell me how to adapt it. The main issues with our current managebase are: 1. The probability of triggering the grasp is very low. 2. It fails to trigger the lift-up action.</a:t>
            </a:r>
            <a:endParaRPr lang="en-US" sz="1000" b="0" strike="noStrike" spc="-1">
              <a:latin typeface="Arial"/>
            </a:endParaRPr>
          </a:p>
          <a:p>
            <a:pPr>
              <a:lnSpc>
                <a:spcPct val="100000"/>
              </a:lnSpc>
              <a:buNone/>
            </a:pPr>
            <a:endParaRPr lang="en-US" sz="1000" b="0" strike="noStrike" spc="-1">
              <a:latin typeface="Arial"/>
            </a:endParaRPr>
          </a:p>
        </p:txBody>
      </p:sp>
      <p:pic>
        <p:nvPicPr>
          <p:cNvPr id="192" name="Picture 191"/>
          <p:cNvPicPr/>
          <p:nvPr/>
        </p:nvPicPr>
        <p:blipFill>
          <a:blip r:embed="rId5"/>
          <a:stretch/>
        </p:blipFill>
        <p:spPr>
          <a:xfrm>
            <a:off x="5486400" y="3572280"/>
            <a:ext cx="5198040" cy="259776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 name="Picture 192"/>
          <p:cNvPicPr/>
          <p:nvPr/>
        </p:nvPicPr>
        <p:blipFill>
          <a:blip r:embed="rId2"/>
          <a:stretch/>
        </p:blipFill>
        <p:spPr>
          <a:xfrm>
            <a:off x="228600" y="360"/>
            <a:ext cx="6858000" cy="4340880"/>
          </a:xfrm>
          <a:prstGeom prst="rect">
            <a:avLst/>
          </a:prstGeom>
          <a:ln w="0">
            <a:noFill/>
          </a:ln>
        </p:spPr>
      </p:pic>
      <p:sp>
        <p:nvSpPr>
          <p:cNvPr id="194" name="Rectangle 193"/>
          <p:cNvSpPr/>
          <p:nvPr/>
        </p:nvSpPr>
        <p:spPr>
          <a:xfrm>
            <a:off x="479160" y="4453920"/>
            <a:ext cx="431928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masi_v22_1_manager_direct_aligned (1)</a:t>
            </a:r>
            <a:endParaRPr lang="en-US" sz="800" b="0" strike="noStrike" spc="-1">
              <a:latin typeface="Arial"/>
            </a:endParaRPr>
          </a:p>
        </p:txBody>
      </p:sp>
      <p:pic>
        <p:nvPicPr>
          <p:cNvPr id="195" name="Picture 194"/>
          <p:cNvPicPr/>
          <p:nvPr/>
        </p:nvPicPr>
        <p:blipFill>
          <a:blip r:embed="rId3"/>
          <a:stretch/>
        </p:blipFill>
        <p:spPr>
          <a:xfrm>
            <a:off x="6229800" y="2743200"/>
            <a:ext cx="5198040" cy="2597760"/>
          </a:xfrm>
          <a:prstGeom prst="rect">
            <a:avLst/>
          </a:prstGeom>
          <a:ln w="0">
            <a:noFill/>
          </a:ln>
        </p:spPr>
      </p:pic>
      <p:sp>
        <p:nvSpPr>
          <p:cNvPr id="196" name="Rectangle 195"/>
          <p:cNvSpPr/>
          <p:nvPr/>
        </p:nvSpPr>
        <p:spPr>
          <a:xfrm>
            <a:off x="457200" y="4911120"/>
            <a:ext cx="1153800" cy="34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masi_v23  xiugaile 22</a:t>
            </a:r>
            <a:endParaRPr lang="en-US" sz="8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196"/>
          <p:cNvPicPr/>
          <p:nvPr/>
        </p:nvPicPr>
        <p:blipFill>
          <a:blip r:embed="rId2"/>
          <a:stretch/>
        </p:blipFill>
        <p:spPr>
          <a:xfrm>
            <a:off x="228600" y="151560"/>
            <a:ext cx="3369240" cy="2132280"/>
          </a:xfrm>
          <a:prstGeom prst="rect">
            <a:avLst/>
          </a:prstGeom>
          <a:ln w="0">
            <a:noFill/>
          </a:ln>
        </p:spPr>
      </p:pic>
      <p:pic>
        <p:nvPicPr>
          <p:cNvPr id="198" name="Picture 197"/>
          <p:cNvPicPr/>
          <p:nvPr/>
        </p:nvPicPr>
        <p:blipFill>
          <a:blip r:embed="rId3"/>
          <a:stretch/>
        </p:blipFill>
        <p:spPr>
          <a:xfrm>
            <a:off x="3753360" y="9720"/>
            <a:ext cx="4245480" cy="2274120"/>
          </a:xfrm>
          <a:prstGeom prst="rect">
            <a:avLst/>
          </a:prstGeom>
          <a:ln w="0">
            <a:noFill/>
          </a:ln>
        </p:spPr>
      </p:pic>
      <p:sp>
        <p:nvSpPr>
          <p:cNvPr id="199" name="Rectangle 198"/>
          <p:cNvSpPr/>
          <p:nvPr/>
        </p:nvSpPr>
        <p:spPr>
          <a:xfrm>
            <a:off x="689400" y="2971800"/>
            <a:ext cx="20516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u="sng" strike="noStrike" spc="-1">
                <a:solidFill>
                  <a:srgbClr val="467886"/>
                </a:solidFill>
                <a:uFillTx/>
                <a:latin typeface="Arial"/>
                <a:ea typeface="DejaVu Sans"/>
                <a:hlinkClick r:id="rId4"/>
              </a:rPr>
              <a:t>masi_pefect_one_V25_21_12.zip</a:t>
            </a:r>
            <a:endParaRPr lang="en-US" sz="1000" b="0" strike="noStrike" spc="-1">
              <a:latin typeface="Arial"/>
            </a:endParaRPr>
          </a:p>
        </p:txBody>
      </p:sp>
      <p:pic>
        <p:nvPicPr>
          <p:cNvPr id="200" name="Picture 199"/>
          <p:cNvPicPr/>
          <p:nvPr/>
        </p:nvPicPr>
        <p:blipFill>
          <a:blip r:embed="rId5"/>
          <a:stretch/>
        </p:blipFill>
        <p:spPr>
          <a:xfrm>
            <a:off x="457200" y="3429000"/>
            <a:ext cx="5484240" cy="2638440"/>
          </a:xfrm>
          <a:prstGeom prst="rect">
            <a:avLst/>
          </a:prstGeom>
          <a:ln w="0">
            <a:noFill/>
          </a:ln>
        </p:spPr>
      </p:pic>
      <p:sp>
        <p:nvSpPr>
          <p:cNvPr id="201" name="Rectangle 200"/>
          <p:cNvSpPr/>
          <p:nvPr/>
        </p:nvSpPr>
        <p:spPr>
          <a:xfrm>
            <a:off x="6629400" y="2514600"/>
            <a:ext cx="4341240" cy="375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Learning iteration 245/5000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4466 steps/s (collection: 2.630s, learning 0.057s)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339.9729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-0.0005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2.6822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690.28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357.38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-0.9381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0.4978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0.3418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0.0590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62.3997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Metrics/ee_pose/position_error: 0.5032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Metrics/ee_pose/orientation_error: 0.9708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Episode_Termination/time_out: 0.9780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Episode_Termination/root_oob: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Episode_Termination/ee_speed_oob: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Episode_Termination/any_link_speed_oob: 0.0220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Episode_Termination/any_link_oob: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Episode_Termination/nan_inf_guard: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Total timesteps: 2952000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Iteration time: 2.69s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Time elapsed: 00:11:05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ETA: 03:34:24</a:t>
            </a:r>
            <a:endParaRPr lang="en-US" sz="8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 name="Picture 201"/>
          <p:cNvPicPr/>
          <p:nvPr/>
        </p:nvPicPr>
        <p:blipFill>
          <a:blip r:embed="rId2"/>
          <a:stretch/>
        </p:blipFill>
        <p:spPr>
          <a:xfrm>
            <a:off x="228600" y="257400"/>
            <a:ext cx="4998240" cy="3398040"/>
          </a:xfrm>
          <a:prstGeom prst="rect">
            <a:avLst/>
          </a:prstGeom>
          <a:ln w="0">
            <a:noFill/>
          </a:ln>
        </p:spPr>
      </p:pic>
      <p:sp>
        <p:nvSpPr>
          <p:cNvPr id="203" name="Rectangle 202"/>
          <p:cNvSpPr/>
          <p:nvPr/>
        </p:nvSpPr>
        <p:spPr>
          <a:xfrm>
            <a:off x="2425320" y="0"/>
            <a:ext cx="100152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masi_v25_2_lift_1</a:t>
            </a:r>
            <a:endParaRPr lang="en-US" sz="800" b="0" strike="noStrike" spc="-1">
              <a:latin typeface="Arial"/>
            </a:endParaRPr>
          </a:p>
        </p:txBody>
      </p:sp>
      <p:sp>
        <p:nvSpPr>
          <p:cNvPr id="204" name="Rectangle 203"/>
          <p:cNvSpPr/>
          <p:nvPr/>
        </p:nvSpPr>
        <p:spPr>
          <a:xfrm>
            <a:off x="3493800" y="52200"/>
            <a:ext cx="153324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194/5000   </a:t>
            </a:r>
            <a:endParaRPr lang="en-US" sz="800" b="0" strike="noStrike" spc="-1">
              <a:latin typeface="Arial"/>
            </a:endParaRPr>
          </a:p>
        </p:txBody>
      </p:sp>
      <p:sp>
        <p:nvSpPr>
          <p:cNvPr id="205" name="Rectangle 204"/>
          <p:cNvSpPr/>
          <p:nvPr/>
        </p:nvSpPr>
        <p:spPr>
          <a:xfrm>
            <a:off x="457200" y="3886200"/>
            <a:ext cx="105336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masi_v25_4_ok_lift</a:t>
            </a:r>
            <a:endParaRPr lang="en-US" sz="800" b="0" strike="noStrike" spc="-1">
              <a:latin typeface="Arial"/>
            </a:endParaRPr>
          </a:p>
        </p:txBody>
      </p:sp>
      <p:pic>
        <p:nvPicPr>
          <p:cNvPr id="206" name="Picture 205"/>
          <p:cNvPicPr/>
          <p:nvPr/>
        </p:nvPicPr>
        <p:blipFill>
          <a:blip r:embed="rId3"/>
          <a:stretch/>
        </p:blipFill>
        <p:spPr>
          <a:xfrm>
            <a:off x="1646640" y="3710520"/>
            <a:ext cx="3380400" cy="314532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Rectangle 206"/>
          <p:cNvSpPr/>
          <p:nvPr/>
        </p:nvSpPr>
        <p:spPr>
          <a:xfrm>
            <a:off x="295560" y="1161720"/>
            <a:ext cx="3123000" cy="317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Computation: 4022 steps/s (collection: 2.924s, learning 0.059s)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0.0043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-0.0019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2.6838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3.55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357.87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-0.7390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0.4860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0.5202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0.0647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Metrics/ee_pose/position_error: 0.2416</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Metrics/ee_pose/orientation_error: 0.5969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Episode_Termination/time_out: 0.8573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Episode_Termination/root_oob: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Episode_Termination/ee_speed_oob: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Episode_Termination/any_link_speed_oob: 0.1427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Episode_Termination/any_link_oob: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Episode_Termination/nan_inf_guard: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Total timesteps: 744000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Iteration time: 2.98s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Time elapsed: 00:02:58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ETA: 03:56:53</a:t>
            </a:r>
            <a:endParaRPr lang="en-US" sz="800" b="0" strike="noStrike" spc="-1">
              <a:latin typeface="Arial"/>
            </a:endParaRPr>
          </a:p>
          <a:p>
            <a:pPr>
              <a:lnSpc>
                <a:spcPct val="100000"/>
              </a:lnSpc>
              <a:buNone/>
            </a:pPr>
            <a:endParaRPr lang="en-US" sz="800" b="0" strike="noStrike" spc="-1">
              <a:latin typeface="Arial"/>
            </a:endParaRPr>
          </a:p>
        </p:txBody>
      </p:sp>
      <p:pic>
        <p:nvPicPr>
          <p:cNvPr id="208" name="Picture 207"/>
          <p:cNvPicPr/>
          <p:nvPr/>
        </p:nvPicPr>
        <p:blipFill>
          <a:blip r:embed="rId2"/>
          <a:stretch/>
        </p:blipFill>
        <p:spPr>
          <a:xfrm>
            <a:off x="3886200" y="1136880"/>
            <a:ext cx="4633200" cy="3204360"/>
          </a:xfrm>
          <a:prstGeom prst="rect">
            <a:avLst/>
          </a:prstGeom>
          <a:ln w="0">
            <a:noFill/>
          </a:ln>
        </p:spPr>
      </p:pic>
      <p:sp>
        <p:nvSpPr>
          <p:cNvPr id="209" name="Rectangle 208"/>
          <p:cNvSpPr/>
          <p:nvPr/>
        </p:nvSpPr>
        <p:spPr>
          <a:xfrm>
            <a:off x="9051840" y="685800"/>
            <a:ext cx="2376000" cy="97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"max_pos_step": 0.005,   # ★5mm/</a:t>
            </a:r>
            <a:r>
              <a:rPr lang="zh-CN" sz="800" b="0" strike="noStrike" spc="-1">
                <a:solidFill>
                  <a:srgbClr val="000000"/>
                </a:solidFill>
                <a:latin typeface="Arial"/>
                <a:ea typeface="DejaVu Sans"/>
              </a:rPr>
              <a:t>次</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"blend": 0.15,           # ★</a:t>
            </a:r>
            <a:r>
              <a:rPr lang="zh-CN" sz="800" b="0" strike="noStrike" spc="-1">
                <a:solidFill>
                  <a:srgbClr val="000000"/>
                </a:solidFill>
                <a:latin typeface="Arial"/>
                <a:ea typeface="DejaVu Sans"/>
              </a:rPr>
              <a:t>更平滑</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"lift_z": 0.18,</a:t>
            </a:r>
            <a:endParaRPr lang="en-US" sz="800" b="0" strike="noStrike" spc="-1">
              <a:latin typeface="Arial"/>
            </a:endParaRPr>
          </a:p>
        </p:txBody>
      </p:sp>
      <p:sp>
        <p:nvSpPr>
          <p:cNvPr id="210" name="Rectangle 209"/>
          <p:cNvSpPr/>
          <p:nvPr/>
        </p:nvSpPr>
        <p:spPr>
          <a:xfrm>
            <a:off x="9372600" y="1966320"/>
            <a:ext cx="1201320" cy="31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"max_pos_step": 0.01,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"blend": 0.2,</a:t>
            </a:r>
            <a:endParaRPr lang="en-US" sz="800" b="0" strike="noStrike" spc="-1">
              <a:latin typeface="Arial"/>
            </a:endParaRPr>
          </a:p>
        </p:txBody>
      </p:sp>
      <p:sp>
        <p:nvSpPr>
          <p:cNvPr id="211" name="Rectangle 210"/>
          <p:cNvSpPr/>
          <p:nvPr/>
        </p:nvSpPr>
        <p:spPr>
          <a:xfrm>
            <a:off x="3647880" y="4800600"/>
            <a:ext cx="5722560" cy="2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“revolute_cabin” </a:t>
            </a:r>
            <a:r>
              <a:rPr lang="zh-CN" sz="1000" b="0" strike="noStrike" spc="-1">
                <a:solidFill>
                  <a:srgbClr val="000000"/>
                </a:solidFill>
                <a:latin typeface="Arial"/>
                <a:ea typeface="DejaVu Sans"/>
              </a:rPr>
              <a:t>这个 </a:t>
            </a:r>
            <a:r>
              <a:rPr lang="en-US" sz="1000" b="0" strike="noStrike" spc="-1">
                <a:solidFill>
                  <a:srgbClr val="000000"/>
                </a:solidFill>
                <a:latin typeface="Arial"/>
                <a:ea typeface="DejaVu Sans"/>
              </a:rPr>
              <a:t>DOF </a:t>
            </a:r>
            <a:r>
              <a:rPr lang="zh-CN" sz="1000" b="0" strike="noStrike" spc="-1">
                <a:solidFill>
                  <a:srgbClr val="000000"/>
                </a:solidFill>
                <a:latin typeface="Arial"/>
                <a:ea typeface="DejaVu Sans"/>
              </a:rPr>
              <a:t>太强：一旦 </a:t>
            </a:r>
            <a:r>
              <a:rPr lang="en-US" sz="1000" b="0" strike="noStrike" spc="-1">
                <a:solidFill>
                  <a:srgbClr val="000000"/>
                </a:solidFill>
                <a:latin typeface="Arial"/>
                <a:ea typeface="DejaVu Sans"/>
              </a:rPr>
              <a:t>PPO </a:t>
            </a:r>
            <a:r>
              <a:rPr lang="zh-CN" sz="1000" b="0" strike="noStrike" spc="-1">
                <a:solidFill>
                  <a:srgbClr val="000000"/>
                </a:solidFill>
                <a:latin typeface="Arial"/>
                <a:ea typeface="DejaVu Sans"/>
              </a:rPr>
              <a:t>学到一点“更激进”的策略，它会开始大量用 </a:t>
            </a:r>
            <a:r>
              <a:rPr lang="en-US" sz="1000" b="0" strike="noStrike" spc="-1">
                <a:solidFill>
                  <a:srgbClr val="000000"/>
                </a:solidFill>
                <a:latin typeface="Arial"/>
                <a:ea typeface="DejaVu Sans"/>
              </a:rPr>
              <a:t>cabin</a:t>
            </a:r>
            <a:endParaRPr lang="en-US" sz="10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ctangle 211"/>
          <p:cNvSpPr/>
          <p:nvPr/>
        </p:nvSpPr>
        <p:spPr>
          <a:xfrm>
            <a:off x="685800" y="914400"/>
            <a:ext cx="3731040" cy="352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Learning iteration 23/5000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4343 steps/s (collection: 2.705s, learning 0.058s)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0.60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0.0036</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-0.0009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2.7221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4.00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359.57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-0.9521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0.3718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0.7709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0.1434</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0.0328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Metrics/ee_pose/position_error: 0.1668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Metrics/ee_pose/orientation_error: 0.2558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Episode_Termination/time_out: 0.9840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Episode_Termination/root_oob: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Episode_Termination/ee_speed_oob: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Episode_Termination/any_link_speed_oob: 0.0160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Episode_Termination/any_link_oob: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Episode_Termination/nan_inf_guard: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Total timesteps: 288000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Iteration time: 2.76s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Time elapsed: 00:01:04</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ETA: 03:43:01</a:t>
            </a:r>
            <a:endParaRPr lang="en-US" sz="800" b="0" strike="noStrike" spc="-1">
              <a:latin typeface="Arial"/>
            </a:endParaRPr>
          </a:p>
          <a:p>
            <a:pPr>
              <a:lnSpc>
                <a:spcPct val="100000"/>
              </a:lnSpc>
              <a:buNone/>
            </a:pPr>
            <a:endParaRPr lang="en-US" sz="800" b="0" strike="noStrike" spc="-1">
              <a:latin typeface="Arial"/>
            </a:endParaRPr>
          </a:p>
        </p:txBody>
      </p:sp>
      <p:sp>
        <p:nvSpPr>
          <p:cNvPr id="213" name="Rectangle 212"/>
          <p:cNvSpPr/>
          <p:nvPr/>
        </p:nvSpPr>
        <p:spPr>
          <a:xfrm>
            <a:off x="5029200" y="2030400"/>
            <a:ext cx="335880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joint_names=["revolute_lift", "revolute_tilt", "revolute_scoop","revolute_gripper"], body_name=EE_BODY, controller=DifferentialIKControllerCfg( command_type="position", use_relative_mode=True, ik_method="dls", ik_params={"lambda_val": 0.08}, ), scale=0.01,</a:t>
            </a:r>
            <a:endParaRPr lang="en-US" sz="1000" b="0" strike="noStrike" spc="-1">
              <a:latin typeface="Arial"/>
            </a:endParaRPr>
          </a:p>
        </p:txBody>
      </p:sp>
      <p:sp>
        <p:nvSpPr>
          <p:cNvPr id="214" name="Rectangle 213"/>
          <p:cNvSpPr/>
          <p:nvPr/>
        </p:nvSpPr>
        <p:spPr>
          <a:xfrm>
            <a:off x="9372600" y="2514600"/>
            <a:ext cx="153180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masi_pefect_one_V25_21_12</a:t>
            </a:r>
            <a:endParaRPr lang="en-US" sz="800" b="0" strike="noStrike" spc="-1">
              <a:latin typeface="Arial"/>
            </a:endParaRPr>
          </a:p>
        </p:txBody>
      </p:sp>
      <p:sp>
        <p:nvSpPr>
          <p:cNvPr id="215" name="Rectangle 214"/>
          <p:cNvSpPr/>
          <p:nvPr/>
        </p:nvSpPr>
        <p:spPr>
          <a:xfrm>
            <a:off x="5943600" y="480600"/>
            <a:ext cx="92844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d/log_lift: 0.0017</a:t>
            </a:r>
            <a:endParaRPr lang="en-US" sz="800" b="0" strike="noStrike" spc="-1">
              <a:latin typeface="Arial"/>
            </a:endParaRPr>
          </a:p>
        </p:txBody>
      </p:sp>
      <p:sp>
        <p:nvSpPr>
          <p:cNvPr id="216" name="Rectangle 215"/>
          <p:cNvSpPr/>
          <p:nvPr/>
        </p:nvSpPr>
        <p:spPr>
          <a:xfrm>
            <a:off x="7195320" y="480600"/>
            <a:ext cx="574920" cy="3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Iteration  41/500</a:t>
            </a:r>
            <a:endParaRPr lang="en-US" sz="8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Rectangle 216"/>
          <p:cNvSpPr/>
          <p:nvPr/>
        </p:nvSpPr>
        <p:spPr>
          <a:xfrm>
            <a:off x="457200" y="685800"/>
            <a:ext cx="261216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joint_names=["revolute_lift", "revolute_tilt", "revolute_scoop"], body_name=EE_BODY, controller=DifferentialIKControllerCfg( command_type="position", use_relative_mode=True, ik_method="dls", ik_params={"lambda_val": 0.08}, ),</a:t>
            </a:r>
            <a:endParaRPr lang="en-US" sz="1000" b="0" strike="noStrike" spc="-1">
              <a:latin typeface="Arial"/>
            </a:endParaRPr>
          </a:p>
        </p:txBody>
      </p:sp>
      <p:sp>
        <p:nvSpPr>
          <p:cNvPr id="218" name="Rectangle 217"/>
          <p:cNvSpPr/>
          <p:nvPr/>
        </p:nvSpPr>
        <p:spPr>
          <a:xfrm>
            <a:off x="3429000" y="591480"/>
            <a:ext cx="3065040" cy="2378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Computation: 4279 steps/s (collection: 2.742s, learning 0.062s)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17.4053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-0.0001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2.6700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28.13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281.23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-0.7992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0.3471</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0.2407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0.0847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1.8576</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Metrics/ee_pose/position_error: 0.3413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Metrics/ee_pose/orientation_error: 1.7418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Episode_Termination/time_out: 0.6718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Episode_Termination/root_oob: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Episode_Termination/ee_speed_oob: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Episode_Termination/any_link_speed_oob: 0.3282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Episode_Termination/any_link_oob: 0.000</a:t>
            </a:r>
            <a:endParaRPr lang="en-US" sz="800" b="0" strike="noStrike" spc="-1">
              <a:latin typeface="Arial"/>
            </a:endParaRPr>
          </a:p>
        </p:txBody>
      </p:sp>
      <p:sp>
        <p:nvSpPr>
          <p:cNvPr id="219" name="Rectangle 218"/>
          <p:cNvSpPr/>
          <p:nvPr/>
        </p:nvSpPr>
        <p:spPr>
          <a:xfrm>
            <a:off x="3886200" y="228600"/>
            <a:ext cx="1447920" cy="20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99/5000  </a:t>
            </a:r>
            <a:endParaRPr lang="en-US" sz="800" b="0" strike="noStrike" spc="-1">
              <a:latin typeface="Arial"/>
            </a:endParaRPr>
          </a:p>
        </p:txBody>
      </p:sp>
      <p:sp>
        <p:nvSpPr>
          <p:cNvPr id="220" name="Rectangle 219"/>
          <p:cNvSpPr/>
          <p:nvPr/>
        </p:nvSpPr>
        <p:spPr>
          <a:xfrm>
            <a:off x="7039800" y="685800"/>
            <a:ext cx="3702240" cy="77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114/5000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4283 steps/s (collection: 2.742s, learning 0.059s)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76.2998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-0.0001</a:t>
            </a:r>
            <a:endParaRPr lang="en-US" sz="800" b="0" strike="noStrike" spc="-1">
              <a:latin typeface="Arial"/>
            </a:endParaRPr>
          </a:p>
        </p:txBody>
      </p:sp>
      <p:sp>
        <p:nvSpPr>
          <p:cNvPr id="221" name="Rectangle 220"/>
          <p:cNvSpPr/>
          <p:nvPr/>
        </p:nvSpPr>
        <p:spPr>
          <a:xfrm>
            <a:off x="685800" y="3908880"/>
            <a:ext cx="3702240" cy="66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140/5000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4230 steps/s (collection: 2.776s, learning 0.060s)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28.9996</a:t>
            </a:r>
            <a:endParaRPr lang="en-US" sz="800" b="0" strike="noStrike" spc="-1">
              <a:latin typeface="Arial"/>
            </a:endParaRPr>
          </a:p>
        </p:txBody>
      </p:sp>
      <p:sp>
        <p:nvSpPr>
          <p:cNvPr id="222" name="Rectangle 221"/>
          <p:cNvSpPr/>
          <p:nvPr/>
        </p:nvSpPr>
        <p:spPr>
          <a:xfrm>
            <a:off x="4982400" y="3886200"/>
            <a:ext cx="3702240" cy="66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192/5000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4527 steps/s (collection: 2.594s, learning 0.057s)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121.4887</a:t>
            </a:r>
            <a:endParaRPr lang="en-US" sz="800" b="0" strike="noStrike" spc="-1">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Rectangle 222"/>
          <p:cNvSpPr/>
          <p:nvPr/>
        </p:nvSpPr>
        <p:spPr>
          <a:xfrm>
            <a:off x="228600" y="457200"/>
            <a:ext cx="3051000" cy="133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log_lift = RewTerm(</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func=mdp.log_lift_linear_reward,</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weight=1.0,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params={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"log_cfg": SceneEntityCfg("log"),</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"log_z0": 0.03,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"lift_scale": 150.0,   # 500 -&gt; 150</a:t>
            </a:r>
            <a:r>
              <a:rPr lang="zh-CN" sz="800" b="0" strike="noStrike" spc="-1">
                <a:solidFill>
                  <a:srgbClr val="000000"/>
                </a:solidFill>
                <a:latin typeface="Arial"/>
                <a:ea typeface="DejaVu Sans"/>
              </a:rPr>
              <a:t>（先稳住）</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p:txBody>
      </p:sp>
      <p:sp>
        <p:nvSpPr>
          <p:cNvPr id="224" name="Rectangle 223"/>
          <p:cNvSpPr/>
          <p:nvPr/>
        </p:nvSpPr>
        <p:spPr>
          <a:xfrm>
            <a:off x="3886200" y="593640"/>
            <a:ext cx="3482640" cy="100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class RewardsCfg:</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ee_to_log_distance = RewTerm(..., weight=1.0, params={...})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yaw_alignment      = RewTerm(..., weight=1.0, params={...})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vertical_upright   = RewTerm(..., weight=1.0, params={...})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grasp_open_close   = RewTerm(..., weight=1.0, params={...})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log_lift           = RewTerm(..., weight=1.0, params={...})</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action_rate = RewTerm(func=mdp.safe_action_rate_l2, weight=-0.001)</a:t>
            </a:r>
            <a:endParaRPr lang="en-US" sz="800" b="0" strike="noStrike" spc="-1">
              <a:latin typeface="Arial"/>
            </a:endParaRPr>
          </a:p>
        </p:txBody>
      </p:sp>
      <p:sp>
        <p:nvSpPr>
          <p:cNvPr id="225" name="Rectangle 224"/>
          <p:cNvSpPr/>
          <p:nvPr/>
        </p:nvSpPr>
        <p:spPr>
          <a:xfrm>
            <a:off x="8229600" y="950040"/>
            <a:ext cx="2362320" cy="419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0.5</a:t>
            </a:r>
            <a:endParaRPr lang="en-US" sz="800" b="0" strike="noStrike" spc="-1">
              <a:latin typeface="Arial"/>
            </a:endParaRPr>
          </a:p>
        </p:txBody>
      </p:sp>
      <p:sp>
        <p:nvSpPr>
          <p:cNvPr id="226" name="Rectangle 225"/>
          <p:cNvSpPr/>
          <p:nvPr/>
        </p:nvSpPr>
        <p:spPr>
          <a:xfrm>
            <a:off x="410400" y="2514600"/>
            <a:ext cx="3702240" cy="192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Learning iteration 4/5000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7301 steps/s (collection: 1.584s, learning 0.060s)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0.60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0.0025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-0.0018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2.7265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89.22</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-0.2147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0.0753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0.1239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0.0288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p:txBody>
      </p:sp>
      <p:sp>
        <p:nvSpPr>
          <p:cNvPr id="227" name="Rectangle 226"/>
          <p:cNvSpPr/>
          <p:nvPr/>
        </p:nvSpPr>
        <p:spPr>
          <a:xfrm>
            <a:off x="4753800" y="2545560"/>
            <a:ext cx="3702240" cy="260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 Learning iteration 286/5000                       </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Computation: 6287 steps/s (collection: 1.851s, learning 0.057s)</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action noise std: 0.57</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value_function loss: 0.0004</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surrogate loss: -0.0023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entropy loss: 2.5756</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reward: 3.00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Mean episode length: 325.08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Episode_Reward/ee_to_log_distance: -0.4869</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Episode_Reward/yaw_alignment: 0.2288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Episode_Reward/vertical_upright: 0.4255</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Episode_Reward/grasp_open_close: 0.0930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Episode_Reward/log_lift: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Episode_Reward/action_rate: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Metrics/ee_pose/position_error: 0.1154</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Metrics/ee_pose/orientation_error: 0.2086</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Episode_Termination/time_out: 0.9278</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Episode_Termination/root_oob: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Episode_Termination/ee_speed_oob: 0.0000</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Episode_Termination/any_link_speed_oob: 0.0723</a:t>
            </a:r>
            <a:endParaRPr lang="en-US" sz="800" b="0" strike="noStrike" spc="-1">
              <a:latin typeface="Arial"/>
            </a:endParaRPr>
          </a:p>
          <a:p>
            <a:pPr>
              <a:lnSpc>
                <a:spcPct val="100000"/>
              </a:lnSpc>
              <a:buNone/>
            </a:pPr>
            <a:r>
              <a:rPr lang="en-US" sz="800" b="0" strike="noStrike" spc="-1">
                <a:solidFill>
                  <a:srgbClr val="000000"/>
                </a:solidFill>
                <a:latin typeface="Arial"/>
                <a:ea typeface="DejaVu Sans"/>
              </a:rPr>
              <a:t>  Episode_Termination/any_link_oob: 0.0000</a:t>
            </a:r>
            <a:endParaRPr lang="en-US" sz="800" b="0" strike="noStrike" spc="-1">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Rectangle 227"/>
          <p:cNvSpPr/>
          <p:nvPr/>
        </p:nvSpPr>
        <p:spPr>
          <a:xfrm>
            <a:off x="834120" y="681840"/>
            <a:ext cx="993240" cy="2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masi_26_1.zip</a:t>
            </a:r>
            <a:endParaRPr lang="en-US" sz="1000" b="0" strike="noStrike" spc="-1">
              <a:latin typeface="Arial"/>
            </a:endParaRPr>
          </a:p>
        </p:txBody>
      </p:sp>
      <p:sp>
        <p:nvSpPr>
          <p:cNvPr id="229" name="Rectangle 228"/>
          <p:cNvSpPr/>
          <p:nvPr/>
        </p:nvSpPr>
        <p:spPr>
          <a:xfrm>
            <a:off x="2057400" y="595440"/>
            <a:ext cx="1201320" cy="31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800" b="0" strike="noStrike" spc="-1">
                <a:solidFill>
                  <a:srgbClr val="000000"/>
                </a:solidFill>
                <a:latin typeface="Arial"/>
                <a:ea typeface="DejaVu Sans"/>
              </a:rPr>
              <a:t>Similar with  25 4 </a:t>
            </a:r>
            <a:endParaRPr lang="en-US" sz="800" b="0" strike="noStrike" spc="-1">
              <a:latin typeface="Arial"/>
            </a:endParaRPr>
          </a:p>
          <a:p>
            <a:pPr>
              <a:lnSpc>
                <a:spcPct val="100000"/>
              </a:lnSpc>
              <a:buNone/>
            </a:pPr>
            <a:endParaRPr lang="en-US" sz="800" b="0" strike="noStrike" spc="-1">
              <a:latin typeface="Arial"/>
            </a:endParaRPr>
          </a:p>
        </p:txBody>
      </p:sp>
      <p:pic>
        <p:nvPicPr>
          <p:cNvPr id="230" name="Picture 229"/>
          <p:cNvPicPr/>
          <p:nvPr/>
        </p:nvPicPr>
        <p:blipFill>
          <a:blip r:embed="rId2"/>
          <a:stretch/>
        </p:blipFill>
        <p:spPr>
          <a:xfrm>
            <a:off x="225720" y="1235880"/>
            <a:ext cx="7316640" cy="4477680"/>
          </a:xfrm>
          <a:prstGeom prst="rect">
            <a:avLst/>
          </a:prstGeom>
          <a:ln w="0">
            <a:noFill/>
          </a:ln>
        </p:spPr>
      </p:pic>
      <p:pic>
        <p:nvPicPr>
          <p:cNvPr id="231" name="Picture 230"/>
          <p:cNvPicPr/>
          <p:nvPr/>
        </p:nvPicPr>
        <p:blipFill>
          <a:blip r:embed="rId3"/>
          <a:stretch/>
        </p:blipFill>
        <p:spPr>
          <a:xfrm>
            <a:off x="7778520" y="1143000"/>
            <a:ext cx="4107240" cy="2513160"/>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Picture 231"/>
          <p:cNvPicPr/>
          <p:nvPr/>
        </p:nvPicPr>
        <p:blipFill>
          <a:blip r:embed="rId2"/>
          <a:stretch/>
        </p:blipFill>
        <p:spPr>
          <a:xfrm>
            <a:off x="486000" y="1034640"/>
            <a:ext cx="6370920" cy="1936080"/>
          </a:xfrm>
          <a:prstGeom prst="rect">
            <a:avLst/>
          </a:prstGeom>
          <a:ln w="0">
            <a:noFill/>
          </a:ln>
        </p:spPr>
      </p:pic>
      <p:sp>
        <p:nvSpPr>
          <p:cNvPr id="233" name="Rectangle 232"/>
          <p:cNvSpPr/>
          <p:nvPr/>
        </p:nvSpPr>
        <p:spPr>
          <a:xfrm>
            <a:off x="457200" y="228600"/>
            <a:ext cx="6628320" cy="111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Masi_27_1   totally different version</a:t>
            </a:r>
            <a:endParaRPr lang="en-US" sz="1800" b="0" strike="noStrike" spc="-1">
              <a:latin typeface="Arial"/>
            </a:endParaRPr>
          </a:p>
        </p:txBody>
      </p:sp>
      <p:pic>
        <p:nvPicPr>
          <p:cNvPr id="234" name="Picture 233"/>
          <p:cNvPicPr/>
          <p:nvPr/>
        </p:nvPicPr>
        <p:blipFill>
          <a:blip r:embed="rId3"/>
          <a:stretch/>
        </p:blipFill>
        <p:spPr>
          <a:xfrm>
            <a:off x="457200" y="3141720"/>
            <a:ext cx="6277680" cy="3258000"/>
          </a:xfrm>
          <a:prstGeom prst="rect">
            <a:avLst/>
          </a:prstGeom>
          <a:ln w="0">
            <a:noFill/>
          </a:ln>
        </p:spPr>
      </p:pic>
      <p:sp>
        <p:nvSpPr>
          <p:cNvPr id="235" name="Rectangle 234"/>
          <p:cNvSpPr/>
          <p:nvPr/>
        </p:nvSpPr>
        <p:spPr>
          <a:xfrm>
            <a:off x="7285320" y="228600"/>
            <a:ext cx="8029800" cy="623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    Learning iteration 719/5000                       </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Computation: 5263 steps/s (collection: 2.221s, learning 0.059s)</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action noise std: 0.45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value_function loss: 0.0005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surrogate loss: 0.0030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entropy loss: 2.5630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reward: 57.86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Mean episode length: 360.00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Episode_Reward/ee_to_log: 2.8202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Episode_Reward/yaw_alignment: 0.4892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Episode_Reward/vertical_upright: 0.9932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Episode_Reward/grasp_open_close: 0.4561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Episode_Reward/log_lift: 0.0532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Episode_Reward/action_rate: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Episode_Termination/time_out: 1.0000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Episode_Termination/root_oob: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Episode_Termination/ee_speed_oob: 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Total timesteps: 8640000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Iteration time: 2.28s</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Time elapsed: 00:24:25</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                               ETA: 02:25:12</a:t>
            </a:r>
            <a:endParaRPr lang="en-US" sz="1800" b="0" strike="noStrike" spc="-1">
              <a:latin typeface="Arial"/>
            </a:endParaRPr>
          </a:p>
          <a:p>
            <a:pPr>
              <a:lnSpc>
                <a:spcPct val="100000"/>
              </a:lnSpc>
              <a:buNone/>
            </a:pPr>
            <a:endParaRPr lang="en-US" sz="1800" b="0" strike="noStrike" spc="-1">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 name="Picture 235"/>
          <p:cNvPicPr/>
          <p:nvPr/>
        </p:nvPicPr>
        <p:blipFill>
          <a:blip r:embed="rId2"/>
          <a:stretch/>
        </p:blipFill>
        <p:spPr>
          <a:xfrm>
            <a:off x="30600" y="1371600"/>
            <a:ext cx="12190680" cy="5287320"/>
          </a:xfrm>
          <a:prstGeom prst="rect">
            <a:avLst/>
          </a:prstGeom>
          <a:ln w="0">
            <a:noFill/>
          </a:ln>
        </p:spPr>
      </p:pic>
      <p:sp>
        <p:nvSpPr>
          <p:cNvPr id="237" name="Rectangle 236"/>
          <p:cNvSpPr/>
          <p:nvPr/>
        </p:nvSpPr>
        <p:spPr>
          <a:xfrm>
            <a:off x="0" y="540360"/>
            <a:ext cx="12367080" cy="60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what the key factors to influcing he Log the value still so lower(still around 0.0532) when training , it indicate  no any lifted Log action or have being triggered </a:t>
            </a:r>
            <a:endParaRPr lang="en-US" sz="1800" b="0" strike="noStrike" spc="-1">
              <a:latin typeface="Arial"/>
            </a:endParaRPr>
          </a:p>
        </p:txBody>
      </p:sp>
      <p:sp>
        <p:nvSpPr>
          <p:cNvPr id="238" name="Rectangle 237"/>
          <p:cNvSpPr/>
          <p:nvPr/>
        </p:nvSpPr>
        <p:spPr>
          <a:xfrm>
            <a:off x="0" y="-34920"/>
            <a:ext cx="1293840" cy="34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masi_28_1</a:t>
            </a:r>
            <a:endParaRPr lang="en-US" sz="1800" b="0" strike="noStrike" spc="-1">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angle 238"/>
          <p:cNvSpPr/>
          <p:nvPr/>
        </p:nvSpPr>
        <p:spPr>
          <a:xfrm>
            <a:off x="360" y="-34560"/>
            <a:ext cx="1293840" cy="34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masi_28_1</a:t>
            </a:r>
            <a:endParaRPr lang="en-US" sz="1800" b="0" strike="noStrike" spc="-1">
              <a:latin typeface="Arial"/>
            </a:endParaRPr>
          </a:p>
        </p:txBody>
      </p:sp>
      <p:pic>
        <p:nvPicPr>
          <p:cNvPr id="240" name="Picture 239"/>
          <p:cNvPicPr/>
          <p:nvPr/>
        </p:nvPicPr>
        <p:blipFill>
          <a:blip r:embed="rId2"/>
          <a:stretch/>
        </p:blipFill>
        <p:spPr>
          <a:xfrm>
            <a:off x="351000" y="511920"/>
            <a:ext cx="5591520" cy="3144600"/>
          </a:xfrm>
          <a:prstGeom prst="rect">
            <a:avLst/>
          </a:prstGeom>
          <a:ln w="0">
            <a:noFill/>
          </a:ln>
        </p:spPr>
      </p:pic>
      <p:pic>
        <p:nvPicPr>
          <p:cNvPr id="241" name="Picture 240"/>
          <p:cNvPicPr/>
          <p:nvPr/>
        </p:nvPicPr>
        <p:blipFill>
          <a:blip r:embed="rId3"/>
          <a:stretch/>
        </p:blipFill>
        <p:spPr>
          <a:xfrm>
            <a:off x="6294600" y="457200"/>
            <a:ext cx="5688720" cy="3199320"/>
          </a:xfrm>
          <a:prstGeom prst="rect">
            <a:avLst/>
          </a:prstGeom>
          <a:ln w="0">
            <a:noFill/>
          </a:ln>
        </p:spPr>
      </p:pic>
      <p:sp>
        <p:nvSpPr>
          <p:cNvPr id="242" name="Rectangle 241"/>
          <p:cNvSpPr/>
          <p:nvPr/>
        </p:nvSpPr>
        <p:spPr>
          <a:xfrm>
            <a:off x="1731960" y="110520"/>
            <a:ext cx="2381760" cy="34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2026-01-05_18-09-03</a:t>
            </a:r>
            <a:endParaRPr lang="en-US" sz="1800" b="0" strike="noStrike" spc="-1">
              <a:latin typeface="Arial"/>
            </a:endParaRPr>
          </a:p>
        </p:txBody>
      </p:sp>
      <p:pic>
        <p:nvPicPr>
          <p:cNvPr id="243" name="Picture 242"/>
          <p:cNvPicPr/>
          <p:nvPr/>
        </p:nvPicPr>
        <p:blipFill>
          <a:blip r:embed="rId4"/>
          <a:stretch/>
        </p:blipFill>
        <p:spPr>
          <a:xfrm>
            <a:off x="288720" y="3886200"/>
            <a:ext cx="4053600" cy="2373480"/>
          </a:xfrm>
          <a:prstGeom prst="rect">
            <a:avLst/>
          </a:prstGeom>
          <a:ln w="0">
            <a:noFill/>
          </a:ln>
        </p:spPr>
      </p:pic>
      <p:pic>
        <p:nvPicPr>
          <p:cNvPr id="244" name="Picture 243"/>
          <p:cNvPicPr/>
          <p:nvPr/>
        </p:nvPicPr>
        <p:blipFill>
          <a:blip r:embed="rId5"/>
          <a:stretch/>
        </p:blipFill>
        <p:spPr>
          <a:xfrm>
            <a:off x="4632120" y="3886200"/>
            <a:ext cx="4053600" cy="2373480"/>
          </a:xfrm>
          <a:prstGeom prst="rect">
            <a:avLst/>
          </a:prstGeom>
          <a:ln w="0">
            <a:noFill/>
          </a:ln>
        </p:spPr>
      </p:pic>
      <p:sp>
        <p:nvSpPr>
          <p:cNvPr id="245" name="Rectangle 244"/>
          <p:cNvSpPr/>
          <p:nvPr/>
        </p:nvSpPr>
        <p:spPr>
          <a:xfrm>
            <a:off x="4266360" y="224640"/>
            <a:ext cx="2819160" cy="23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events.out.tfevents.1767629354.home.17879.0</a:t>
            </a:r>
            <a:endParaRPr lang="en-US" sz="1000" b="0" strike="noStrike" spc="-1">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extBox 1"/>
          <p:cNvSpPr/>
          <p:nvPr/>
        </p:nvSpPr>
        <p:spPr>
          <a:xfrm>
            <a:off x="1440" y="549720"/>
            <a:ext cx="1369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5000/500</a:t>
            </a:r>
            <a:endParaRPr lang="en-US" sz="1800" b="0" strike="noStrike" spc="-1">
              <a:latin typeface="Arial"/>
            </a:endParaRPr>
          </a:p>
        </p:txBody>
      </p:sp>
      <p:pic>
        <p:nvPicPr>
          <p:cNvPr id="247" name="Picture 246"/>
          <p:cNvPicPr/>
          <p:nvPr/>
        </p:nvPicPr>
        <p:blipFill>
          <a:blip r:embed="rId2"/>
          <a:stretch/>
        </p:blipFill>
        <p:spPr>
          <a:xfrm>
            <a:off x="228600" y="1041840"/>
            <a:ext cx="11277000" cy="2386800"/>
          </a:xfrm>
          <a:prstGeom prst="rect">
            <a:avLst/>
          </a:prstGeom>
          <a:ln w="0">
            <a:noFill/>
          </a:ln>
        </p:spPr>
      </p:pic>
      <p:sp>
        <p:nvSpPr>
          <p:cNvPr id="248" name="Rectangle 247"/>
          <p:cNvSpPr/>
          <p:nvPr/>
        </p:nvSpPr>
        <p:spPr>
          <a:xfrm>
            <a:off x="1371600" y="55080"/>
            <a:ext cx="7192440" cy="85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latin typeface="Arial"/>
              </a:rPr>
              <a:t>python scripts/reinforcement_learning/rsl_rl/train.py --num_envs 500 \</a:t>
            </a:r>
          </a:p>
          <a:p>
            <a:pPr>
              <a:lnSpc>
                <a:spcPct val="100000"/>
              </a:lnSpc>
              <a:buNone/>
            </a:pPr>
            <a:r>
              <a:rPr lang="en-US" sz="1800" b="0" strike="noStrike" spc="-1">
                <a:latin typeface="Arial"/>
              </a:rPr>
              <a:t>  --task Isaac-Masi-LogIK-train-v0 \</a:t>
            </a:r>
          </a:p>
          <a:p>
            <a:pPr>
              <a:lnSpc>
                <a:spcPct val="100000"/>
              </a:lnSpc>
              <a:buNone/>
            </a:pPr>
            <a:r>
              <a:rPr lang="en-US" sz="1800" b="0" strike="noStrike" spc="-1">
                <a:latin typeface="Arial"/>
              </a:rPr>
              <a:t>  --experiment_name masi_logik	</a:t>
            </a:r>
          </a:p>
        </p:txBody>
      </p:sp>
      <p:pic>
        <p:nvPicPr>
          <p:cNvPr id="249" name="Picture 248"/>
          <p:cNvPicPr/>
          <p:nvPr/>
        </p:nvPicPr>
        <p:blipFill>
          <a:blip r:embed="rId3"/>
          <a:stretch/>
        </p:blipFill>
        <p:spPr>
          <a:xfrm>
            <a:off x="228600" y="3657600"/>
            <a:ext cx="12191400" cy="2580480"/>
          </a:xfrm>
          <a:prstGeom prst="rect">
            <a:avLst/>
          </a:prstGeom>
          <a:ln w="0">
            <a:noFill/>
          </a:ln>
        </p:spPr>
      </p:pic>
      <p:sp>
        <p:nvSpPr>
          <p:cNvPr id="250" name="Rectangle 249"/>
          <p:cNvSpPr/>
          <p:nvPr/>
        </p:nvSpPr>
        <p:spPr>
          <a:xfrm>
            <a:off x="5943600" y="567720"/>
            <a:ext cx="5234040" cy="34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latin typeface="Arial"/>
              </a:rPr>
              <a:t>tensorboard --logdir . --port 6018 --load_fast=false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TextBox 4"/>
          <p:cNvSpPr/>
          <p:nvPr/>
        </p:nvSpPr>
        <p:spPr>
          <a:xfrm>
            <a:off x="1440" y="549720"/>
            <a:ext cx="1369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5000/500</a:t>
            </a:r>
            <a:endParaRPr lang="en-US" sz="1800" b="0" strike="noStrike" spc="-1">
              <a:latin typeface="Arial"/>
            </a:endParaRPr>
          </a:p>
        </p:txBody>
      </p:sp>
      <p:sp>
        <p:nvSpPr>
          <p:cNvPr id="252" name="Rectangle 251"/>
          <p:cNvSpPr/>
          <p:nvPr/>
        </p:nvSpPr>
        <p:spPr>
          <a:xfrm>
            <a:off x="1371600" y="55080"/>
            <a:ext cx="7192440" cy="85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latin typeface="Arial"/>
              </a:rPr>
              <a:t>python scripts/reinforcement_learning/rsl_rl/train.py --num_envs 500 \</a:t>
            </a:r>
          </a:p>
          <a:p>
            <a:pPr>
              <a:lnSpc>
                <a:spcPct val="100000"/>
              </a:lnSpc>
              <a:buNone/>
            </a:pPr>
            <a:r>
              <a:rPr lang="en-US" sz="1800" b="0" strike="noStrike" spc="-1">
                <a:latin typeface="Arial"/>
              </a:rPr>
              <a:t>  --task Isaac-Masi-LogIK-train-v0 \</a:t>
            </a:r>
          </a:p>
          <a:p>
            <a:pPr>
              <a:lnSpc>
                <a:spcPct val="100000"/>
              </a:lnSpc>
              <a:buNone/>
            </a:pPr>
            <a:r>
              <a:rPr lang="en-US" sz="1800" b="0" strike="noStrike" spc="-1">
                <a:latin typeface="Arial"/>
              </a:rPr>
              <a:t>  --experiment_name masi_logik	</a:t>
            </a:r>
          </a:p>
        </p:txBody>
      </p:sp>
      <p:pic>
        <p:nvPicPr>
          <p:cNvPr id="253" name="Picture 252"/>
          <p:cNvPicPr/>
          <p:nvPr/>
        </p:nvPicPr>
        <p:blipFill>
          <a:blip r:embed="rId2"/>
          <a:stretch/>
        </p:blipFill>
        <p:spPr>
          <a:xfrm>
            <a:off x="228600" y="914400"/>
            <a:ext cx="12191400" cy="5749560"/>
          </a:xfrm>
          <a:prstGeom prst="rect">
            <a:avLst/>
          </a:prstGeom>
          <a:ln w="0">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TextBox 5"/>
          <p:cNvSpPr/>
          <p:nvPr/>
        </p:nvSpPr>
        <p:spPr>
          <a:xfrm>
            <a:off x="1440" y="549720"/>
            <a:ext cx="1369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5000/500</a:t>
            </a:r>
            <a:endParaRPr lang="en-US" sz="1800" b="0" strike="noStrike" spc="-1">
              <a:latin typeface="Arial"/>
            </a:endParaRPr>
          </a:p>
        </p:txBody>
      </p:sp>
      <p:sp>
        <p:nvSpPr>
          <p:cNvPr id="255" name="Rectangle 254"/>
          <p:cNvSpPr/>
          <p:nvPr/>
        </p:nvSpPr>
        <p:spPr>
          <a:xfrm>
            <a:off x="1371600" y="55080"/>
            <a:ext cx="7192440" cy="85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latin typeface="Arial"/>
              </a:rPr>
              <a:t>python scripts/reinforcement_learning/rsl_rl/train.py --num_envs 500 \</a:t>
            </a:r>
          </a:p>
          <a:p>
            <a:pPr>
              <a:lnSpc>
                <a:spcPct val="100000"/>
              </a:lnSpc>
              <a:buNone/>
            </a:pPr>
            <a:r>
              <a:rPr lang="en-US" sz="1800" b="0" strike="noStrike" spc="-1">
                <a:latin typeface="Arial"/>
              </a:rPr>
              <a:t>  --task Isaac-Masi-LogIK-train-v0 \</a:t>
            </a:r>
          </a:p>
          <a:p>
            <a:pPr>
              <a:lnSpc>
                <a:spcPct val="100000"/>
              </a:lnSpc>
              <a:buNone/>
            </a:pPr>
            <a:r>
              <a:rPr lang="en-US" sz="1800" b="0" strike="noStrike" spc="-1">
                <a:latin typeface="Arial"/>
              </a:rPr>
              <a:t>  --experiment_name masi_logik	</a:t>
            </a:r>
          </a:p>
        </p:txBody>
      </p:sp>
      <p:pic>
        <p:nvPicPr>
          <p:cNvPr id="256" name="Picture 255"/>
          <p:cNvPicPr/>
          <p:nvPr/>
        </p:nvPicPr>
        <p:blipFill>
          <a:blip r:embed="rId2"/>
          <a:stretch/>
        </p:blipFill>
        <p:spPr>
          <a:xfrm>
            <a:off x="0" y="1371600"/>
            <a:ext cx="12191400" cy="2975760"/>
          </a:xfrm>
          <a:prstGeom prst="rect">
            <a:avLst/>
          </a:prstGeom>
          <a:ln w="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22980667-EB23-446D-1DED-F074A9465438}"/>
              </a:ext>
            </a:extLst>
          </p:cNvPr>
          <p:cNvSpPr>
            <a:spLocks noGrp="1"/>
          </p:cNvSpPr>
          <p:nvPr>
            <p:ph type="title"/>
          </p:nvPr>
        </p:nvSpPr>
        <p:spPr>
          <a:xfrm>
            <a:off x="702733" y="2575983"/>
            <a:ext cx="392853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16000" indent="-216000">
              <a:lnSpc>
                <a:spcPct val="100000"/>
              </a:lnSpc>
              <a:buClr>
                <a:srgbClr val="000000"/>
              </a:buClr>
              <a:buFont typeface="Symbol"/>
              <a:buChar char=""/>
            </a:pPr>
            <a:r>
              <a:rPr lang="en-US" sz="1800" b="0" strike="noStrike" spc="-1" dirty="0">
                <a:solidFill>
                  <a:srgbClr val="FF0000"/>
                </a:solidFill>
                <a:latin typeface="Arial"/>
                <a:ea typeface="DejaVu Sans"/>
              </a:rPr>
              <a:t>10000  4090       15  hours </a:t>
            </a:r>
            <a:endParaRPr lang="en-US" sz="1800" b="0" strike="noStrike" spc="-1" dirty="0">
              <a:solidFill>
                <a:srgbClr val="FF0000"/>
              </a:solidFill>
              <a:latin typeface="Arial"/>
            </a:endParaRPr>
          </a:p>
        </p:txBody>
      </p:sp>
    </p:spTree>
    <p:extLst>
      <p:ext uri="{BB962C8B-B14F-4D97-AF65-F5344CB8AC3E}">
        <p14:creationId xmlns:p14="http://schemas.microsoft.com/office/powerpoint/2010/main" val="2542486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TextBox 256"/>
          <p:cNvSpPr txBox="1"/>
          <p:nvPr/>
        </p:nvSpPr>
        <p:spPr>
          <a:xfrm>
            <a:off x="206280" y="184680"/>
            <a:ext cx="7794720" cy="3930120"/>
          </a:xfrm>
          <a:prstGeom prst="rect">
            <a:avLst/>
          </a:prstGeom>
          <a:noFill/>
          <a:ln w="0">
            <a:noFill/>
          </a:ln>
        </p:spPr>
        <p:txBody>
          <a:bodyPr lIns="90000" tIns="45000" rIns="90000" bIns="45000" anchor="t">
            <a:noAutofit/>
          </a:bodyPr>
          <a:lstStyle/>
          <a:p>
            <a:r>
              <a:rPr lang="en-US" sz="1800" b="0" strike="noStrike" spc="-1" dirty="0">
                <a:latin typeface="Arial"/>
              </a:rPr>
              <a:t>ting seed: 42</a:t>
            </a:r>
          </a:p>
          <a:p>
            <a:r>
              <a:rPr lang="en-US" sz="1800" b="0" strike="noStrike" spc="-1" dirty="0">
                <a:latin typeface="Arial"/>
              </a:rPr>
              <a:t>[INFO]: Base environment:</a:t>
            </a:r>
          </a:p>
          <a:p>
            <a:r>
              <a:rPr lang="en-US" sz="1800" b="0" strike="noStrike" spc="-1" dirty="0">
                <a:latin typeface="Arial"/>
              </a:rPr>
              <a:t>	Environment device    : cuda:0</a:t>
            </a:r>
          </a:p>
          <a:p>
            <a:r>
              <a:rPr lang="en-US" sz="1800" b="0" strike="noStrike" spc="-1" dirty="0">
                <a:latin typeface="Arial"/>
              </a:rPr>
              <a:t>	Environment seed      : 42</a:t>
            </a:r>
          </a:p>
          <a:p>
            <a:r>
              <a:rPr lang="en-US" sz="1800" b="0" strike="noStrike" spc="-1" dirty="0">
                <a:latin typeface="Arial"/>
              </a:rPr>
              <a:t>	Physics step-size     : 0.016666666666666666</a:t>
            </a:r>
          </a:p>
          <a:p>
            <a:r>
              <a:rPr lang="en-US" sz="1800" b="0" strike="noStrike" spc="-1" dirty="0">
                <a:latin typeface="Arial"/>
              </a:rPr>
              <a:t>	Rendering step-size   : 0.03333333333333333</a:t>
            </a:r>
          </a:p>
          <a:p>
            <a:r>
              <a:rPr lang="en-US" sz="1800" b="0" strike="noStrike" spc="-1" dirty="0">
                <a:latin typeface="Arial"/>
              </a:rPr>
              <a:t>	Environment step-size : 0.03333333333333333</a:t>
            </a:r>
          </a:p>
          <a:p>
            <a:r>
              <a:rPr lang="en-US" sz="1800" b="0" strike="noStrike" spc="-1" dirty="0">
                <a:latin typeface="Arial"/>
              </a:rPr>
              <a:t>[INFO]: Time taken for scene creation : 3.104542 seconds</a:t>
            </a:r>
          </a:p>
          <a:p>
            <a:r>
              <a:rPr lang="en-US" sz="1800" b="0" strike="noStrike" spc="-1" dirty="0">
                <a:latin typeface="Arial"/>
              </a:rPr>
              <a:t>[INFO]: Scene manager:  &lt;class </a:t>
            </a:r>
            <a:r>
              <a:rPr lang="en-US" sz="1800" b="0" strike="noStrike" spc="-1" dirty="0" err="1">
                <a:latin typeface="Arial"/>
              </a:rPr>
              <a:t>InteractiveScene</a:t>
            </a:r>
            <a:r>
              <a:rPr lang="en-US" sz="1800" b="0" strike="noStrike" spc="-1" dirty="0">
                <a:latin typeface="Arial"/>
              </a:rPr>
              <a:t>&gt;</a:t>
            </a:r>
          </a:p>
          <a:p>
            <a:r>
              <a:rPr lang="en-US" sz="1800" b="0" strike="noStrike" spc="-1" dirty="0">
                <a:latin typeface="Arial"/>
              </a:rPr>
              <a:t>	</a:t>
            </a:r>
            <a:r>
              <a:rPr lang="en-US" sz="1800" b="0" strike="noStrike" spc="-1" dirty="0">
                <a:highlight>
                  <a:srgbClr val="FFFF00"/>
                </a:highlight>
                <a:latin typeface="Arial"/>
              </a:rPr>
              <a:t>Number of environments: 4090</a:t>
            </a:r>
          </a:p>
          <a:p>
            <a:r>
              <a:rPr lang="en-US" sz="1800" b="0" strike="noStrike" spc="-1" dirty="0">
                <a:latin typeface="Arial"/>
              </a:rPr>
              <a:t>	Environment spacing   : 2.5</a:t>
            </a:r>
          </a:p>
          <a:p>
            <a:r>
              <a:rPr lang="en-US" sz="1800" b="0" strike="noStrike" spc="-1" dirty="0">
                <a:latin typeface="Arial"/>
              </a:rPr>
              <a:t>	Source prim name      : /World/</a:t>
            </a:r>
            <a:r>
              <a:rPr lang="en-US" sz="1800" b="0" strike="noStrike" spc="-1" dirty="0" err="1">
                <a:latin typeface="Arial"/>
              </a:rPr>
              <a:t>envs</a:t>
            </a:r>
            <a:r>
              <a:rPr lang="en-US" sz="1800" b="0" strike="noStrike" spc="-1" dirty="0">
                <a:latin typeface="Arial"/>
              </a:rPr>
              <a:t>/env_0</a:t>
            </a:r>
          </a:p>
          <a:p>
            <a:r>
              <a:rPr lang="en-US" sz="1800" b="0" strike="noStrike" spc="-1" dirty="0">
                <a:latin typeface="Arial"/>
              </a:rPr>
              <a:t>	Global prim paths     : []</a:t>
            </a:r>
          </a:p>
          <a:p>
            <a:r>
              <a:rPr lang="en-US" sz="1800" b="0" strike="noStrike" spc="-1" dirty="0">
                <a:latin typeface="Arial"/>
              </a:rPr>
              <a:t>	Replicate physics     : True</a:t>
            </a:r>
          </a:p>
          <a:p>
            <a:r>
              <a:rPr lang="en-US" sz="1800" b="0" strike="noStrike" spc="-1" dirty="0">
                <a:latin typeface="Arial"/>
              </a:rPr>
              <a:t>[INFO]: Starting the simulation. This may take a few seconds. Please wait...</a:t>
            </a:r>
          </a:p>
        </p:txBody>
      </p:sp>
      <p:sp>
        <p:nvSpPr>
          <p:cNvPr id="258" name="TextBox 257"/>
          <p:cNvSpPr txBox="1"/>
          <p:nvPr/>
        </p:nvSpPr>
        <p:spPr>
          <a:xfrm>
            <a:off x="817560" y="4800600"/>
            <a:ext cx="2382840" cy="346680"/>
          </a:xfrm>
          <a:prstGeom prst="rect">
            <a:avLst/>
          </a:prstGeom>
          <a:noFill/>
          <a:ln w="0">
            <a:noFill/>
          </a:ln>
        </p:spPr>
        <p:txBody>
          <a:bodyPr lIns="90000" tIns="45000" rIns="90000" bIns="45000" anchor="t">
            <a:noAutofit/>
          </a:bodyPr>
          <a:lstStyle/>
          <a:p>
            <a:r>
              <a:rPr lang="en-US" sz="1800" b="0" strike="noStrike" spc="-1">
                <a:latin typeface="Arial"/>
              </a:rPr>
              <a:t>2026-01-05_21-43-36</a:t>
            </a:r>
          </a:p>
        </p:txBody>
      </p:sp>
      <p:sp>
        <p:nvSpPr>
          <p:cNvPr id="259" name="TextBox 258"/>
          <p:cNvSpPr txBox="1"/>
          <p:nvPr/>
        </p:nvSpPr>
        <p:spPr>
          <a:xfrm>
            <a:off x="914400" y="5257800"/>
            <a:ext cx="4947840" cy="346680"/>
          </a:xfrm>
          <a:prstGeom prst="rect">
            <a:avLst/>
          </a:prstGeom>
          <a:noFill/>
          <a:ln w="0">
            <a:noFill/>
          </a:ln>
        </p:spPr>
        <p:txBody>
          <a:bodyPr lIns="90000" tIns="45000" rIns="90000" bIns="45000" anchor="t">
            <a:noAutofit/>
          </a:bodyPr>
          <a:lstStyle/>
          <a:p>
            <a:r>
              <a:rPr lang="en-US" sz="1800" b="0" strike="noStrike" spc="-1">
                <a:latin typeface="Arial"/>
              </a:rPr>
              <a:t>events.out.tfevents.1767642223.home.31458.0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extBox 259"/>
          <p:cNvSpPr txBox="1"/>
          <p:nvPr/>
        </p:nvSpPr>
        <p:spPr>
          <a:xfrm>
            <a:off x="182160" y="228600"/>
            <a:ext cx="8276040" cy="6489720"/>
          </a:xfrm>
          <a:prstGeom prst="rect">
            <a:avLst/>
          </a:prstGeom>
          <a:noFill/>
          <a:ln w="0">
            <a:noFill/>
          </a:ln>
        </p:spPr>
        <p:txBody>
          <a:bodyPr lIns="90000" tIns="45000" rIns="90000" bIns="45000" anchor="t">
            <a:noAutofit/>
          </a:bodyPr>
          <a:lstStyle/>
          <a:p>
            <a:r>
              <a:rPr lang="en-US" sz="1800" b="0" strike="noStrike" spc="-1">
                <a:latin typeface="Arial"/>
              </a:rPr>
              <a:t>################################################################</a:t>
            </a:r>
          </a:p>
          <a:p>
            <a:r>
              <a:rPr lang="en-US" sz="1800" b="0" strike="noStrike" spc="-1">
                <a:latin typeface="Arial"/>
              </a:rPr>
              <a:t>                     Learning iteration 8600/10000                      </a:t>
            </a:r>
          </a:p>
          <a:p>
            <a:endParaRPr lang="en-US" sz="1800" b="0" strike="noStrike" spc="-1">
              <a:latin typeface="Arial"/>
            </a:endParaRPr>
          </a:p>
          <a:p>
            <a:r>
              <a:rPr lang="en-US" sz="1800" b="0" strike="noStrike" spc="-1">
                <a:latin typeface="Arial"/>
              </a:rPr>
              <a:t>                       Computation: 11375 steps/s (collection: 8.577s, learning 0.052s)</a:t>
            </a:r>
          </a:p>
          <a:p>
            <a:r>
              <a:rPr lang="en-US" sz="1800" b="0" strike="noStrike" spc="-1">
                <a:latin typeface="Arial"/>
              </a:rPr>
              <a:t>             Mean action noise std: 13.84</a:t>
            </a:r>
          </a:p>
          <a:p>
            <a:r>
              <a:rPr lang="en-US" sz="1800" b="0" strike="noStrike" spc="-1">
                <a:latin typeface="Arial"/>
              </a:rPr>
              <a:t>          Mean value_function loss: 0.7078</a:t>
            </a:r>
          </a:p>
          <a:p>
            <a:r>
              <a:rPr lang="en-US" sz="1800" b="0" strike="noStrike" spc="-1">
                <a:latin typeface="Arial"/>
              </a:rPr>
              <a:t>               Mean surrogate loss: -0.0008</a:t>
            </a:r>
          </a:p>
          <a:p>
            <a:r>
              <a:rPr lang="en-US" sz="1800" b="0" strike="noStrike" spc="-1">
                <a:latin typeface="Arial"/>
              </a:rPr>
              <a:t>                 Mean entropy loss: 23.1809</a:t>
            </a:r>
          </a:p>
          <a:p>
            <a:r>
              <a:rPr lang="en-US" sz="1800" b="0" strike="noStrike" spc="-1">
                <a:latin typeface="Arial"/>
              </a:rPr>
              <a:t>                       Mean reward: 122.37</a:t>
            </a:r>
          </a:p>
          <a:p>
            <a:r>
              <a:rPr lang="en-US" sz="1800" b="0" strike="noStrike" spc="-1">
                <a:latin typeface="Arial"/>
              </a:rPr>
              <a:t>               Mean episode length: 349.77</a:t>
            </a:r>
          </a:p>
          <a:p>
            <a:r>
              <a:rPr lang="en-US" sz="1800" b="0" strike="noStrike" spc="-1">
                <a:latin typeface="Arial"/>
              </a:rPr>
              <a:t>          Episode_Reward/ee_to_log: 2.6600</a:t>
            </a:r>
          </a:p>
          <a:p>
            <a:r>
              <a:rPr lang="en-US" sz="1800" b="0" strike="noStrike" spc="-1">
                <a:latin typeface="Arial"/>
              </a:rPr>
              <a:t>      Episode_Reward/yaw_alignment: 0.4580</a:t>
            </a:r>
          </a:p>
          <a:p>
            <a:r>
              <a:rPr lang="en-US" sz="1800" b="0" strike="noStrike" spc="-1">
                <a:latin typeface="Arial"/>
              </a:rPr>
              <a:t>   Episode_Reward/vertical_upright: 0.9721</a:t>
            </a:r>
          </a:p>
          <a:p>
            <a:r>
              <a:rPr lang="en-US" sz="1800" b="0" strike="noStrike" spc="-1">
                <a:latin typeface="Arial"/>
              </a:rPr>
              <a:t>   Episode_Reward/grasp_open_close: 0.5788</a:t>
            </a:r>
          </a:p>
          <a:p>
            <a:r>
              <a:rPr lang="en-US" sz="1800" b="0" strike="noStrike" spc="-1">
                <a:latin typeface="Arial"/>
              </a:rPr>
              <a:t>           Episode_Reward/log_lift: 5.6734</a:t>
            </a:r>
          </a:p>
          <a:p>
            <a:r>
              <a:rPr lang="en-US" sz="1800" b="0" strike="noStrike" spc="-1">
                <a:latin typeface="Arial"/>
              </a:rPr>
              <a:t>        Episode_Reward/action_rate: 0.0000</a:t>
            </a:r>
          </a:p>
          <a:p>
            <a:r>
              <a:rPr lang="en-US" sz="1800" b="0" strike="noStrike" spc="-1">
                <a:latin typeface="Arial"/>
              </a:rPr>
              <a:t>      Episode_Termination/time_out: 0.9777</a:t>
            </a:r>
          </a:p>
          <a:p>
            <a:r>
              <a:rPr lang="en-US" sz="1800" b="0" strike="noStrike" spc="-1">
                <a:latin typeface="Arial"/>
              </a:rPr>
              <a:t>      Episode_Termination/root_oob: 0.0000</a:t>
            </a:r>
          </a:p>
          <a:p>
            <a:r>
              <a:rPr lang="en-US" sz="1800" b="0" strike="noStrike" spc="-1">
                <a:latin typeface="Arial"/>
              </a:rPr>
              <a:t>  Episode_Termination/ee_speed_oob: 0.0223</a:t>
            </a:r>
          </a:p>
          <a:p>
            <a:r>
              <a:rPr lang="en-US" sz="1800" b="0" strike="noStrike" spc="-1">
                <a:latin typeface="Arial"/>
              </a:rPr>
              <a:t>--------------------------------------------------------------------------------</a:t>
            </a:r>
          </a:p>
          <a:p>
            <a:r>
              <a:rPr lang="en-US" sz="1800" b="0" strike="noStrike" spc="-1">
                <a:latin typeface="Arial"/>
              </a:rPr>
              <a:t>                   Total timesteps: 844274160</a:t>
            </a:r>
          </a:p>
          <a:p>
            <a:r>
              <a:rPr lang="en-US" sz="1800" b="0" strike="noStrike" spc="-1">
                <a:latin typeface="Arial"/>
              </a:rPr>
              <a:t>                    Iteration time: 8.63s</a:t>
            </a:r>
          </a:p>
          <a:p>
            <a:r>
              <a:rPr lang="en-US" sz="1800" b="0" strike="noStrike" spc="-1">
                <a:latin typeface="Arial"/>
              </a:rPr>
              <a:t>                      Time elapsed: 15:10:37</a:t>
            </a:r>
          </a:p>
          <a:p>
            <a:r>
              <a:rPr lang="en-US" sz="1800" b="0" strike="noStrike" spc="-1">
                <a:latin typeface="Arial"/>
              </a:rPr>
              <a:t>                               ETA: 02:28:13</a:t>
            </a:r>
          </a:p>
          <a:p>
            <a:endParaRPr lang="en-US" sz="1800" b="0" strike="noStrike" spc="-1">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TextBox 8"/>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sp>
        <p:nvSpPr>
          <p:cNvPr id="262" name="TextBox 261"/>
          <p:cNvSpPr txBox="1"/>
          <p:nvPr/>
        </p:nvSpPr>
        <p:spPr>
          <a:xfrm>
            <a:off x="228600" y="685800"/>
            <a:ext cx="7192800" cy="1370520"/>
          </a:xfrm>
          <a:prstGeom prst="rect">
            <a:avLst/>
          </a:prstGeom>
          <a:noFill/>
          <a:ln w="0">
            <a:noFill/>
          </a:ln>
        </p:spPr>
        <p:txBody>
          <a:bodyPr lIns="90000" tIns="45000" rIns="90000" bIns="45000" anchor="t">
            <a:noAutofit/>
          </a:bodyPr>
          <a:lstStyle/>
          <a:p>
            <a:r>
              <a:rPr lang="en-US" sz="1800" b="0" strike="noStrike" spc="-1" dirty="0">
                <a:latin typeface="Arial"/>
              </a:rPr>
              <a:t>python scripts/reinforcement_learning/rsl_rl/train.py --</a:t>
            </a:r>
            <a:r>
              <a:rPr lang="en-US" sz="1800" b="0" strike="noStrike" spc="-1" dirty="0" err="1">
                <a:latin typeface="Arial"/>
              </a:rPr>
              <a:t>num_envs</a:t>
            </a:r>
            <a:r>
              <a:rPr lang="en-US" sz="1800" b="0" strike="noStrike" spc="-1" dirty="0">
                <a:latin typeface="Arial"/>
              </a:rPr>
              <a:t> 500 \</a:t>
            </a:r>
          </a:p>
          <a:p>
            <a:r>
              <a:rPr lang="en-US" sz="1800" b="0" strike="noStrike" spc="-1" dirty="0">
                <a:latin typeface="Arial"/>
              </a:rPr>
              <a:t>  --task Isaac-Masi-LogIK-train-v0 \</a:t>
            </a:r>
          </a:p>
          <a:p>
            <a:r>
              <a:rPr lang="en-US" sz="1800" b="0" strike="noStrike" spc="-1" dirty="0">
                <a:latin typeface="Arial"/>
              </a:rPr>
              <a:t>  --</a:t>
            </a:r>
            <a:r>
              <a:rPr lang="en-US" sz="1800" b="0" strike="noStrike" spc="-1" dirty="0" err="1">
                <a:latin typeface="Arial"/>
              </a:rPr>
              <a:t>experiment_name</a:t>
            </a:r>
            <a:r>
              <a:rPr lang="en-US" sz="1800" b="0" strike="noStrike" spc="-1" dirty="0">
                <a:latin typeface="Arial"/>
              </a:rPr>
              <a:t> </a:t>
            </a:r>
            <a:r>
              <a:rPr lang="en-US" sz="1800" b="0" strike="noStrike" spc="-1" dirty="0" err="1">
                <a:latin typeface="Arial"/>
              </a:rPr>
              <a:t>masi_logik</a:t>
            </a:r>
            <a:r>
              <a:rPr lang="en-US" sz="1800" b="0" strike="noStrike" spc="-1" dirty="0">
                <a:latin typeface="Arial"/>
              </a:rPr>
              <a:t> \</a:t>
            </a:r>
          </a:p>
          <a:p>
            <a:r>
              <a:rPr lang="en-US" sz="1800" b="0" strike="noStrike" spc="-1" dirty="0">
                <a:latin typeface="Arial"/>
              </a:rPr>
              <a:t>  --</a:t>
            </a:r>
            <a:r>
              <a:rPr lang="en-US" sz="1800" b="0" strike="noStrike" spc="-1" dirty="0" err="1">
                <a:latin typeface="Arial"/>
              </a:rPr>
              <a:t>load_run</a:t>
            </a:r>
            <a:r>
              <a:rPr lang="en-US" sz="1800" b="0" strike="noStrike" spc="-1" dirty="0">
                <a:latin typeface="Arial"/>
              </a:rPr>
              <a:t> 2026-01-05_21-43-36 \</a:t>
            </a:r>
          </a:p>
          <a:p>
            <a:r>
              <a:rPr lang="en-US" sz="1800" b="0" strike="noStrike" spc="-1" dirty="0">
                <a:latin typeface="Arial"/>
              </a:rPr>
              <a:t>  --resume</a:t>
            </a:r>
          </a:p>
        </p:txBody>
      </p:sp>
      <p:pic>
        <p:nvPicPr>
          <p:cNvPr id="263" name="Picture 262"/>
          <p:cNvPicPr/>
          <p:nvPr/>
        </p:nvPicPr>
        <p:blipFill>
          <a:blip r:embed="rId2"/>
          <a:stretch/>
        </p:blipFill>
        <p:spPr>
          <a:xfrm>
            <a:off x="193200" y="2513520"/>
            <a:ext cx="7192800" cy="3783587"/>
          </a:xfrm>
          <a:prstGeom prst="rect">
            <a:avLst/>
          </a:prstGeom>
          <a:ln w="0">
            <a:noFill/>
          </a:ln>
        </p:spPr>
      </p:pic>
      <p:pic>
        <p:nvPicPr>
          <p:cNvPr id="264" name="Picture 263"/>
          <p:cNvPicPr/>
          <p:nvPr/>
        </p:nvPicPr>
        <p:blipFill>
          <a:blip r:embed="rId3"/>
          <a:stretch/>
        </p:blipFill>
        <p:spPr>
          <a:xfrm>
            <a:off x="6400800" y="1143000"/>
            <a:ext cx="5598000" cy="3081240"/>
          </a:xfrm>
          <a:prstGeom prst="rect">
            <a:avLst/>
          </a:prstGeom>
          <a:ln w="0">
            <a:noFill/>
          </a:ln>
        </p:spPr>
      </p:pic>
      <p:pic>
        <p:nvPicPr>
          <p:cNvPr id="265" name="Picture 264"/>
          <p:cNvPicPr/>
          <p:nvPr/>
        </p:nvPicPr>
        <p:blipFill>
          <a:blip r:embed="rId4"/>
          <a:stretch/>
        </p:blipFill>
        <p:spPr>
          <a:xfrm>
            <a:off x="7086600" y="3781800"/>
            <a:ext cx="4807080" cy="2619000"/>
          </a:xfrm>
          <a:prstGeom prst="rect">
            <a:avLst/>
          </a:prstGeom>
          <a:ln w="0">
            <a:noFill/>
          </a:ln>
        </p:spPr>
      </p:pic>
      <p:pic>
        <p:nvPicPr>
          <p:cNvPr id="266" name="Picture 265"/>
          <p:cNvPicPr/>
          <p:nvPr/>
        </p:nvPicPr>
        <p:blipFill>
          <a:blip r:embed="rId5"/>
          <a:stretch/>
        </p:blipFill>
        <p:spPr>
          <a:xfrm>
            <a:off x="7086600" y="182340"/>
            <a:ext cx="4807080" cy="2745361"/>
          </a:xfrm>
          <a:prstGeom prst="rect">
            <a:avLst/>
          </a:prstGeom>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2839F-0A2B-A8A2-478D-616500515A9A}"/>
            </a:ext>
          </a:extLst>
        </p:cNvPr>
        <p:cNvGrpSpPr/>
        <p:nvPr/>
      </p:nvGrpSpPr>
      <p:grpSpPr>
        <a:xfrm>
          <a:off x="0" y="0"/>
          <a:ext cx="0" cy="0"/>
          <a:chOff x="0" y="0"/>
          <a:chExt cx="0" cy="0"/>
        </a:xfrm>
      </p:grpSpPr>
      <p:sp>
        <p:nvSpPr>
          <p:cNvPr id="261" name="TextBox 8">
            <a:extLst>
              <a:ext uri="{FF2B5EF4-FFF2-40B4-BE49-F238E27FC236}">
                <a16:creationId xmlns:a16="http://schemas.microsoft.com/office/drawing/2014/main" id="{20314B4D-9902-C8FE-023D-0EED59F6FCD3}"/>
              </a:ext>
            </a:extLst>
          </p:cNvPr>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sp>
        <p:nvSpPr>
          <p:cNvPr id="262" name="TextBox 261">
            <a:extLst>
              <a:ext uri="{FF2B5EF4-FFF2-40B4-BE49-F238E27FC236}">
                <a16:creationId xmlns:a16="http://schemas.microsoft.com/office/drawing/2014/main" id="{32AF0C06-0CF9-343D-992E-A7B760168955}"/>
              </a:ext>
            </a:extLst>
          </p:cNvPr>
          <p:cNvSpPr txBox="1"/>
          <p:nvPr/>
        </p:nvSpPr>
        <p:spPr>
          <a:xfrm>
            <a:off x="216267" y="364680"/>
            <a:ext cx="7192800" cy="1370520"/>
          </a:xfrm>
          <a:prstGeom prst="rect">
            <a:avLst/>
          </a:prstGeom>
          <a:noFill/>
          <a:ln w="0">
            <a:noFill/>
          </a:ln>
        </p:spPr>
        <p:txBody>
          <a:bodyPr lIns="90000" tIns="45000" rIns="90000" bIns="45000" anchor="t">
            <a:noAutofit/>
          </a:bodyPr>
          <a:lstStyle/>
          <a:p>
            <a:r>
              <a:rPr lang="en-US" sz="1800" b="0" strike="noStrike" spc="-1" dirty="0">
                <a:latin typeface="Arial"/>
              </a:rPr>
              <a:t>python scripts/reinforcement_learning/rsl_rl/train.py --</a:t>
            </a:r>
            <a:r>
              <a:rPr lang="en-US" sz="1800" b="0" strike="noStrike" spc="-1" dirty="0" err="1">
                <a:latin typeface="Arial"/>
              </a:rPr>
              <a:t>num_envs</a:t>
            </a:r>
            <a:r>
              <a:rPr lang="en-US" sz="1800" b="0" strike="noStrike" spc="-1" dirty="0">
                <a:latin typeface="Arial"/>
              </a:rPr>
              <a:t> 500 \</a:t>
            </a:r>
          </a:p>
          <a:p>
            <a:r>
              <a:rPr lang="en-US" sz="1800" b="0" strike="noStrike" spc="-1" dirty="0">
                <a:latin typeface="Arial"/>
              </a:rPr>
              <a:t>  --task Isaac-Masi-LogIK-train-v0 \</a:t>
            </a:r>
          </a:p>
          <a:p>
            <a:r>
              <a:rPr lang="en-US" sz="1800" b="0" strike="noStrike" spc="-1" dirty="0">
                <a:latin typeface="Arial"/>
              </a:rPr>
              <a:t>  --</a:t>
            </a:r>
            <a:r>
              <a:rPr lang="en-US" sz="1800" b="0" strike="noStrike" spc="-1" dirty="0" err="1">
                <a:latin typeface="Arial"/>
              </a:rPr>
              <a:t>experiment_name</a:t>
            </a:r>
            <a:r>
              <a:rPr lang="en-US" sz="1800" b="0" strike="noStrike" spc="-1" dirty="0">
                <a:latin typeface="Arial"/>
              </a:rPr>
              <a:t> </a:t>
            </a:r>
            <a:r>
              <a:rPr lang="en-US" sz="1800" b="0" strike="noStrike" spc="-1" dirty="0" err="1">
                <a:latin typeface="Arial"/>
              </a:rPr>
              <a:t>masi_logik</a:t>
            </a:r>
            <a:r>
              <a:rPr lang="en-US" sz="1800" b="0" strike="noStrike" spc="-1" dirty="0">
                <a:latin typeface="Arial"/>
              </a:rPr>
              <a:t> \</a:t>
            </a:r>
          </a:p>
          <a:p>
            <a:r>
              <a:rPr lang="en-US" sz="1800" b="0" strike="noStrike" spc="-1" dirty="0">
                <a:latin typeface="Arial"/>
              </a:rPr>
              <a:t>  --</a:t>
            </a:r>
            <a:r>
              <a:rPr lang="en-US" sz="1800" b="0" strike="noStrike" spc="-1" dirty="0" err="1">
                <a:latin typeface="Arial"/>
              </a:rPr>
              <a:t>load_run</a:t>
            </a:r>
            <a:r>
              <a:rPr lang="en-US" sz="1800" b="0" strike="noStrike" spc="-1" dirty="0">
                <a:latin typeface="Arial"/>
              </a:rPr>
              <a:t> 2026-01-05_21-43-36 \</a:t>
            </a:r>
          </a:p>
          <a:p>
            <a:r>
              <a:rPr lang="en-US" sz="1800" b="0" strike="noStrike" spc="-1" dirty="0">
                <a:latin typeface="Arial"/>
              </a:rPr>
              <a:t>  --resume</a:t>
            </a:r>
          </a:p>
        </p:txBody>
      </p:sp>
      <p:pic>
        <p:nvPicPr>
          <p:cNvPr id="264" name="Picture 263">
            <a:extLst>
              <a:ext uri="{FF2B5EF4-FFF2-40B4-BE49-F238E27FC236}">
                <a16:creationId xmlns:a16="http://schemas.microsoft.com/office/drawing/2014/main" id="{9AB754E0-36AC-4BE7-A536-5D499615E943}"/>
              </a:ext>
            </a:extLst>
          </p:cNvPr>
          <p:cNvPicPr/>
          <p:nvPr/>
        </p:nvPicPr>
        <p:blipFill>
          <a:blip r:embed="rId3"/>
          <a:stretch/>
        </p:blipFill>
        <p:spPr>
          <a:xfrm>
            <a:off x="401400" y="2173780"/>
            <a:ext cx="5598000" cy="3081240"/>
          </a:xfrm>
          <a:prstGeom prst="rect">
            <a:avLst/>
          </a:prstGeom>
          <a:ln w="0">
            <a:noFill/>
          </a:ln>
        </p:spPr>
      </p:pic>
      <p:pic>
        <p:nvPicPr>
          <p:cNvPr id="265" name="Picture 264">
            <a:extLst>
              <a:ext uri="{FF2B5EF4-FFF2-40B4-BE49-F238E27FC236}">
                <a16:creationId xmlns:a16="http://schemas.microsoft.com/office/drawing/2014/main" id="{2D1F58F7-F6C2-EF47-F557-15E2EBB40726}"/>
              </a:ext>
            </a:extLst>
          </p:cNvPr>
          <p:cNvPicPr/>
          <p:nvPr/>
        </p:nvPicPr>
        <p:blipFill>
          <a:blip r:embed="rId4"/>
          <a:stretch/>
        </p:blipFill>
        <p:spPr>
          <a:xfrm>
            <a:off x="7409067" y="259666"/>
            <a:ext cx="4807080" cy="2619000"/>
          </a:xfrm>
          <a:prstGeom prst="rect">
            <a:avLst/>
          </a:prstGeom>
          <a:ln w="0">
            <a:noFill/>
          </a:ln>
        </p:spPr>
      </p:pic>
      <p:pic>
        <p:nvPicPr>
          <p:cNvPr id="266" name="Picture 265">
            <a:extLst>
              <a:ext uri="{FF2B5EF4-FFF2-40B4-BE49-F238E27FC236}">
                <a16:creationId xmlns:a16="http://schemas.microsoft.com/office/drawing/2014/main" id="{18A322E2-3341-5BE5-E36E-7E541850AD0C}"/>
              </a:ext>
            </a:extLst>
          </p:cNvPr>
          <p:cNvPicPr/>
          <p:nvPr/>
        </p:nvPicPr>
        <p:blipFill>
          <a:blip r:embed="rId5"/>
          <a:stretch/>
        </p:blipFill>
        <p:spPr>
          <a:xfrm>
            <a:off x="7340040" y="3178726"/>
            <a:ext cx="4553640" cy="2481120"/>
          </a:xfrm>
          <a:prstGeom prst="rect">
            <a:avLst/>
          </a:prstGeom>
          <a:ln w="0">
            <a:noFill/>
          </a:ln>
        </p:spPr>
      </p:pic>
      <p:sp>
        <p:nvSpPr>
          <p:cNvPr id="3" name="TextBox 2">
            <a:extLst>
              <a:ext uri="{FF2B5EF4-FFF2-40B4-BE49-F238E27FC236}">
                <a16:creationId xmlns:a16="http://schemas.microsoft.com/office/drawing/2014/main" id="{1D81D2F6-542E-9943-8AFD-04149666B84E}"/>
              </a:ext>
            </a:extLst>
          </p:cNvPr>
          <p:cNvSpPr txBox="1"/>
          <p:nvPr/>
        </p:nvSpPr>
        <p:spPr>
          <a:xfrm>
            <a:off x="343320" y="5321067"/>
            <a:ext cx="6134100" cy="923330"/>
          </a:xfrm>
          <a:prstGeom prst="rect">
            <a:avLst/>
          </a:prstGeom>
          <a:noFill/>
        </p:spPr>
        <p:txBody>
          <a:bodyPr wrap="square">
            <a:spAutoFit/>
          </a:bodyPr>
          <a:lstStyle/>
          <a:p>
            <a:r>
              <a:rPr lang="zh-CN" altLang="en-US" dirty="0"/>
              <a:t>https://github.com/yitingHH-bit/eXactMPC_v1/blob/main/fixed_version/2026-01-05_21-43-36/model_9999.pt</a:t>
            </a:r>
          </a:p>
        </p:txBody>
      </p:sp>
    </p:spTree>
    <p:extLst>
      <p:ext uri="{BB962C8B-B14F-4D97-AF65-F5344CB8AC3E}">
        <p14:creationId xmlns:p14="http://schemas.microsoft.com/office/powerpoint/2010/main" val="30847720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Box 7"/>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pic>
        <p:nvPicPr>
          <p:cNvPr id="268" name="Picture 267"/>
          <p:cNvPicPr/>
          <p:nvPr/>
        </p:nvPicPr>
        <p:blipFill>
          <a:blip r:embed="rId2"/>
          <a:stretch/>
        </p:blipFill>
        <p:spPr>
          <a:xfrm>
            <a:off x="0" y="602280"/>
            <a:ext cx="12191760" cy="2598120"/>
          </a:xfrm>
          <a:prstGeom prst="rect">
            <a:avLst/>
          </a:prstGeom>
          <a:ln w="0">
            <a:noFill/>
          </a:ln>
        </p:spPr>
      </p:pic>
      <p:pic>
        <p:nvPicPr>
          <p:cNvPr id="269" name="Picture 268"/>
          <p:cNvPicPr/>
          <p:nvPr/>
        </p:nvPicPr>
        <p:blipFill>
          <a:blip r:embed="rId3"/>
          <a:stretch/>
        </p:blipFill>
        <p:spPr>
          <a:xfrm>
            <a:off x="228600" y="3429000"/>
            <a:ext cx="11887200" cy="2533320"/>
          </a:xfrm>
          <a:prstGeom prst="rect">
            <a:avLst/>
          </a:prstGeom>
          <a:ln w="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extBox 14"/>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pic>
        <p:nvPicPr>
          <p:cNvPr id="271" name="Picture 270"/>
          <p:cNvPicPr/>
          <p:nvPr/>
        </p:nvPicPr>
        <p:blipFill>
          <a:blip r:embed="rId2"/>
          <a:stretch/>
        </p:blipFill>
        <p:spPr>
          <a:xfrm>
            <a:off x="360" y="602280"/>
            <a:ext cx="12191760" cy="2598120"/>
          </a:xfrm>
          <a:prstGeom prst="rect">
            <a:avLst/>
          </a:prstGeom>
          <a:ln w="0">
            <a:noFill/>
          </a:ln>
        </p:spPr>
      </p:pic>
      <p:pic>
        <p:nvPicPr>
          <p:cNvPr id="272" name="Picture 271"/>
          <p:cNvPicPr/>
          <p:nvPr/>
        </p:nvPicPr>
        <p:blipFill>
          <a:blip r:embed="rId3"/>
          <a:stretch/>
        </p:blipFill>
        <p:spPr>
          <a:xfrm>
            <a:off x="152280" y="3394080"/>
            <a:ext cx="11963520" cy="2549520"/>
          </a:xfrm>
          <a:prstGeom prst="rect">
            <a:avLst/>
          </a:prstGeom>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Box 10"/>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pic>
        <p:nvPicPr>
          <p:cNvPr id="274" name="Picture 273"/>
          <p:cNvPicPr/>
          <p:nvPr/>
        </p:nvPicPr>
        <p:blipFill>
          <a:blip r:embed="rId2"/>
          <a:stretch/>
        </p:blipFill>
        <p:spPr>
          <a:xfrm>
            <a:off x="30600" y="457200"/>
            <a:ext cx="12191760" cy="2598120"/>
          </a:xfrm>
          <a:prstGeom prst="rect">
            <a:avLst/>
          </a:prstGeom>
          <a:ln w="0">
            <a:noFill/>
          </a:ln>
        </p:spPr>
      </p:pic>
      <p:pic>
        <p:nvPicPr>
          <p:cNvPr id="275" name="Picture 274"/>
          <p:cNvPicPr/>
          <p:nvPr/>
        </p:nvPicPr>
        <p:blipFill>
          <a:blip r:embed="rId3"/>
          <a:stretch/>
        </p:blipFill>
        <p:spPr>
          <a:xfrm>
            <a:off x="0" y="3429000"/>
            <a:ext cx="12191760" cy="2598120"/>
          </a:xfrm>
          <a:prstGeom prst="rect">
            <a:avLst/>
          </a:prstGeom>
          <a:ln w="0">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extBox 12"/>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extBox 15"/>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TextBox 15"/>
          <p:cNvSpPr/>
          <p:nvPr/>
        </p:nvSpPr>
        <p:spPr>
          <a:xfrm>
            <a:off x="0" y="0"/>
            <a:ext cx="32000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5000  4090</a:t>
            </a:r>
            <a:endParaRPr lang="en-US" sz="1800" b="0" strike="noStrike" spc="-1">
              <a:latin typeface="Arial"/>
            </a:endParaRPr>
          </a:p>
        </p:txBody>
      </p:sp>
      <p:sp>
        <p:nvSpPr>
          <p:cNvPr id="280" name="TextBox 279"/>
          <p:cNvSpPr txBox="1"/>
          <p:nvPr/>
        </p:nvSpPr>
        <p:spPr>
          <a:xfrm>
            <a:off x="228600" y="1143000"/>
            <a:ext cx="5766480" cy="941400"/>
          </a:xfrm>
          <a:prstGeom prst="rect">
            <a:avLst/>
          </a:prstGeom>
          <a:noFill/>
          <a:ln w="0">
            <a:noFill/>
          </a:ln>
        </p:spPr>
        <p:txBody>
          <a:bodyPr lIns="90000" tIns="45000" rIns="90000" bIns="45000" anchor="t">
            <a:noAutofit/>
          </a:bodyPr>
          <a:lstStyle/>
          <a:p>
            <a:r>
              <a:rPr lang="en-US" sz="1000" b="0" strike="noStrike" spc="-1">
                <a:latin typeface="Arial"/>
              </a:rPr>
              <a:t>"offset_b": (0.55, 0.0, 0.05),129 "circle_radius": 0.55,130 "circle_angle_range": (-1.57079632679, 1.57079632679),130 "circle_angle_range": (-1.0471975512, 1.0471975512),131 "circle_z": 0.05,132 "yaw_range": 0.02,133 },11 unmodified lines145 "log_asset_cfg": SceneEntityCfg("log"),146 "offset_b": (0.55, 0.0, 0.05),147 "circle_radius": 0.55,148 "circle_angle_range": (-1.57079632679, 1.57079632679),148 "circle_angle_range": (-1.0471975512, 1.0471975512),149 "circle_z": 0.05,150 "max_dist": 0.95,151 },</a:t>
            </a:r>
          </a:p>
        </p:txBody>
      </p:sp>
      <p:sp>
        <p:nvSpPr>
          <p:cNvPr id="281" name="TextBox 280"/>
          <p:cNvSpPr txBox="1"/>
          <p:nvPr/>
        </p:nvSpPr>
        <p:spPr>
          <a:xfrm>
            <a:off x="243000" y="568080"/>
            <a:ext cx="7300800" cy="346680"/>
          </a:xfrm>
          <a:prstGeom prst="rect">
            <a:avLst/>
          </a:prstGeom>
          <a:noFill/>
          <a:ln w="0">
            <a:noFill/>
          </a:ln>
        </p:spPr>
        <p:txBody>
          <a:bodyPr lIns="90000" tIns="45000" rIns="90000" bIns="45000" anchor="t">
            <a:noAutofit/>
          </a:bodyPr>
          <a:lstStyle/>
          <a:p>
            <a:r>
              <a:rPr lang="en-US" sz="1800" b="0" strike="noStrike" spc="-1">
                <a:latin typeface="Arial"/>
              </a:rPr>
              <a:t>Masi_29_0~1   random   </a:t>
            </a:r>
          </a:p>
        </p:txBody>
      </p:sp>
      <p:pic>
        <p:nvPicPr>
          <p:cNvPr id="282" name="Picture 281"/>
          <p:cNvPicPr/>
          <p:nvPr/>
        </p:nvPicPr>
        <p:blipFill>
          <a:blip r:embed="rId2"/>
          <a:stretch/>
        </p:blipFill>
        <p:spPr>
          <a:xfrm>
            <a:off x="457200" y="2091240"/>
            <a:ext cx="8915400" cy="2252160"/>
          </a:xfrm>
          <a:prstGeom prst="rect">
            <a:avLst/>
          </a:prstGeom>
          <a:ln w="0">
            <a:noFill/>
          </a:ln>
        </p:spPr>
      </p:pic>
      <p:pic>
        <p:nvPicPr>
          <p:cNvPr id="283" name="Picture 282"/>
          <p:cNvPicPr/>
          <p:nvPr/>
        </p:nvPicPr>
        <p:blipFill>
          <a:blip r:embed="rId3"/>
          <a:stretch/>
        </p:blipFill>
        <p:spPr>
          <a:xfrm>
            <a:off x="457200" y="4378680"/>
            <a:ext cx="8910000" cy="2250720"/>
          </a:xfrm>
          <a:prstGeom prst="rect">
            <a:avLst/>
          </a:prstGeom>
          <a:ln w="0">
            <a:noFill/>
          </a:ln>
        </p:spPr>
      </p:pic>
      <p:sp>
        <p:nvSpPr>
          <p:cNvPr id="284" name="TextBox 283"/>
          <p:cNvSpPr txBox="1"/>
          <p:nvPr/>
        </p:nvSpPr>
        <p:spPr>
          <a:xfrm>
            <a:off x="6172200" y="796320"/>
            <a:ext cx="3394800" cy="346680"/>
          </a:xfrm>
          <a:prstGeom prst="rect">
            <a:avLst/>
          </a:prstGeom>
          <a:noFill/>
          <a:ln w="0">
            <a:noFill/>
          </a:ln>
        </p:spPr>
        <p:txBody>
          <a:bodyPr lIns="90000" tIns="45000" rIns="90000" bIns="45000" anchor="t">
            <a:noAutofit/>
          </a:bodyPr>
          <a:lstStyle/>
          <a:p>
            <a:r>
              <a:rPr lang="en-US" sz="1800" b="0" strike="noStrike" spc="-1">
                <a:latin typeface="Arial"/>
              </a:rPr>
              <a:t>https://youtu.be/jAsTWnVO9FM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TextBox 13"/>
          <p:cNvSpPr/>
          <p:nvPr/>
        </p:nvSpPr>
        <p:spPr>
          <a:xfrm>
            <a:off x="0" y="0"/>
            <a:ext cx="32000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5000  4090</a:t>
            </a:r>
            <a:endParaRPr lang="en-US" sz="1800" b="0" strike="noStrike" spc="-1">
              <a:latin typeface="Arial"/>
            </a:endParaRPr>
          </a:p>
        </p:txBody>
      </p:sp>
      <p:pic>
        <p:nvPicPr>
          <p:cNvPr id="286" name="Picture 285"/>
          <p:cNvPicPr/>
          <p:nvPr/>
        </p:nvPicPr>
        <p:blipFill>
          <a:blip r:embed="rId2"/>
          <a:stretch/>
        </p:blipFill>
        <p:spPr>
          <a:xfrm>
            <a:off x="147240" y="484560"/>
            <a:ext cx="11511360" cy="5608800"/>
          </a:xfrm>
          <a:prstGeom prst="rect">
            <a:avLst/>
          </a:prstGeom>
          <a:ln w="0">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 name="Picture 286"/>
          <p:cNvPicPr/>
          <p:nvPr/>
        </p:nvPicPr>
        <p:blipFill>
          <a:blip r:embed="rId2"/>
          <a:stretch/>
        </p:blipFill>
        <p:spPr>
          <a:xfrm>
            <a:off x="147240" y="26280"/>
            <a:ext cx="12191760" cy="6857280"/>
          </a:xfrm>
          <a:prstGeom prst="rect">
            <a:avLst/>
          </a:prstGeom>
          <a:ln w="0">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p:cNvPicPr/>
          <p:nvPr/>
        </p:nvPicPr>
        <p:blipFill>
          <a:blip r:embed="rId2"/>
          <a:stretch/>
        </p:blipFill>
        <p:spPr>
          <a:xfrm>
            <a:off x="147240" y="26280"/>
            <a:ext cx="12191760" cy="6857280"/>
          </a:xfrm>
          <a:prstGeom prst="rect">
            <a:avLst/>
          </a:prstGeom>
          <a:ln w="0">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extBox 2"/>
          <p:cNvSpPr/>
          <p:nvPr/>
        </p:nvSpPr>
        <p:spPr>
          <a:xfrm>
            <a:off x="228600" y="185040"/>
            <a:ext cx="1600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5000  4090 </a:t>
            </a:r>
            <a:endParaRPr lang="en-US" sz="1800" b="0" strike="noStrike" spc="-1">
              <a:latin typeface="Arial"/>
            </a:endParaRPr>
          </a:p>
        </p:txBody>
      </p:sp>
      <p:pic>
        <p:nvPicPr>
          <p:cNvPr id="290" name="Picture 289"/>
          <p:cNvPicPr/>
          <p:nvPr/>
        </p:nvPicPr>
        <p:blipFill>
          <a:blip r:embed="rId2"/>
          <a:stretch/>
        </p:blipFill>
        <p:spPr>
          <a:xfrm>
            <a:off x="152640" y="685800"/>
            <a:ext cx="11734560" cy="2694600"/>
          </a:xfrm>
          <a:prstGeom prst="rect">
            <a:avLst/>
          </a:prstGeom>
          <a:ln w="0">
            <a:noFill/>
          </a:ln>
        </p:spPr>
      </p:pic>
      <p:pic>
        <p:nvPicPr>
          <p:cNvPr id="291" name="Picture 290"/>
          <p:cNvPicPr/>
          <p:nvPr/>
        </p:nvPicPr>
        <p:blipFill>
          <a:blip r:embed="rId3"/>
          <a:stretch/>
        </p:blipFill>
        <p:spPr>
          <a:xfrm>
            <a:off x="152640" y="3657600"/>
            <a:ext cx="11734560" cy="2694600"/>
          </a:xfrm>
          <a:prstGeom prst="rect">
            <a:avLst/>
          </a:prstGeom>
          <a:ln w="0">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extBox 16"/>
          <p:cNvSpPr/>
          <p:nvPr/>
        </p:nvSpPr>
        <p:spPr>
          <a:xfrm>
            <a:off x="457200" y="549720"/>
            <a:ext cx="136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plan2</a:t>
            </a:r>
            <a:endParaRPr lang="en-US" sz="18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TextBox 13"/>
          <p:cNvSpPr/>
          <p:nvPr/>
        </p:nvSpPr>
        <p:spPr>
          <a:xfrm>
            <a:off x="0" y="0"/>
            <a:ext cx="3200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10000  4090</a:t>
            </a:r>
            <a:endParaRPr lang="en-US" sz="180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TextBox 2"/>
          <p:cNvSpPr/>
          <p:nvPr/>
        </p:nvSpPr>
        <p:spPr>
          <a:xfrm>
            <a:off x="457200" y="549720"/>
            <a:ext cx="1369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plan2</a:t>
            </a:r>
            <a:endParaRPr lang="en-US" sz="18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 name="Picture 279"/>
          <p:cNvPicPr/>
          <p:nvPr/>
        </p:nvPicPr>
        <p:blipFill>
          <a:blip r:embed="rId2"/>
          <a:stretch/>
        </p:blipFill>
        <p:spPr>
          <a:xfrm>
            <a:off x="122040" y="209520"/>
            <a:ext cx="7419600" cy="3217320"/>
          </a:xfrm>
          <a:prstGeom prst="rect">
            <a:avLst/>
          </a:prstGeom>
          <a:ln w="0">
            <a:noFill/>
          </a:ln>
        </p:spPr>
      </p:pic>
      <p:pic>
        <p:nvPicPr>
          <p:cNvPr id="281" name="Picture 280"/>
          <p:cNvPicPr/>
          <p:nvPr/>
        </p:nvPicPr>
        <p:blipFill>
          <a:blip r:embed="rId3"/>
          <a:stretch/>
        </p:blipFill>
        <p:spPr>
          <a:xfrm>
            <a:off x="5470560" y="3518280"/>
            <a:ext cx="6643080" cy="2880360"/>
          </a:xfrm>
          <a:prstGeom prst="rect">
            <a:avLst/>
          </a:prstGeom>
          <a:ln w="0">
            <a:noFill/>
          </a:ln>
        </p:spPr>
      </p:pic>
      <p:pic>
        <p:nvPicPr>
          <p:cNvPr id="282" name="Picture 281"/>
          <p:cNvPicPr/>
          <p:nvPr/>
        </p:nvPicPr>
        <p:blipFill>
          <a:blip r:embed="rId4"/>
          <a:stretch/>
        </p:blipFill>
        <p:spPr>
          <a:xfrm>
            <a:off x="5486760" y="3572280"/>
            <a:ext cx="5198040" cy="2597760"/>
          </a:xfrm>
          <a:prstGeom prst="rect">
            <a:avLst/>
          </a:prstGeom>
          <a:ln w="0">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Picture 282"/>
          <p:cNvPicPr/>
          <p:nvPr/>
        </p:nvPicPr>
        <p:blipFill>
          <a:blip r:embed="rId2"/>
          <a:stretch/>
        </p:blipFill>
        <p:spPr>
          <a:xfrm>
            <a:off x="228600" y="638280"/>
            <a:ext cx="5256000" cy="2851920"/>
          </a:xfrm>
          <a:prstGeom prst="rect">
            <a:avLst/>
          </a:prstGeom>
          <a:ln w="0">
            <a:noFill/>
          </a:ln>
        </p:spPr>
      </p:pic>
      <p:sp>
        <p:nvSpPr>
          <p:cNvPr id="284" name="TextBox 3"/>
          <p:cNvSpPr/>
          <p:nvPr/>
        </p:nvSpPr>
        <p:spPr>
          <a:xfrm>
            <a:off x="0" y="0"/>
            <a:ext cx="50274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a:ea typeface="DejaVu Sans"/>
              </a:rPr>
              <a:t>Add dynamic target function that make the Grabber  around the base   code:2  </a:t>
            </a:r>
            <a:endParaRPr lang="en-US" sz="1800" b="0" strike="noStrike" spc="-1">
              <a:latin typeface="Arial"/>
            </a:endParaRPr>
          </a:p>
        </p:txBody>
      </p:sp>
      <p:sp>
        <p:nvSpPr>
          <p:cNvPr id="285" name="Rectangle 284"/>
          <p:cNvSpPr/>
          <p:nvPr/>
        </p:nvSpPr>
        <p:spPr>
          <a:xfrm>
            <a:off x="6220080" y="685800"/>
            <a:ext cx="10237320" cy="213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=&gt; saving checkpoint 'logs/rl_games/masi_direct/2026-01-01_18-37-58/nn/masi_direct.pth'</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fps step: 5413 fps step and policy inference: 5350 fps total: 5249 epoch: 125/250 frames: 19046400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fps step: 5608 fps step and policy inference: 5542 fps total: 5433 epoch: 126/250 frames: 19200000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saving next best rewards:  [20355.043]</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=&gt; saving checkpoint 'logs/rl_games/masi_direct/2026-01-01_18-37-58/nn/masi_direct.pth'</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fps step: 5512 fps step and policy inference: 5448 fps total: 5343 epoch: 127/250 frames: 19353600</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p:txBody>
      </p:sp>
      <p:sp>
        <p:nvSpPr>
          <p:cNvPr id="286" name="Rectangle 285"/>
          <p:cNvSpPr/>
          <p:nvPr/>
        </p:nvSpPr>
        <p:spPr>
          <a:xfrm>
            <a:off x="457200" y="5943600"/>
            <a:ext cx="7412040" cy="690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000" b="0" strike="noStrike" spc="-1">
                <a:solidFill>
                  <a:srgbClr val="000000"/>
                </a:solidFill>
                <a:latin typeface="Arial"/>
                <a:ea typeface="DejaVu Sans"/>
              </a:rPr>
              <a:t>log_spawn_radius_min = 0.50 # </a:t>
            </a:r>
            <a:r>
              <a:rPr lang="zh-CN" sz="1000" b="0" strike="noStrike" spc="-1">
                <a:solidFill>
                  <a:srgbClr val="000000"/>
                </a:solidFill>
                <a:latin typeface="Arial"/>
                <a:ea typeface="DejaVu Sans"/>
              </a:rPr>
              <a:t>距离底座中心的最小半径 </a:t>
            </a:r>
            <a:r>
              <a:rPr lang="en-US" sz="1000" b="0" strike="noStrike" spc="-1">
                <a:solidFill>
                  <a:srgbClr val="000000"/>
                </a:solidFill>
                <a:latin typeface="Arial"/>
                <a:ea typeface="DejaVu Sans"/>
              </a:rPr>
              <a:t>(</a:t>
            </a:r>
            <a:r>
              <a:rPr lang="zh-CN" sz="1000" b="0" strike="noStrike" spc="-1">
                <a:solidFill>
                  <a:srgbClr val="000000"/>
                </a:solidFill>
                <a:latin typeface="Arial"/>
                <a:ea typeface="DejaVu Sans"/>
              </a:rPr>
              <a:t>米</a:t>
            </a:r>
            <a:r>
              <a:rPr lang="en-US" sz="1000" b="0" strike="noStrike" spc="-1">
                <a:solidFill>
                  <a:srgbClr val="000000"/>
                </a:solidFill>
                <a:latin typeface="Arial"/>
                <a:ea typeface="DejaVu Sans"/>
              </a:rPr>
              <a:t>) log_spawn_radius_max = 0.65 # </a:t>
            </a:r>
            <a:r>
              <a:rPr lang="zh-CN" sz="1000" b="0" strike="noStrike" spc="-1">
                <a:solidFill>
                  <a:srgbClr val="000000"/>
                </a:solidFill>
                <a:latin typeface="Arial"/>
                <a:ea typeface="DejaVu Sans"/>
              </a:rPr>
              <a:t>距离底座中心的最大半径 </a:t>
            </a:r>
            <a:r>
              <a:rPr lang="en-US" sz="1000" b="0" strike="noStrike" spc="-1">
                <a:solidFill>
                  <a:srgbClr val="000000"/>
                </a:solidFill>
                <a:latin typeface="Arial"/>
                <a:ea typeface="DejaVu Sans"/>
              </a:rPr>
              <a:t>(</a:t>
            </a:r>
            <a:r>
              <a:rPr lang="zh-CN" sz="1000" b="0" strike="noStrike" spc="-1">
                <a:solidFill>
                  <a:srgbClr val="000000"/>
                </a:solidFill>
                <a:latin typeface="Arial"/>
                <a:ea typeface="DejaVu Sans"/>
              </a:rPr>
              <a:t>米</a:t>
            </a:r>
            <a:r>
              <a:rPr lang="en-US" sz="1000" b="0" strike="noStrike" spc="-1">
                <a:solidFill>
                  <a:srgbClr val="000000"/>
                </a:solidFill>
                <a:latin typeface="Arial"/>
                <a:ea typeface="DejaVu Sans"/>
              </a:rPr>
              <a:t>)</a:t>
            </a:r>
            <a:endParaRPr lang="en-US" sz="1000" b="0" strike="noStrike" spc="-1">
              <a:latin typeface="Arial"/>
            </a:endParaRPr>
          </a:p>
          <a:p>
            <a:pPr>
              <a:lnSpc>
                <a:spcPct val="100000"/>
              </a:lnSpc>
              <a:buNone/>
            </a:pPr>
            <a:endParaRPr lang="en-US" sz="1000" b="0" strike="noStrike" spc="-1">
              <a:latin typeface="Arial"/>
            </a:endParaRPr>
          </a:p>
        </p:txBody>
      </p:sp>
      <p:pic>
        <p:nvPicPr>
          <p:cNvPr id="287" name="Picture 286"/>
          <p:cNvPicPr/>
          <p:nvPr/>
        </p:nvPicPr>
        <p:blipFill>
          <a:blip r:embed="rId3"/>
          <a:stretch/>
        </p:blipFill>
        <p:spPr>
          <a:xfrm>
            <a:off x="2784600" y="3548520"/>
            <a:ext cx="3843000" cy="2393280"/>
          </a:xfrm>
          <a:prstGeom prst="rect">
            <a:avLst/>
          </a:prstGeom>
          <a:ln w="0">
            <a:noFill/>
          </a:ln>
        </p:spPr>
      </p:pic>
      <p:pic>
        <p:nvPicPr>
          <p:cNvPr id="288" name="Picture 287"/>
          <p:cNvPicPr/>
          <p:nvPr/>
        </p:nvPicPr>
        <p:blipFill>
          <a:blip r:embed="rId4"/>
          <a:stretch/>
        </p:blipFill>
        <p:spPr>
          <a:xfrm>
            <a:off x="7645320" y="2533680"/>
            <a:ext cx="4240080" cy="1807920"/>
          </a:xfrm>
          <a:prstGeom prst="rect">
            <a:avLst/>
          </a:prstGeom>
          <a:ln w="0">
            <a:noFill/>
          </a:ln>
        </p:spPr>
      </p:pic>
      <p:sp>
        <p:nvSpPr>
          <p:cNvPr id="289" name="Rectangle 288"/>
          <p:cNvSpPr/>
          <p:nvPr/>
        </p:nvSpPr>
        <p:spPr>
          <a:xfrm>
            <a:off x="8317080" y="4491000"/>
            <a:ext cx="10426320" cy="213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ps step: 5006 fps step and policy inference: 4954 fps total: 4866 epoch: 248/250 frames: 37939200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saving next best rewards:  [32838.46]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=&gt; saving checkpoint 'logs/rl_games/masi_direct/2026-01-01_18-37-58/nn/masi_direct.pth'</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fps step: 4990 fps step and policy inference: 4938 fps total: 4851 epoch: 249/250 frames: 38092800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fps step: 5009 fps step and policy inference: 4957 fps total: 4869 epoch: 250/250 frames: 38246400</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=&gt; saving checkpoint 'logs/rl_games/masi_direct/2026-01-01_18-37-58/nn/last_masi_direct_ep_250_rew__30362.361_.pth'</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MAX EPOCHS NUM!</a:t>
            </a:r>
            <a:endParaRPr lang="en-US" sz="1800" b="0" strike="noStrike" spc="-1">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TextBox 6"/>
          <p:cNvSpPr/>
          <p:nvPr/>
        </p:nvSpPr>
        <p:spPr>
          <a:xfrm>
            <a:off x="528480" y="641880"/>
            <a:ext cx="786924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Font typeface="Symbol"/>
              <a:buChar char=""/>
            </a:pPr>
            <a:r>
              <a:rPr lang="en-US" sz="1800" b="0" strike="noStrike" spc="-1">
                <a:solidFill>
                  <a:srgbClr val="000000"/>
                </a:solidFill>
                <a:latin typeface="Arial Unicode MS"/>
                <a:ea typeface="DejaVu Sans"/>
              </a:rPr>
              <a:t>base</a:t>
            </a:r>
            <a:r>
              <a:rPr lang="en-US" sz="1400" b="0" strike="noStrike" spc="-1">
                <a:solidFill>
                  <a:srgbClr val="000000"/>
                </a:solidFill>
                <a:latin typeface="等线"/>
                <a:ea typeface="DejaVu Sans"/>
              </a:rPr>
              <a:t> ≈ </a:t>
            </a:r>
            <a:r>
              <a:rPr lang="en-US" sz="1800" b="0" strike="noStrike" spc="-1">
                <a:solidFill>
                  <a:srgbClr val="000000"/>
                </a:solidFill>
                <a:latin typeface="Arial Unicode MS"/>
                <a:ea typeface="DejaVu Sans"/>
              </a:rPr>
              <a:t>test_bench</a:t>
            </a:r>
            <a:r>
              <a:rPr lang="zh-CN" sz="1400" b="0" strike="noStrike" spc="-1">
                <a:solidFill>
                  <a:srgbClr val="000000"/>
                </a:solidFill>
                <a:latin typeface="等线"/>
                <a:ea typeface="DejaVu Sans"/>
              </a:rPr>
              <a:t>（或者 </a:t>
            </a:r>
            <a:r>
              <a:rPr lang="en-US" sz="1800" b="0" strike="noStrike" spc="-1">
                <a:solidFill>
                  <a:srgbClr val="000000"/>
                </a:solidFill>
                <a:latin typeface="Arial Unicode MS"/>
                <a:ea typeface="DejaVu Sans"/>
              </a:rPr>
              <a:t>test_bench + mountboom</a:t>
            </a:r>
            <a:r>
              <a:rPr lang="en-US" sz="1400" b="0" strike="noStrike" spc="-1">
                <a:solidFill>
                  <a:srgbClr val="000000"/>
                </a:solidFill>
                <a:latin typeface="等线"/>
                <a:ea typeface="DejaVu Sans"/>
              </a:rPr>
              <a:t> </a:t>
            </a:r>
            <a:r>
              <a:rPr lang="zh-CN" sz="1400" b="0" strike="noStrike" spc="-1">
                <a:solidFill>
                  <a:srgbClr val="000000"/>
                </a:solidFill>
                <a:latin typeface="等线"/>
                <a:ea typeface="DejaVu Sans"/>
              </a:rPr>
              <a:t>这一块底座）</a:t>
            </a:r>
            <a:endParaRPr lang="en-US" sz="1400" b="0" strike="noStrike" spc="-1">
              <a:latin typeface="Arial"/>
            </a:endParaRPr>
          </a:p>
          <a:p>
            <a:pPr marL="216000" indent="-216000">
              <a:lnSpc>
                <a:spcPct val="100000"/>
              </a:lnSpc>
              <a:buClr>
                <a:srgbClr val="000000"/>
              </a:buClr>
              <a:buFont typeface="Symbol"/>
              <a:buChar char=""/>
            </a:pPr>
            <a:r>
              <a:rPr lang="en-US" sz="1800" b="0" strike="noStrike" spc="-1">
                <a:solidFill>
                  <a:srgbClr val="000000"/>
                </a:solidFill>
                <a:latin typeface="Arial Unicode MS"/>
                <a:ea typeface="DejaVu Sans"/>
              </a:rPr>
              <a:t>boom</a:t>
            </a:r>
            <a:r>
              <a:rPr lang="en-US" sz="1400" b="0" strike="noStrike" spc="-1">
                <a:solidFill>
                  <a:srgbClr val="000000"/>
                </a:solidFill>
                <a:latin typeface="等线"/>
                <a:ea typeface="DejaVu Sans"/>
              </a:rPr>
              <a:t> ≈ </a:t>
            </a:r>
            <a:r>
              <a:rPr lang="en-US" sz="1800" b="0" strike="noStrike" spc="-1">
                <a:solidFill>
                  <a:srgbClr val="000000"/>
                </a:solidFill>
                <a:latin typeface="Arial Unicode MS"/>
                <a:ea typeface="DejaVu Sans"/>
              </a:rPr>
              <a:t>liftboom</a:t>
            </a:r>
            <a:r>
              <a:rPr lang="zh-CN" sz="1400" b="0" strike="noStrike" spc="-1">
                <a:solidFill>
                  <a:srgbClr val="000000"/>
                </a:solidFill>
                <a:latin typeface="等线"/>
                <a:ea typeface="DejaVu Sans"/>
              </a:rPr>
              <a:t>（第一节大臂，负责 </a:t>
            </a:r>
            <a:r>
              <a:rPr lang="en-US" sz="1400" b="0" strike="noStrike" spc="-1">
                <a:solidFill>
                  <a:srgbClr val="000000"/>
                </a:solidFill>
                <a:latin typeface="等线"/>
                <a:ea typeface="DejaVu Sans"/>
              </a:rPr>
              <a:t>lift</a:t>
            </a:r>
            <a:r>
              <a:rPr lang="zh-CN" sz="1400" b="0" strike="noStrike" spc="-1">
                <a:solidFill>
                  <a:srgbClr val="000000"/>
                </a:solidFill>
                <a:latin typeface="等线"/>
                <a:ea typeface="DejaVu Sans"/>
              </a:rPr>
              <a:t>）</a:t>
            </a:r>
            <a:endParaRPr lang="en-US" sz="1400" b="0" strike="noStrike" spc="-1">
              <a:latin typeface="Arial"/>
            </a:endParaRPr>
          </a:p>
          <a:p>
            <a:pPr marL="216000" indent="-216000">
              <a:lnSpc>
                <a:spcPct val="100000"/>
              </a:lnSpc>
              <a:buClr>
                <a:srgbClr val="000000"/>
              </a:buClr>
              <a:buFont typeface="Symbol"/>
              <a:buChar char=""/>
            </a:pPr>
            <a:r>
              <a:rPr lang="en-US" sz="1800" b="0" strike="noStrike" spc="-1">
                <a:solidFill>
                  <a:srgbClr val="000000"/>
                </a:solidFill>
                <a:latin typeface="Arial Unicode MS"/>
                <a:ea typeface="DejaVu Sans"/>
              </a:rPr>
              <a:t>arm</a:t>
            </a:r>
            <a:r>
              <a:rPr lang="en-US" sz="1400" b="0" strike="noStrike" spc="-1">
                <a:solidFill>
                  <a:srgbClr val="000000"/>
                </a:solidFill>
                <a:latin typeface="等线"/>
                <a:ea typeface="DejaVu Sans"/>
              </a:rPr>
              <a:t> ≈ </a:t>
            </a:r>
            <a:r>
              <a:rPr lang="en-US" sz="1800" b="0" strike="noStrike" spc="-1">
                <a:solidFill>
                  <a:srgbClr val="000000"/>
                </a:solidFill>
                <a:latin typeface="Arial Unicode MS"/>
                <a:ea typeface="DejaVu Sans"/>
              </a:rPr>
              <a:t>tiltboom</a:t>
            </a:r>
            <a:r>
              <a:rPr lang="zh-CN" sz="1400" b="0" strike="noStrike" spc="-1">
                <a:solidFill>
                  <a:srgbClr val="000000"/>
                </a:solidFill>
                <a:latin typeface="等线"/>
                <a:ea typeface="DejaVu Sans"/>
              </a:rPr>
              <a:t>（第二节小臂，负责 </a:t>
            </a:r>
            <a:r>
              <a:rPr lang="en-US" sz="1400" b="0" strike="noStrike" spc="-1">
                <a:solidFill>
                  <a:srgbClr val="000000"/>
                </a:solidFill>
                <a:latin typeface="等线"/>
                <a:ea typeface="DejaVu Sans"/>
              </a:rPr>
              <a:t>tilt</a:t>
            </a:r>
            <a:r>
              <a:rPr lang="zh-CN" sz="1400" b="0" strike="noStrike" spc="-1">
                <a:solidFill>
                  <a:srgbClr val="000000"/>
                </a:solidFill>
                <a:latin typeface="等线"/>
                <a:ea typeface="DejaVu Sans"/>
              </a:rPr>
              <a:t>）</a:t>
            </a:r>
            <a:endParaRPr lang="en-US" sz="1400" b="0" strike="noStrike" spc="-1">
              <a:latin typeface="Arial"/>
            </a:endParaRPr>
          </a:p>
          <a:p>
            <a:pPr marL="216000" indent="-216000">
              <a:lnSpc>
                <a:spcPct val="100000"/>
              </a:lnSpc>
              <a:buClr>
                <a:srgbClr val="000000"/>
              </a:buClr>
              <a:buFont typeface="Symbol"/>
              <a:buChar char=""/>
            </a:pPr>
            <a:r>
              <a:rPr lang="en-US" sz="1800" b="0" strike="noStrike" spc="-1">
                <a:solidFill>
                  <a:srgbClr val="000000"/>
                </a:solidFill>
                <a:latin typeface="Arial Unicode MS"/>
                <a:ea typeface="DejaVu Sans"/>
              </a:rPr>
              <a:t>bucket</a:t>
            </a:r>
            <a:r>
              <a:rPr lang="en-US" sz="1400" b="0" strike="noStrike" spc="-1">
                <a:solidFill>
                  <a:srgbClr val="000000"/>
                </a:solidFill>
                <a:latin typeface="等线"/>
                <a:ea typeface="DejaVu Sans"/>
              </a:rPr>
              <a:t> ≈ </a:t>
            </a:r>
            <a:r>
              <a:rPr lang="en-US" sz="1800" b="0" strike="noStrike" spc="-1">
                <a:solidFill>
                  <a:srgbClr val="000000"/>
                </a:solidFill>
                <a:latin typeface="Arial Unicode MS"/>
                <a:ea typeface="DejaVu Sans"/>
              </a:rPr>
              <a:t>scoop</a:t>
            </a:r>
            <a:r>
              <a:rPr lang="zh-CN" sz="1400" b="0" strike="noStrike" spc="-1">
                <a:solidFill>
                  <a:srgbClr val="000000"/>
                </a:solidFill>
                <a:latin typeface="等线"/>
                <a:ea typeface="DejaVu Sans"/>
              </a:rPr>
              <a:t>（铲斗）</a:t>
            </a:r>
            <a:endParaRPr lang="en-US" sz="1400" b="0" strike="noStrike" spc="-1">
              <a:latin typeface="Arial"/>
            </a:endParaRPr>
          </a:p>
          <a:p>
            <a:pPr marL="216000" indent="-216000">
              <a:lnSpc>
                <a:spcPct val="100000"/>
              </a:lnSpc>
              <a:buClr>
                <a:srgbClr val="000000"/>
              </a:buClr>
              <a:buFont typeface="Symbol"/>
              <a:buChar char=""/>
            </a:pPr>
            <a:r>
              <a:rPr lang="en-US" sz="1800" b="0" strike="noStrike" spc="-1">
                <a:solidFill>
                  <a:srgbClr val="000000"/>
                </a:solidFill>
                <a:latin typeface="Arial Unicode MS"/>
                <a:ea typeface="DejaVu Sans"/>
              </a:rPr>
              <a:t>tip</a:t>
            </a:r>
            <a:r>
              <a:rPr lang="en-US" sz="1400" b="0" strike="noStrike" spc="-1">
                <a:solidFill>
                  <a:srgbClr val="000000"/>
                </a:solidFill>
                <a:latin typeface="等线"/>
                <a:ea typeface="DejaVu Sans"/>
              </a:rPr>
              <a:t> ≈ </a:t>
            </a:r>
            <a:r>
              <a:rPr lang="en-US" sz="1800" b="0" strike="noStrike" spc="-1">
                <a:solidFill>
                  <a:srgbClr val="000000"/>
                </a:solidFill>
                <a:latin typeface="Arial Unicode MS"/>
                <a:ea typeface="DejaVu Sans"/>
              </a:rPr>
              <a:t>end_point</a:t>
            </a:r>
            <a:r>
              <a:rPr lang="zh-CN" sz="1400" b="0" strike="noStrike" spc="-1">
                <a:solidFill>
                  <a:srgbClr val="000000"/>
                </a:solidFill>
                <a:latin typeface="等线"/>
                <a:ea typeface="DejaVu Sans"/>
              </a:rPr>
              <a:t>（末端点）</a:t>
            </a:r>
            <a:endParaRPr lang="en-US" sz="1400" b="0" strike="noStrike" spc="-1">
              <a:latin typeface="Arial"/>
            </a:endParaRPr>
          </a:p>
        </p:txBody>
      </p:sp>
      <p:sp>
        <p:nvSpPr>
          <p:cNvPr id="291" name="TextBox 9"/>
          <p:cNvSpPr/>
          <p:nvPr/>
        </p:nvSpPr>
        <p:spPr>
          <a:xfrm>
            <a:off x="609480" y="2452680"/>
            <a:ext cx="901728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等线"/>
                <a:ea typeface="DejaVu Sans"/>
              </a:rPr>
              <a:t>test_bench ──fix_to_scene──&gt; mountboom</a:t>
            </a:r>
            <a:endParaRPr lang="en-US" sz="1800" b="0" strike="noStrike" spc="-1">
              <a:latin typeface="Arial"/>
            </a:endParaRPr>
          </a:p>
          <a:p>
            <a:pPr>
              <a:lnSpc>
                <a:spcPct val="100000"/>
              </a:lnSpc>
              <a:buNone/>
            </a:pPr>
            <a:r>
              <a:rPr lang="en-US" sz="1800" b="0" strike="noStrike" spc="-1">
                <a:solidFill>
                  <a:srgbClr val="000000"/>
                </a:solidFill>
                <a:latin typeface="等线"/>
                <a:ea typeface="DejaVu Sans"/>
              </a:rPr>
              <a:t>  └─(revolute_lift)──&gt; liftboom        ← </a:t>
            </a:r>
            <a:r>
              <a:rPr lang="zh-CN" sz="1800" b="0" strike="noStrike" spc="-1">
                <a:solidFill>
                  <a:srgbClr val="000000"/>
                </a:solidFill>
                <a:latin typeface="等线"/>
                <a:ea typeface="DejaVu Sans"/>
              </a:rPr>
              <a:t>对应原来的 </a:t>
            </a:r>
            <a:r>
              <a:rPr lang="en-US" sz="1800" b="0" strike="noStrike" spc="-1">
                <a:solidFill>
                  <a:srgbClr val="000000"/>
                </a:solidFill>
                <a:latin typeface="等线"/>
                <a:ea typeface="DejaVu Sans"/>
              </a:rPr>
              <a:t>boom </a:t>
            </a:r>
            <a:r>
              <a:rPr lang="zh-CN" sz="1800" b="0" strike="noStrike" spc="-1">
                <a:solidFill>
                  <a:srgbClr val="000000"/>
                </a:solidFill>
                <a:latin typeface="等线"/>
                <a:ea typeface="DejaVu Sans"/>
              </a:rPr>
              <a:t>关节（</a:t>
            </a:r>
            <a:r>
              <a:rPr lang="en-US" sz="1800" b="0" strike="noStrike" spc="-1">
                <a:solidFill>
                  <a:srgbClr val="000000"/>
                </a:solidFill>
                <a:latin typeface="等线"/>
                <a:ea typeface="DejaVu Sans"/>
              </a:rPr>
              <a:t>jointBoom</a:t>
            </a:r>
            <a:r>
              <a:rPr lang="zh-CN" sz="1800" b="0" strike="noStrike" spc="-1">
                <a:solidFill>
                  <a:srgbClr val="000000"/>
                </a:solidFill>
                <a:latin typeface="等线"/>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等线"/>
                <a:ea typeface="DejaVu Sans"/>
              </a:rPr>
              <a:t>        └─(revolute_tilt)──&gt; tiltboom  ← </a:t>
            </a:r>
            <a:r>
              <a:rPr lang="zh-CN" sz="1800" b="0" strike="noStrike" spc="-1">
                <a:solidFill>
                  <a:srgbClr val="000000"/>
                </a:solidFill>
                <a:latin typeface="等线"/>
                <a:ea typeface="DejaVu Sans"/>
              </a:rPr>
              <a:t>对应原来的 </a:t>
            </a:r>
            <a:r>
              <a:rPr lang="en-US" sz="1800" b="0" strike="noStrike" spc="-1">
                <a:solidFill>
                  <a:srgbClr val="000000"/>
                </a:solidFill>
                <a:latin typeface="等线"/>
                <a:ea typeface="DejaVu Sans"/>
              </a:rPr>
              <a:t>arm </a:t>
            </a:r>
            <a:r>
              <a:rPr lang="zh-CN" sz="1800" b="0" strike="noStrike" spc="-1">
                <a:solidFill>
                  <a:srgbClr val="000000"/>
                </a:solidFill>
                <a:latin typeface="等线"/>
                <a:ea typeface="DejaVu Sans"/>
              </a:rPr>
              <a:t>关节（</a:t>
            </a:r>
            <a:r>
              <a:rPr lang="en-US" sz="1800" b="0" strike="noStrike" spc="-1">
                <a:solidFill>
                  <a:srgbClr val="000000"/>
                </a:solidFill>
                <a:latin typeface="等线"/>
                <a:ea typeface="DejaVu Sans"/>
              </a:rPr>
              <a:t>jointArm</a:t>
            </a:r>
            <a:r>
              <a:rPr lang="zh-CN" sz="1800" b="0" strike="noStrike" spc="-1">
                <a:solidFill>
                  <a:srgbClr val="000000"/>
                </a:solidFill>
                <a:latin typeface="等线"/>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等线"/>
                <a:ea typeface="DejaVu Sans"/>
              </a:rPr>
              <a:t>              └─(revolute_scoop)──&gt; scoop  ← </a:t>
            </a:r>
            <a:r>
              <a:rPr lang="zh-CN" sz="1800" b="0" strike="noStrike" spc="-1">
                <a:solidFill>
                  <a:srgbClr val="000000"/>
                </a:solidFill>
                <a:latin typeface="等线"/>
                <a:ea typeface="DejaVu Sans"/>
              </a:rPr>
              <a:t>对应原来的 </a:t>
            </a:r>
            <a:r>
              <a:rPr lang="en-US" sz="1800" b="0" strike="noStrike" spc="-1">
                <a:solidFill>
                  <a:srgbClr val="000000"/>
                </a:solidFill>
                <a:latin typeface="等线"/>
                <a:ea typeface="DejaVu Sans"/>
              </a:rPr>
              <a:t>bucket </a:t>
            </a:r>
            <a:r>
              <a:rPr lang="zh-CN" sz="1800" b="0" strike="noStrike" spc="-1">
                <a:solidFill>
                  <a:srgbClr val="000000"/>
                </a:solidFill>
                <a:latin typeface="等线"/>
                <a:ea typeface="DejaVu Sans"/>
              </a:rPr>
              <a:t>关节（</a:t>
            </a:r>
            <a:r>
              <a:rPr lang="en-US" sz="1800" b="0" strike="noStrike" spc="-1">
                <a:solidFill>
                  <a:srgbClr val="000000"/>
                </a:solidFill>
                <a:latin typeface="等线"/>
                <a:ea typeface="DejaVu Sans"/>
              </a:rPr>
              <a:t>jointBucket</a:t>
            </a:r>
            <a:r>
              <a:rPr lang="zh-CN" sz="1800" b="0" strike="noStrike" spc="-1">
                <a:solidFill>
                  <a:srgbClr val="000000"/>
                </a:solidFill>
                <a:latin typeface="等线"/>
                <a:ea typeface="DejaVu Sans"/>
              </a:rPr>
              <a:t>）</a:t>
            </a:r>
            <a:endParaRPr lang="en-US" sz="1800" b="0" strike="noStrike" spc="-1">
              <a:latin typeface="Arial"/>
            </a:endParaRPr>
          </a:p>
          <a:p>
            <a:pPr>
              <a:lnSpc>
                <a:spcPct val="100000"/>
              </a:lnSpc>
              <a:buNone/>
            </a:pPr>
            <a:r>
              <a:rPr lang="en-US" sz="1800" b="0" strike="noStrike" spc="-1">
                <a:solidFill>
                  <a:srgbClr val="000000"/>
                </a:solidFill>
                <a:latin typeface="等线"/>
                <a:ea typeface="DejaVu Sans"/>
              </a:rPr>
              <a:t>                    └─FixedJoint──&gt; end_point  ← </a:t>
            </a:r>
            <a:r>
              <a:rPr lang="zh-CN" sz="1800" b="0" strike="noStrike" spc="-1">
                <a:solidFill>
                  <a:srgbClr val="000000"/>
                </a:solidFill>
                <a:latin typeface="等线"/>
                <a:ea typeface="DejaVu Sans"/>
              </a:rPr>
              <a:t>对应原来的 </a:t>
            </a:r>
            <a:r>
              <a:rPr lang="en-US" sz="1800" b="0" strike="noStrike" spc="-1">
                <a:solidFill>
                  <a:srgbClr val="000000"/>
                </a:solidFill>
                <a:latin typeface="等线"/>
                <a:ea typeface="DejaVu Sans"/>
              </a:rPr>
              <a:t>tip</a:t>
            </a:r>
            <a:endParaRPr lang="en-US" sz="1800" b="0" strike="noStrike" spc="-1">
              <a:latin typeface="Arial"/>
            </a:endParaRPr>
          </a:p>
        </p:txBody>
      </p:sp>
      <p:sp>
        <p:nvSpPr>
          <p:cNvPr id="292" name="TextBox 11"/>
          <p:cNvSpPr/>
          <p:nvPr/>
        </p:nvSpPr>
        <p:spPr>
          <a:xfrm>
            <a:off x="914040" y="4450680"/>
            <a:ext cx="986076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等线"/>
                <a:ea typeface="DejaVu Sans"/>
              </a:rPr>
              <a:t>&lt;joint name="revolute_tilt" origin="0.20564 0 0.420085" parent="liftboom" child="tiltboom"/&gt;</a:t>
            </a:r>
            <a:endParaRPr lang="en-US" sz="1800" b="0" strike="noStrike" spc="-1">
              <a:latin typeface="Arial"/>
            </a:endParaRPr>
          </a:p>
          <a:p>
            <a:pPr>
              <a:lnSpc>
                <a:spcPct val="100000"/>
              </a:lnSpc>
              <a:buNone/>
            </a:pPr>
            <a:r>
              <a:rPr lang="en-US" sz="1800" b="0" strike="noStrike" spc="-1">
                <a:solidFill>
                  <a:srgbClr val="000000"/>
                </a:solidFill>
                <a:latin typeface="等线"/>
                <a:ea typeface="DejaVu Sans"/>
              </a:rPr>
              <a:t>&lt;joint name="revolute_scoop" origin="0.25 0 0" parent="tiltboom" child="scoop"/&gt;</a:t>
            </a:r>
            <a:endParaRPr lang="en-US" sz="1800" b="0" strike="noStrike" spc="-1">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3" name="Rectangle 7"/>
          <p:cNvSpPr/>
          <p:nvPr/>
        </p:nvSpPr>
        <p:spPr>
          <a:xfrm>
            <a:off x="0" y="0"/>
            <a:ext cx="12187440" cy="6853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294" name="Right Triangle 9"/>
          <p:cNvSpPr/>
          <p:nvPr/>
        </p:nvSpPr>
        <p:spPr>
          <a:xfrm flipH="1">
            <a:off x="8571600" y="3335760"/>
            <a:ext cx="3287160" cy="319572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295" name="Rectangle 11"/>
          <p:cNvSpPr/>
          <p:nvPr/>
        </p:nvSpPr>
        <p:spPr>
          <a:xfrm>
            <a:off x="641880" y="623160"/>
            <a:ext cx="10900440" cy="5603040"/>
          </a:xfrm>
          <a:prstGeom prst="rect">
            <a:avLst/>
          </a:prstGeom>
          <a:noFill/>
          <a:ln>
            <a:solidFill>
              <a:srgbClr val="404040"/>
            </a:solid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296" name="PlaceHolder 1"/>
          <p:cNvSpPr>
            <a:spLocks noGrp="1"/>
          </p:cNvSpPr>
          <p:nvPr>
            <p:ph type="title"/>
          </p:nvPr>
        </p:nvSpPr>
        <p:spPr>
          <a:xfrm>
            <a:off x="1075680" y="1188720"/>
            <a:ext cx="2983680" cy="4475880"/>
          </a:xfrm>
          <a:prstGeom prst="rect">
            <a:avLst/>
          </a:prstGeom>
          <a:noFill/>
          <a:ln w="0">
            <a:noFill/>
          </a:ln>
        </p:spPr>
        <p:txBody>
          <a:bodyPr lIns="0" tIns="0" rIns="0" bIns="0" anchor="ctr">
            <a:normAutofit/>
          </a:bodyPr>
          <a:lstStyle/>
          <a:p>
            <a:pPr algn="r">
              <a:lnSpc>
                <a:spcPct val="90000"/>
              </a:lnSpc>
              <a:buNone/>
            </a:pPr>
            <a:r>
              <a:rPr lang="en-US" sz="6600" b="1" strike="noStrike" spc="-1">
                <a:solidFill>
                  <a:srgbClr val="000000"/>
                </a:solidFill>
                <a:latin typeface="等线 Light"/>
              </a:rPr>
              <a:t>outline</a:t>
            </a:r>
            <a:endParaRPr lang="en-US" sz="6600" b="0" strike="noStrike" spc="-1">
              <a:latin typeface="Arial"/>
            </a:endParaRPr>
          </a:p>
        </p:txBody>
      </p:sp>
      <p:sp>
        <p:nvSpPr>
          <p:cNvPr id="297" name="Straight Connector 13"/>
          <p:cNvSpPr/>
          <p:nvPr/>
        </p:nvSpPr>
        <p:spPr>
          <a:xfrm>
            <a:off x="4654080" y="1852560"/>
            <a:ext cx="360" cy="3236760"/>
          </a:xfrm>
          <a:prstGeom prst="line">
            <a:avLst/>
          </a:prstGeom>
          <a:ln w="19050" cap="sq">
            <a:solidFill>
              <a:srgbClr val="404040"/>
            </a:solidFill>
          </a:ln>
        </p:spPr>
        <p:style>
          <a:lnRef idx="1">
            <a:schemeClr val="accent1"/>
          </a:lnRef>
          <a:fillRef idx="0">
            <a:schemeClr val="accent1"/>
          </a:fillRef>
          <a:effectRef idx="0">
            <a:schemeClr val="accent1"/>
          </a:effectRef>
          <a:fontRef idx="minor"/>
        </p:style>
        <p:txBody>
          <a:bodyPr/>
          <a:lstStyle/>
          <a:p>
            <a:endParaRPr lang="zh-CN" altLang="en-US"/>
          </a:p>
        </p:txBody>
      </p:sp>
      <p:sp>
        <p:nvSpPr>
          <p:cNvPr id="298" name="PlaceHolder 2"/>
          <p:cNvSpPr>
            <a:spLocks noGrp="1"/>
          </p:cNvSpPr>
          <p:nvPr>
            <p:ph type="subTitle"/>
          </p:nvPr>
        </p:nvSpPr>
        <p:spPr>
          <a:xfrm>
            <a:off x="5255280" y="1648800"/>
            <a:ext cx="4698000" cy="3555720"/>
          </a:xfrm>
          <a:prstGeom prst="rect">
            <a:avLst/>
          </a:prstGeom>
          <a:noFill/>
          <a:ln w="0">
            <a:noFill/>
          </a:ln>
        </p:spPr>
        <p:txBody>
          <a:bodyPr lIns="0" tIns="0" rIns="0" bIns="0" anchor="ctr">
            <a:normAutofit/>
          </a:bodyPr>
          <a:lstStyle/>
          <a:p>
            <a:pPr marL="216000" indent="-228600">
              <a:lnSpc>
                <a:spcPct val="90000"/>
              </a:lnSpc>
              <a:spcBef>
                <a:spcPts val="1001"/>
              </a:spcBef>
              <a:buClr>
                <a:srgbClr val="000000"/>
              </a:buClr>
              <a:buFont typeface="Arial"/>
              <a:buChar char="•"/>
            </a:pPr>
            <a:r>
              <a:rPr lang="en-US" sz="2400" b="0" strike="noStrike" spc="-1">
                <a:solidFill>
                  <a:srgbClr val="000000"/>
                </a:solidFill>
                <a:latin typeface="等线"/>
              </a:rPr>
              <a:t>Topic</a:t>
            </a:r>
            <a:endParaRPr lang="en-US" sz="2400" b="0" strike="noStrike" spc="-1">
              <a:latin typeface="Arial"/>
            </a:endParaRPr>
          </a:p>
          <a:p>
            <a:pPr marL="216000" indent="-228600">
              <a:lnSpc>
                <a:spcPct val="90000"/>
              </a:lnSpc>
              <a:spcBef>
                <a:spcPts val="1001"/>
              </a:spcBef>
              <a:buClr>
                <a:srgbClr val="000000"/>
              </a:buClr>
              <a:buFont typeface="Arial"/>
              <a:buChar char="•"/>
            </a:pPr>
            <a:r>
              <a:rPr lang="en-US" sz="2400" b="0" strike="noStrike" spc="-1">
                <a:solidFill>
                  <a:srgbClr val="000000"/>
                </a:solidFill>
                <a:latin typeface="等线"/>
              </a:rPr>
              <a:t>Goals</a:t>
            </a:r>
            <a:endParaRPr lang="en-US" sz="2400" b="0" strike="noStrike" spc="-1">
              <a:latin typeface="Arial"/>
            </a:endParaRPr>
          </a:p>
          <a:p>
            <a:pPr marL="216000" indent="-228600">
              <a:lnSpc>
                <a:spcPct val="90000"/>
              </a:lnSpc>
              <a:spcBef>
                <a:spcPts val="1001"/>
              </a:spcBef>
              <a:buClr>
                <a:srgbClr val="000000"/>
              </a:buClr>
              <a:buFont typeface="Arial"/>
              <a:buChar char="•"/>
            </a:pPr>
            <a:r>
              <a:rPr lang="en-US" sz="2400" b="0" strike="noStrike" spc="-1">
                <a:solidFill>
                  <a:srgbClr val="000000"/>
                </a:solidFill>
                <a:latin typeface="等线"/>
              </a:rPr>
              <a:t>Plans</a:t>
            </a:r>
            <a:endParaRPr lang="en-US" sz="2400" b="0" strike="noStrike" spc="-1">
              <a:latin typeface="Arial"/>
            </a:endParaRPr>
          </a:p>
          <a:p>
            <a:pPr marL="216000" indent="-228600">
              <a:lnSpc>
                <a:spcPct val="90000"/>
              </a:lnSpc>
              <a:spcBef>
                <a:spcPts val="1001"/>
              </a:spcBef>
              <a:buClr>
                <a:srgbClr val="000000"/>
              </a:buClr>
              <a:buFont typeface="Arial"/>
              <a:buChar char="•"/>
            </a:pPr>
            <a:r>
              <a:rPr lang="en-US" sz="2400" b="0" strike="noStrike" spc="-1">
                <a:solidFill>
                  <a:srgbClr val="000000"/>
                </a:solidFill>
                <a:latin typeface="等线"/>
              </a:rPr>
              <a:t>Study resource/ code</a:t>
            </a:r>
            <a:endParaRPr lang="en-US" sz="24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3727440" y="594720"/>
            <a:ext cx="4602240" cy="985680"/>
          </a:xfrm>
          <a:prstGeom prst="rect">
            <a:avLst/>
          </a:prstGeom>
          <a:noFill/>
          <a:ln w="0">
            <a:noFill/>
          </a:ln>
        </p:spPr>
        <p:txBody>
          <a:bodyPr lIns="0" tIns="0" rIns="0" bIns="0" anchor="b">
            <a:noAutofit/>
          </a:bodyPr>
          <a:lstStyle/>
          <a:p>
            <a:pPr algn="ctr">
              <a:lnSpc>
                <a:spcPct val="90000"/>
              </a:lnSpc>
              <a:buNone/>
            </a:pPr>
            <a:r>
              <a:rPr lang="en-US" sz="6000" b="1" strike="noStrike" spc="-1">
                <a:solidFill>
                  <a:srgbClr val="000000"/>
                </a:solidFill>
                <a:latin typeface="等线 Light"/>
              </a:rPr>
              <a:t>Thesis  topic </a:t>
            </a:r>
            <a:endParaRPr lang="en-US" sz="6000" b="0" strike="noStrike" spc="-1">
              <a:latin typeface="Arial"/>
            </a:endParaRPr>
          </a:p>
        </p:txBody>
      </p:sp>
      <p:sp>
        <p:nvSpPr>
          <p:cNvPr id="300" name="PlaceHolder 2"/>
          <p:cNvSpPr>
            <a:spLocks noGrp="1"/>
          </p:cNvSpPr>
          <p:nvPr>
            <p:ph type="subTitle"/>
          </p:nvPr>
        </p:nvSpPr>
        <p:spPr>
          <a:xfrm>
            <a:off x="1523880" y="2371320"/>
            <a:ext cx="9008640" cy="1420920"/>
          </a:xfrm>
          <a:prstGeom prst="rect">
            <a:avLst/>
          </a:prstGeom>
          <a:noFill/>
          <a:ln w="0">
            <a:noFill/>
          </a:ln>
        </p:spPr>
        <p:txBody>
          <a:bodyPr lIns="0" tIns="0" rIns="0" bIns="0" anchor="t">
            <a:noAutofit/>
          </a:bodyPr>
          <a:lstStyle/>
          <a:p>
            <a:pPr>
              <a:lnSpc>
                <a:spcPct val="90000"/>
              </a:lnSpc>
              <a:spcBef>
                <a:spcPts val="1001"/>
              </a:spcBef>
              <a:buNone/>
              <a:tabLst>
                <a:tab pos="0" algn="l"/>
              </a:tabLst>
            </a:pPr>
            <a:r>
              <a:rPr lang="en-US" sz="2400" b="0" strike="noStrike" spc="-1">
                <a:solidFill>
                  <a:srgbClr val="000000"/>
                </a:solidFill>
                <a:latin typeface="等线"/>
              </a:rPr>
              <a:t>Simulation-based development for a nonlinear  excavator system</a:t>
            </a:r>
            <a:endParaRPr lang="en-US" sz="2400" b="0" strike="noStrike" spc="-1">
              <a:latin typeface="Arial"/>
            </a:endParaRPr>
          </a:p>
          <a:p>
            <a:pPr>
              <a:lnSpc>
                <a:spcPct val="90000"/>
              </a:lnSpc>
              <a:spcBef>
                <a:spcPts val="1001"/>
              </a:spcBef>
              <a:buNone/>
              <a:tabLst>
                <a:tab pos="0" algn="l"/>
              </a:tabLst>
            </a:pPr>
            <a:r>
              <a:rPr lang="en-US" sz="2400" b="0" strike="noStrike" spc="-1">
                <a:solidFill>
                  <a:srgbClr val="000000"/>
                </a:solidFill>
                <a:latin typeface="等线"/>
              </a:rPr>
              <a:t>(with emphasis on practical </a:t>
            </a:r>
            <a:r>
              <a:rPr lang="en-US" sz="2400" b="1" strike="noStrike" spc="-1">
                <a:solidFill>
                  <a:srgbClr val="000000"/>
                </a:solidFill>
                <a:latin typeface="等线"/>
              </a:rPr>
              <a:t>feasibility</a:t>
            </a:r>
            <a:r>
              <a:rPr lang="en-US" sz="2400" b="0" strike="noStrike" spc="-1">
                <a:solidFill>
                  <a:srgbClr val="000000"/>
                </a:solidFill>
                <a:latin typeface="等线"/>
              </a:rPr>
              <a:t> and flexible model choice)</a:t>
            </a:r>
            <a:endParaRPr lang="en-US" sz="24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1523880" y="219960"/>
            <a:ext cx="9139320" cy="1426320"/>
          </a:xfrm>
          <a:prstGeom prst="rect">
            <a:avLst/>
          </a:prstGeom>
          <a:noFill/>
          <a:ln w="0">
            <a:noFill/>
          </a:ln>
        </p:spPr>
        <p:txBody>
          <a:bodyPr lIns="0" tIns="0" rIns="0" bIns="0" anchor="b">
            <a:noAutofit/>
          </a:bodyPr>
          <a:lstStyle/>
          <a:p>
            <a:pPr algn="ctr">
              <a:lnSpc>
                <a:spcPct val="90000"/>
              </a:lnSpc>
              <a:buNone/>
            </a:pPr>
            <a:r>
              <a:rPr lang="en-US" sz="6000" b="1" strike="noStrike" spc="-1">
                <a:solidFill>
                  <a:srgbClr val="000000"/>
                </a:solidFill>
                <a:latin typeface="等线 Light"/>
              </a:rPr>
              <a:t>Research Goals</a:t>
            </a:r>
            <a:br>
              <a:rPr sz="6000"/>
            </a:br>
            <a:endParaRPr lang="en-US" sz="6000" b="0" strike="noStrike" spc="-1">
              <a:latin typeface="Arial"/>
            </a:endParaRPr>
          </a:p>
        </p:txBody>
      </p:sp>
      <p:sp>
        <p:nvSpPr>
          <p:cNvPr id="302" name="PlaceHolder 2"/>
          <p:cNvSpPr>
            <a:spLocks noGrp="1"/>
          </p:cNvSpPr>
          <p:nvPr>
            <p:ph type="subTitle"/>
          </p:nvPr>
        </p:nvSpPr>
        <p:spPr>
          <a:xfrm>
            <a:off x="1589400" y="1650960"/>
            <a:ext cx="9008640" cy="3395160"/>
          </a:xfrm>
          <a:prstGeom prst="rect">
            <a:avLst/>
          </a:prstGeom>
          <a:noFill/>
          <a:ln w="0">
            <a:noFill/>
          </a:ln>
        </p:spPr>
        <p:txBody>
          <a:bodyPr lIns="0" tIns="0" rIns="0" bIns="0" anchor="t">
            <a:normAutofit fontScale="90500" lnSpcReduction="20000"/>
          </a:bodyPr>
          <a:lstStyle/>
          <a:p>
            <a:pPr>
              <a:lnSpc>
                <a:spcPct val="90000"/>
              </a:lnSpc>
              <a:spcBef>
                <a:spcPts val="1001"/>
              </a:spcBef>
              <a:buNone/>
              <a:tabLst>
                <a:tab pos="0" algn="l"/>
              </a:tabLst>
            </a:pPr>
            <a:r>
              <a:rPr lang="en-US" sz="2400" b="0" strike="noStrike" spc="-1">
                <a:solidFill>
                  <a:srgbClr val="000000"/>
                </a:solidFill>
                <a:latin typeface="等线"/>
              </a:rPr>
              <a:t>1.Use provided excavator model or similar excavator model from open resource to build environment </a:t>
            </a:r>
            <a:endParaRPr lang="en-US" sz="2400" b="0" strike="noStrike" spc="-1">
              <a:latin typeface="Arial"/>
            </a:endParaRPr>
          </a:p>
          <a:p>
            <a:pPr>
              <a:lnSpc>
                <a:spcPct val="90000"/>
              </a:lnSpc>
              <a:spcBef>
                <a:spcPts val="1001"/>
              </a:spcBef>
              <a:buNone/>
              <a:tabLst>
                <a:tab pos="0" algn="l"/>
              </a:tabLst>
            </a:pPr>
            <a:endParaRPr lang="en-US" sz="2400" b="0" strike="noStrike" spc="-1">
              <a:latin typeface="Arial"/>
            </a:endParaRPr>
          </a:p>
          <a:p>
            <a:pPr>
              <a:lnSpc>
                <a:spcPct val="90000"/>
              </a:lnSpc>
              <a:spcBef>
                <a:spcPts val="1001"/>
              </a:spcBef>
              <a:buNone/>
              <a:tabLst>
                <a:tab pos="0" algn="l"/>
              </a:tabLst>
            </a:pPr>
            <a:r>
              <a:rPr lang="en-US" sz="2400" b="0" strike="noStrike" spc="-1">
                <a:solidFill>
                  <a:srgbClr val="000000"/>
                </a:solidFill>
                <a:latin typeface="等线"/>
              </a:rPr>
              <a:t>2. model-based learning model or reinforcement learning model</a:t>
            </a:r>
            <a:endParaRPr lang="en-US" sz="2400" b="0" strike="noStrike" spc="-1">
              <a:latin typeface="Arial"/>
            </a:endParaRPr>
          </a:p>
          <a:p>
            <a:pPr>
              <a:lnSpc>
                <a:spcPct val="90000"/>
              </a:lnSpc>
              <a:spcBef>
                <a:spcPts val="1001"/>
              </a:spcBef>
              <a:buNone/>
              <a:tabLst>
                <a:tab pos="0" algn="l"/>
              </a:tabLst>
            </a:pPr>
            <a:endParaRPr lang="en-US" sz="2400" b="0" strike="noStrike" spc="-1">
              <a:latin typeface="Arial"/>
            </a:endParaRPr>
          </a:p>
          <a:p>
            <a:pPr>
              <a:lnSpc>
                <a:spcPct val="90000"/>
              </a:lnSpc>
              <a:spcBef>
                <a:spcPts val="1001"/>
              </a:spcBef>
              <a:buNone/>
              <a:tabLst>
                <a:tab pos="0" algn="l"/>
              </a:tabLst>
            </a:pPr>
            <a:r>
              <a:rPr lang="en-GB" sz="2400" b="1" strike="noStrike" spc="-1">
                <a:solidFill>
                  <a:srgbClr val="000000"/>
                </a:solidFill>
                <a:latin typeface="等线"/>
              </a:rPr>
              <a:t>3.generate a simulation demo for illustrative tasks (such as log lifting or trajectory tracking).</a:t>
            </a:r>
            <a:endParaRPr lang="en-US" sz="2400" b="0" strike="noStrike" spc="-1">
              <a:latin typeface="Arial"/>
            </a:endParaRPr>
          </a:p>
          <a:p>
            <a:pPr>
              <a:lnSpc>
                <a:spcPct val="90000"/>
              </a:lnSpc>
              <a:spcBef>
                <a:spcPts val="1001"/>
              </a:spcBef>
              <a:buNone/>
              <a:tabLst>
                <a:tab pos="0" algn="l"/>
              </a:tabLst>
            </a:pPr>
            <a:endParaRPr lang="en-US" sz="2400" b="0" strike="noStrike" spc="-1">
              <a:latin typeface="Arial"/>
            </a:endParaRPr>
          </a:p>
          <a:p>
            <a:pPr>
              <a:lnSpc>
                <a:spcPct val="90000"/>
              </a:lnSpc>
              <a:spcBef>
                <a:spcPts val="1001"/>
              </a:spcBef>
              <a:buNone/>
              <a:tabLst>
                <a:tab pos="0" algn="l"/>
              </a:tabLst>
            </a:pPr>
            <a:r>
              <a:rPr lang="en-GB" sz="2400" b="1" strike="noStrike" spc="-1">
                <a:solidFill>
                  <a:srgbClr val="000000"/>
                </a:solidFill>
                <a:latin typeface="等线"/>
              </a:rPr>
              <a:t>4.optionally implement and compare different control strategies on simulator  environment, such as MPC vs PID;</a:t>
            </a:r>
            <a:endParaRPr lang="en-US" sz="2400" b="0" strike="noStrike" spc="-1">
              <a:latin typeface="Arial"/>
            </a:endParaRPr>
          </a:p>
          <a:p>
            <a:pPr>
              <a:lnSpc>
                <a:spcPct val="90000"/>
              </a:lnSpc>
              <a:spcBef>
                <a:spcPts val="1001"/>
              </a:spcBef>
              <a:buNone/>
              <a:tabLst>
                <a:tab pos="0" algn="l"/>
              </a:tabLst>
            </a:pPr>
            <a:endParaRPr lang="en-US" sz="24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3" name="Rectangle 6"/>
          <p:cNvSpPr/>
          <p:nvPr/>
        </p:nvSpPr>
        <p:spPr>
          <a:xfrm>
            <a:off x="0" y="0"/>
            <a:ext cx="12187440" cy="6853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304" name="Right Triangle 8"/>
          <p:cNvSpPr/>
          <p:nvPr/>
        </p:nvSpPr>
        <p:spPr>
          <a:xfrm flipH="1">
            <a:off x="8571600" y="3335760"/>
            <a:ext cx="3287160" cy="319572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305" name="Rectangle 10"/>
          <p:cNvSpPr/>
          <p:nvPr/>
        </p:nvSpPr>
        <p:spPr>
          <a:xfrm>
            <a:off x="641880" y="623160"/>
            <a:ext cx="10900440" cy="5603040"/>
          </a:xfrm>
          <a:prstGeom prst="rect">
            <a:avLst/>
          </a:prstGeom>
          <a:noFill/>
          <a:ln>
            <a:solidFill>
              <a:srgbClr val="404040"/>
            </a:solidFill>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306" name="PlaceHolder 1"/>
          <p:cNvSpPr>
            <a:spLocks noGrp="1"/>
          </p:cNvSpPr>
          <p:nvPr>
            <p:ph type="title"/>
          </p:nvPr>
        </p:nvSpPr>
        <p:spPr>
          <a:xfrm>
            <a:off x="1285200" y="1009080"/>
            <a:ext cx="9226800" cy="3537360"/>
          </a:xfrm>
          <a:prstGeom prst="rect">
            <a:avLst/>
          </a:prstGeom>
          <a:noFill/>
          <a:ln w="0">
            <a:noFill/>
          </a:ln>
        </p:spPr>
        <p:txBody>
          <a:bodyPr lIns="90000" tIns="45000" rIns="90000" bIns="45000" anchor="b">
            <a:normAutofit/>
          </a:bodyPr>
          <a:lstStyle/>
          <a:p>
            <a:pPr>
              <a:lnSpc>
                <a:spcPct val="90000"/>
              </a:lnSpc>
              <a:buNone/>
            </a:pPr>
            <a:r>
              <a:rPr lang="en-US" sz="11500" b="0" strike="noStrike" spc="-1">
                <a:solidFill>
                  <a:srgbClr val="000000"/>
                </a:solidFill>
                <a:latin typeface="等线 Light"/>
              </a:rPr>
              <a:t>Thanks</a:t>
            </a:r>
            <a:endParaRPr lang="en-US" sz="115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500"/>
                                  </p:stCondLst>
                                  <p:iterate type="lt">
                                    <p:tmAbs val="100"/>
                                  </p:iterate>
                                  <p:childTnLst>
                                    <p:set>
                                      <p:cBhvr>
                                        <p:cTn id="6" dur="1" fill="hold">
                                          <p:stCondLst>
                                            <p:cond delay="0"/>
                                          </p:stCondLst>
                                        </p:cTn>
                                        <p:tgtEl>
                                          <p:spTgt spid="306"/>
                                        </p:tgtEl>
                                        <p:attrNameLst>
                                          <p:attrName>style.visibility</p:attrName>
                                        </p:attrNameLst>
                                      </p:cBhvr>
                                      <p:to>
                                        <p:strVal val="visible"/>
                                      </p:to>
                                    </p:set>
                                    <p:animEffect transition="in" filter="fade">
                                      <p:cBhvr additive="repl">
                                        <p:cTn id="7" dur="4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7552</TotalTime>
  <Words>6220</Words>
  <Application>Microsoft Office PowerPoint</Application>
  <PresentationFormat>Widescreen</PresentationFormat>
  <Paragraphs>555</Paragraphs>
  <Slides>66</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66</vt:i4>
      </vt:variant>
    </vt:vector>
  </HeadingPairs>
  <TitlesOfParts>
    <vt:vector size="75" baseType="lpstr">
      <vt:lpstr>Arial Unicode MS</vt:lpstr>
      <vt:lpstr>等线</vt:lpstr>
      <vt:lpstr>等线 Light</vt:lpstr>
      <vt:lpstr>Arial</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10000  4090       15  hours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Thesis  topic </vt:lpstr>
      <vt:lpstr>Research Goals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Jiancai x Hou</dc:creator>
  <dc:description/>
  <cp:lastModifiedBy>Jiancai x Hou</cp:lastModifiedBy>
  <cp:revision>472</cp:revision>
  <dcterms:created xsi:type="dcterms:W3CDTF">2025-12-02T10:32:42Z</dcterms:created>
  <dcterms:modified xsi:type="dcterms:W3CDTF">2026-01-11T10:04:00Z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1</vt:i4>
  </property>
  <property fmtid="{D5CDD505-2E9C-101B-9397-08002B2CF9AE}" pid="3" name="Notes">
    <vt:i4>6</vt:i4>
  </property>
  <property fmtid="{D5CDD505-2E9C-101B-9397-08002B2CF9AE}" pid="4" name="PresentationFormat">
    <vt:lpwstr>Widescreen</vt:lpwstr>
  </property>
  <property fmtid="{D5CDD505-2E9C-101B-9397-08002B2CF9AE}" pid="5" name="Slides">
    <vt:i4>21</vt:i4>
  </property>
</Properties>
</file>