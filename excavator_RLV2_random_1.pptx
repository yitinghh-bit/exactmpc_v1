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_rels/notesSlide61.xml.rels" ContentType="application/vnd.openxmlformats-package.relationships+xml"/>
  <Override PartName="/ppt/notesSlides/_rels/notesSlide58.xml.rels" ContentType="application/vnd.openxmlformats-package.relationships+xml"/>
  <Override PartName="/ppt/notesSlides/notesSlide58.xml" ContentType="application/vnd.openxmlformats-officedocument.presentationml.notesSlide+xml"/>
  <Override PartName="/ppt/notesSlides/notesSlide61.xml" ContentType="application/vnd.openxmlformats-officedocument.presentationml.notesSlid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56.png" ContentType="image/png"/>
  <Override PartName="/ppt/media/image55.png" ContentType="image/png"/>
  <Override PartName="/ppt/media/image54.png" ContentType="image/png"/>
  <Override PartName="/ppt/media/image53.png" ContentType="image/png"/>
  <Override PartName="/ppt/media/image52.png" ContentType="image/png"/>
  <Override PartName="/ppt/media/image51.png" ContentType="image/png"/>
  <Override PartName="/ppt/media/image50.png" ContentType="image/png"/>
  <Override PartName="/ppt/media/image46.png" ContentType="image/png"/>
  <Override PartName="/ppt/media/image45.png" ContentType="image/png"/>
  <Override PartName="/ppt/media/image44.png" ContentType="image/png"/>
  <Override PartName="/ppt/media/image43.png" ContentType="image/png"/>
  <Override PartName="/ppt/media/image42.png" ContentType="image/png"/>
  <Override PartName="/ppt/media/image41.png" ContentType="image/png"/>
  <Override PartName="/ppt/media/image40.png" ContentType="image/png"/>
  <Override PartName="/ppt/media/image30.png" ContentType="image/png"/>
  <Override PartName="/ppt/media/image39.png" ContentType="image/png"/>
  <Override PartName="/ppt/media/image9.png" ContentType="image/png"/>
  <Override PartName="/ppt/media/image86.png" ContentType="image/png"/>
  <Override PartName="/ppt/media/image13.png" ContentType="image/png"/>
  <Override PartName="/ppt/media/image1.png" ContentType="image/png"/>
  <Override PartName="/ppt/media/image38.png" ContentType="image/png"/>
  <Override PartName="/ppt/media/image8.png" ContentType="image/png"/>
  <Override PartName="/ppt/media/image85.png" ContentType="image/png"/>
  <Override PartName="/ppt/media/image49.png" ContentType="image/png"/>
  <Override PartName="/ppt/media/image12.png" ContentType="image/png"/>
  <Override PartName="/ppt/media/image37.png" ContentType="image/png"/>
  <Override PartName="/ppt/media/image7.png" ContentType="image/png"/>
  <Override PartName="/ppt/media/image19.png" ContentType="image/png"/>
  <Override PartName="/ppt/media/image84.png" ContentType="image/png"/>
  <Override PartName="/ppt/media/image48.png" ContentType="image/png"/>
  <Override PartName="/ppt/media/image11.png" ContentType="image/png"/>
  <Override PartName="/ppt/media/image36.png" ContentType="image/png"/>
  <Override PartName="/ppt/media/image6.png" ContentType="image/png"/>
  <Override PartName="/ppt/media/image18.png" ContentType="image/png"/>
  <Override PartName="/ppt/media/image83.png" ContentType="image/png"/>
  <Override PartName="/ppt/media/image29.png" ContentType="image/png"/>
  <Override PartName="/ppt/media/image94.png" ContentType="image/png"/>
  <Override PartName="/ppt/media/image47.png" ContentType="image/png"/>
  <Override PartName="/ppt/media/image22.png" ContentType="image/png"/>
  <Override PartName="/ppt/media/image59.png" ContentType="image/png"/>
  <Override PartName="/ppt/media/image63.png" ContentType="image/png"/>
  <Override PartName="/ppt/media/image64.png" ContentType="image/png"/>
  <Override PartName="/ppt/media/image65.png" ContentType="image/png"/>
  <Override PartName="/ppt/media/image66.png" ContentType="image/png"/>
  <Override PartName="/ppt/media/image67.png" ContentType="image/png"/>
  <Override PartName="/ppt/media/image68.png" ContentType="image/png"/>
  <Override PartName="/ppt/media/image31.png" ContentType="image/png"/>
  <Override PartName="/ppt/media/image70.png" ContentType="image/png"/>
  <Override PartName="/ppt/media/image69.png" ContentType="image/png"/>
  <Override PartName="/ppt/media/image32.png" ContentType="image/png"/>
  <Override PartName="/ppt/media/image71.png" ContentType="image/png"/>
  <Override PartName="/ppt/media/image72.png" ContentType="image/png"/>
  <Override PartName="/ppt/media/image62.png" ContentType="image/png"/>
  <Override PartName="/ppt/media/image97.png" ContentType="image/png"/>
  <Override PartName="/ppt/media/image60.png" ContentType="image/png"/>
  <Override PartName="/ppt/media/image73.png" ContentType="image/png"/>
  <Override PartName="/ppt/media/image61.png" ContentType="image/png"/>
  <Override PartName="/ppt/media/image96.png" ContentType="image/png"/>
  <Override PartName="/ppt/media/image23.png" ContentType="image/png"/>
  <Override PartName="/ppt/media/image95.png" ContentType="image/png"/>
  <Override PartName="/ppt/media/image89.png" ContentType="image/png"/>
  <Override PartName="/ppt/media/image77.png" ContentType="image/png"/>
  <Override PartName="/ppt/media/image88.png" ContentType="image/png"/>
  <Override PartName="/ppt/media/image76.png" ContentType="image/png"/>
  <Override PartName="/ppt/media/image87.png" ContentType="image/png"/>
  <Override PartName="/ppt/media/image75.png" ContentType="image/png"/>
  <Override PartName="/ppt/media/image79.png" ContentType="image/png"/>
  <Override PartName="/ppt/media/image78.png" ContentType="image/png"/>
  <Override PartName="/ppt/media/image74.png" ContentType="image/png"/>
  <Override PartName="/ppt/media/image21.png" ContentType="image/png"/>
  <Override PartName="/ppt/media/image58.png" ContentType="image/png"/>
  <Override PartName="/ppt/media/image20.png" ContentType="image/png"/>
  <Override PartName="/ppt/media/image57.png" ContentType="image/png"/>
  <Override PartName="/ppt/media/image24.png" ContentType="image/png"/>
  <Override PartName="/ppt/media/image90.png" ContentType="image/png"/>
  <Override PartName="/ppt/media/image25.png" ContentType="image/png"/>
  <Override PartName="/ppt/media/image2.png" ContentType="image/png"/>
  <Override PartName="/ppt/media/image14.png" ContentType="image/png"/>
  <Override PartName="/ppt/media/image28.png" ContentType="image/png"/>
  <Override PartName="/ppt/media/image93.png" ContentType="image/png"/>
  <Override PartName="/ppt/media/image91.png" ContentType="image/png"/>
  <Override PartName="/ppt/media/image26.png" ContentType="image/png"/>
  <Override PartName="/ppt/media/image80.png" ContentType="image/png"/>
  <Override PartName="/ppt/media/image15.png" ContentType="image/png"/>
  <Override PartName="/ppt/media/image3.png" ContentType="image/png"/>
  <Override PartName="/ppt/media/image33.png" ContentType="image/png"/>
  <Override PartName="/ppt/media/image92.png" ContentType="image/png"/>
  <Override PartName="/ppt/media/image27.png" ContentType="image/png"/>
  <Override PartName="/ppt/media/image16.png" ContentType="image/png"/>
  <Override PartName="/ppt/media/image81.png" ContentType="image/png"/>
  <Override PartName="/ppt/media/image4.png" ContentType="image/png"/>
  <Override PartName="/ppt/media/image34.png" ContentType="image/png"/>
  <Override PartName="/ppt/media/image17.png" ContentType="image/png"/>
  <Override PartName="/ppt/media/image82.png" ContentType="image/png"/>
  <Override PartName="/ppt/media/image5.png" ContentType="image/png"/>
  <Override PartName="/ppt/media/image35.png" ContentType="image/png"/>
  <Override PartName="/ppt/media/image10.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56.xml" ContentType="application/vnd.openxmlformats-officedocument.presentationml.slide+xml"/>
  <Override PartName="/ppt/slides/slide55.xml" ContentType="application/vnd.openxmlformats-officedocument.presentationml.slide+xml"/>
  <Override PartName="/ppt/slides/slide47.xml" ContentType="application/vnd.openxmlformats-officedocument.presentationml.slide+xml"/>
  <Override PartName="/ppt/slides/slide42.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60.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61.xml" ContentType="application/vnd.openxmlformats-officedocument.presentationml.slide+xml"/>
  <Override PartName="/ppt/slides/slide19.xml" ContentType="application/vnd.openxmlformats-officedocument.presentationml.slide+xml"/>
  <Override PartName="/ppt/slides/slide24.xml" ContentType="application/vnd.openxmlformats-officedocument.presentationml.slide+xml"/>
  <Override PartName="/ppt/slides/slide5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58.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16.xml" ContentType="application/vnd.openxmlformats-officedocument.presentationml.slide+xml"/>
  <Override PartName="/ppt/slides/slide9.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_rels/slide53.xml.rels" ContentType="application/vnd.openxmlformats-package.relationships+xml"/>
  <Override PartName="/ppt/slides/_rels/slide46.xml.rels" ContentType="application/vnd.openxmlformats-package.relationships+xml"/>
  <Override PartName="/ppt/slides/_rels/slide27.xml.rels" ContentType="application/vnd.openxmlformats-package.relationships+xml"/>
  <Override PartName="/ppt/slides/_rels/slide43.xml.rels" ContentType="application/vnd.openxmlformats-package.relationships+xml"/>
  <Override PartName="/ppt/slides/_rels/slide8.xml.rels" ContentType="application/vnd.openxmlformats-package.relationships+xml"/>
  <Override PartName="/ppt/slides/_rels/slide2.xml.rels" ContentType="application/vnd.openxmlformats-package.relationships+xml"/>
  <Override PartName="/ppt/slides/_rels/slide36.xml.rels" ContentType="application/vnd.openxmlformats-package.relationships+xml"/>
  <Override PartName="/ppt/slides/_rels/slide21.xml.rels" ContentType="application/vnd.openxmlformats-package.relationships+xml"/>
  <Override PartName="/ppt/slides/_rels/slide17.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12.xml.rels" ContentType="application/vnd.openxmlformats-package.relationships+xml"/>
  <Override PartName="/ppt/slides/_rels/slide48.xml.rels" ContentType="application/vnd.openxmlformats-package.relationships+xml"/>
  <Override PartName="/ppt/slides/_rels/slide55.xml.rels" ContentType="application/vnd.openxmlformats-package.relationships+xml"/>
  <Override PartName="/ppt/slides/_rels/slide40.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41.xml.rels" ContentType="application/vnd.openxmlformats-package.relationships+xml"/>
  <Override PartName="/ppt/slides/_rels/slide50.xml.rels" ContentType="application/vnd.openxmlformats-package.relationships+xml"/>
  <Override PartName="/ppt/slides/_rels/slide34.xml.rels" ContentType="application/vnd.openxmlformats-package.relationships+xml"/>
  <Override PartName="/ppt/slides/_rels/slide49.xml.rels" ContentType="application/vnd.openxmlformats-package.relationships+xml"/>
  <Override PartName="/ppt/slides/_rels/slide42.xml.rels" ContentType="application/vnd.openxmlformats-package.relationships+xml"/>
  <Override PartName="/ppt/slides/_rels/slide7.xml.rels" ContentType="application/vnd.openxmlformats-package.relationships+xml"/>
  <Override PartName="/ppt/slides/_rels/slide35.xml.rels" ContentType="application/vnd.openxmlformats-package.relationships+xml"/>
  <Override PartName="/ppt/slides/_rels/slide51.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_rels/slide24.xml.rels" ContentType="application/vnd.openxmlformats-package.relationships+xml"/>
  <Override PartName="/ppt/slides/_rels/slide39.xml.rels" ContentType="application/vnd.openxmlformats-package.relationships+xml"/>
  <Override PartName="/ppt/slides/_rels/slide47.xml.rels" ContentType="application/vnd.openxmlformats-package.relationships+xml"/>
  <Override PartName="/ppt/slides/_rels/slide54.xml.rels" ContentType="application/vnd.openxmlformats-package.relationships+xml"/>
  <Override PartName="/ppt/slides/_rels/slide4.xml.rels" ContentType="application/vnd.openxmlformats-package.relationships+xml"/>
  <Override PartName="/ppt/slides/_rels/slide57.xml.rels" ContentType="application/vnd.openxmlformats-package.relationships+xml"/>
  <Override PartName="/ppt/slides/_rels/slide61.xml.rels" ContentType="application/vnd.openxmlformats-package.relationships+xml"/>
  <Override PartName="/ppt/slides/_rels/slide52.xml.rels" ContentType="application/vnd.openxmlformats-package.relationships+xml"/>
  <Override PartName="/ppt/slides/_rels/slide14.xml.rels" ContentType="application/vnd.openxmlformats-package.relationships+xml"/>
  <Override PartName="/ppt/slides/_rels/slide33.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8.xml.rels" ContentType="application/vnd.openxmlformats-package.relationships+xml"/>
  <Override PartName="/ppt/slides/_rels/slide45.xml.rels" ContentType="application/vnd.openxmlformats-package.relationships+xml"/>
  <Override PartName="/ppt/slides/_rels/slide28.xml.rels" ContentType="application/vnd.openxmlformats-package.relationships+xml"/>
  <Override PartName="/ppt/slides/_rels/slide18.xml.rels" ContentType="application/vnd.openxmlformats-package.relationships+xml"/>
  <Override PartName="/ppt/slides/_rels/slide22.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44.xml.rels" ContentType="application/vnd.openxmlformats-package.relationships+xml"/>
  <Override PartName="/ppt/slides/_rels/slide37.xml.rels" ContentType="application/vnd.openxmlformats-package.relationships+xml"/>
  <Override PartName="/ppt/slides/_rels/slide25.xml.rels" ContentType="application/vnd.openxmlformats-package.relationships+xml"/>
  <Override PartName="/ppt/slides/_rels/slide20.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2.xml.rels" ContentType="application/vnd.openxmlformats-package.relationships+xml"/>
  <Override PartName="/ppt/slides/_rels/slide56.xml.rels" ContentType="application/vnd.openxmlformats-package.relationships+xml"/>
  <Override PartName="/ppt/slides/_rels/slide60.xml.rels" ContentType="application/vnd.openxmlformats-package.relationships+xml"/>
  <Override PartName="/ppt/slides/_rels/slide10.xml.rels" ContentType="application/vnd.openxmlformats-package.relationships+xml"/>
  <Override PartName="/ppt/slides/_rels/slide59.xml.rels" ContentType="application/vnd.openxmlformats-package.relationships+xml"/>
  <Override PartName="/ppt/slides/_rels/slide23.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58.xml.rels" ContentType="application/vnd.openxmlformats-package.relationships+xml"/>
  <Override PartName="/ppt/slides/slide6.xml" ContentType="application/vnd.openxmlformats-officedocument.presentationml.slide+xml"/>
  <Override PartName="/ppt/slides/slide1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buNone/>
            </a:pPr>
            <a:r>
              <a:rPr b="0" lang="en-US" sz="4400" spc="-1" strike="noStrike">
                <a:latin typeface="Arial"/>
              </a:rPr>
              <a:t>Click to move the slide</a:t>
            </a:r>
            <a:endParaRPr b="0" lang="en-US" sz="4400" spc="-1" strike="noStrike">
              <a:latin typeface="Arial"/>
            </a:endParaRPr>
          </a:p>
        </p:txBody>
      </p:sp>
      <p:sp>
        <p:nvSpPr>
          <p:cNvPr id="83"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84" name="PlaceHolder 3"/>
          <p:cNvSpPr>
            <a:spLocks noGrp="1"/>
          </p:cNvSpPr>
          <p:nvPr>
            <p:ph type="hdr"/>
          </p:nvPr>
        </p:nvSpPr>
        <p:spPr>
          <a:xfrm>
            <a:off x="0" y="0"/>
            <a:ext cx="3372840" cy="50256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85" name="PlaceHolder 4"/>
          <p:cNvSpPr>
            <a:spLocks noGrp="1"/>
          </p:cNvSpPr>
          <p:nvPr>
            <p:ph type="dt" idx="7"/>
          </p:nvPr>
        </p:nvSpPr>
        <p:spPr>
          <a:xfrm>
            <a:off x="4399200" y="0"/>
            <a:ext cx="3372840" cy="50256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86" name="PlaceHolder 5"/>
          <p:cNvSpPr>
            <a:spLocks noGrp="1"/>
          </p:cNvSpPr>
          <p:nvPr>
            <p:ph type="ftr" idx="8"/>
          </p:nvPr>
        </p:nvSpPr>
        <p:spPr>
          <a:xfrm>
            <a:off x="0" y="9555480"/>
            <a:ext cx="3372840" cy="50256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87" name="PlaceHolder 6"/>
          <p:cNvSpPr>
            <a:spLocks noGrp="1"/>
          </p:cNvSpPr>
          <p:nvPr>
            <p:ph type="sldNum" idx="9"/>
          </p:nvPr>
        </p:nvSpPr>
        <p:spPr>
          <a:xfrm>
            <a:off x="4399200" y="9555480"/>
            <a:ext cx="3372840" cy="50256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C16468CD-FF9A-4C42-B589-38606DC2E3E5}"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685800" y="1143000"/>
            <a:ext cx="5481360" cy="3081240"/>
          </a:xfrm>
          <a:prstGeom prst="rect">
            <a:avLst/>
          </a:prstGeom>
          <a:ln w="0">
            <a:noFill/>
          </a:ln>
        </p:spPr>
      </p:sp>
      <p:sp>
        <p:nvSpPr>
          <p:cNvPr id="321" name="PlaceHolder 2"/>
          <p:cNvSpPr>
            <a:spLocks noGrp="1"/>
          </p:cNvSpPr>
          <p:nvPr>
            <p:ph type="body"/>
          </p:nvPr>
        </p:nvSpPr>
        <p:spPr>
          <a:xfrm>
            <a:off x="685800" y="4400640"/>
            <a:ext cx="5481360" cy="3595320"/>
          </a:xfrm>
          <a:prstGeom prst="rect">
            <a:avLst/>
          </a:prstGeom>
          <a:noFill/>
          <a:ln w="0">
            <a:noFill/>
          </a:ln>
        </p:spPr>
        <p:txBody>
          <a:bodyPr lIns="0" rIns="0" tIns="0" bIns="0" anchor="t">
            <a:noAutofit/>
          </a:bodyPr>
          <a:p>
            <a:endParaRPr b="0" lang="en-US" sz="2000" spc="-1" strike="noStrike">
              <a:latin typeface="Arial"/>
            </a:endParaRPr>
          </a:p>
        </p:txBody>
      </p:sp>
      <p:sp>
        <p:nvSpPr>
          <p:cNvPr id="322" name="PlaceHolder 3"/>
          <p:cNvSpPr>
            <a:spLocks noGrp="1"/>
          </p:cNvSpPr>
          <p:nvPr>
            <p:ph type="sldNum" idx="10"/>
          </p:nvPr>
        </p:nvSpPr>
        <p:spPr>
          <a:xfrm>
            <a:off x="3884760" y="8685360"/>
            <a:ext cx="2966760" cy="4536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58B049E6-FF4C-4E3A-A11A-1CA8199D4444}" type="slidenum">
              <a:rPr b="0" lang="en-US" sz="1200" spc="-1" strike="noStrike">
                <a:latin typeface="Times New Roman"/>
              </a:rPr>
              <a:t>&lt;number&gt;</a:t>
            </a:fld>
            <a:endParaRPr b="0" lang="en-US" sz="1200" spc="-1" strike="noStrike">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sldImg"/>
          </p:nvPr>
        </p:nvSpPr>
        <p:spPr>
          <a:xfrm>
            <a:off x="685800" y="1143000"/>
            <a:ext cx="5481360" cy="3081240"/>
          </a:xfrm>
          <a:prstGeom prst="rect">
            <a:avLst/>
          </a:prstGeom>
          <a:ln w="0">
            <a:noFill/>
          </a:ln>
        </p:spPr>
      </p:sp>
      <p:sp>
        <p:nvSpPr>
          <p:cNvPr id="324" name="PlaceHolder 2"/>
          <p:cNvSpPr>
            <a:spLocks noGrp="1"/>
          </p:cNvSpPr>
          <p:nvPr>
            <p:ph type="body"/>
          </p:nvPr>
        </p:nvSpPr>
        <p:spPr>
          <a:xfrm>
            <a:off x="685800" y="4400640"/>
            <a:ext cx="5481360" cy="3595320"/>
          </a:xfrm>
          <a:prstGeom prst="rect">
            <a:avLst/>
          </a:prstGeom>
          <a:noFill/>
          <a:ln w="0">
            <a:noFill/>
          </a:ln>
        </p:spPr>
        <p:txBody>
          <a:bodyPr lIns="0" rIns="0" tIns="0" bIns="0" anchor="t">
            <a:noAutofit/>
          </a:bodyPr>
          <a:p>
            <a:endParaRPr b="0" lang="en-US" sz="2000" spc="-1" strike="noStrike">
              <a:latin typeface="Arial"/>
            </a:endParaRPr>
          </a:p>
        </p:txBody>
      </p:sp>
      <p:sp>
        <p:nvSpPr>
          <p:cNvPr id="325" name="PlaceHolder 3"/>
          <p:cNvSpPr>
            <a:spLocks noGrp="1"/>
          </p:cNvSpPr>
          <p:nvPr>
            <p:ph type="sldNum" idx="11"/>
          </p:nvPr>
        </p:nvSpPr>
        <p:spPr>
          <a:xfrm>
            <a:off x="3884760" y="8685360"/>
            <a:ext cx="2966760" cy="453600"/>
          </a:xfrm>
          <a:prstGeom prst="rect">
            <a:avLst/>
          </a:prstGeom>
          <a:noFill/>
          <a:ln w="0">
            <a:noFill/>
          </a:ln>
        </p:spPr>
        <p:txBody>
          <a:bodyPr lIns="0" rIns="0" tIns="0" bIns="0" anchor="b">
            <a:noAutofit/>
          </a:bodyPr>
          <a:lstStyle>
            <a:lvl1pPr algn="r">
              <a:lnSpc>
                <a:spcPct val="100000"/>
              </a:lnSpc>
              <a:buNone/>
              <a:defRPr b="0" lang="en-US" sz="1200" spc="-1" strike="noStrike">
                <a:latin typeface="Times New Roman"/>
              </a:defRPr>
            </a:lvl1pPr>
          </a:lstStyle>
          <a:p>
            <a:pPr algn="r">
              <a:lnSpc>
                <a:spcPct val="100000"/>
              </a:lnSpc>
              <a:buNone/>
            </a:pPr>
            <a:fld id="{1B9FE2D3-AE69-4A9F-B403-8270F497BACD}" type="slidenum">
              <a:rPr b="0" lang="en-US" sz="1200" spc="-1" strike="noStrike">
                <a:latin typeface="Times New Roman"/>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1DA5446A-22A9-4F52-A893-77864D47AE17}"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69E6F84-9CD1-4780-81D1-5E347443C01F}"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0D879ADC-061C-45CF-9BAB-0D1369C94CB0}"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33DCBB5F-637C-457B-A0BB-ACFF87589E22}"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D3606EA5-2471-4200-A82D-20816332C8BD}"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FC340AAC-5C2A-44C2-BDE0-856457F7599E}"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629C6868-3A1C-4B93-B897-3F7CCCA64859}"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3D5063F4-84AE-4394-A983-4EF2056F719E}"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2D495ADA-428C-4327-9EE1-C66FFE6421AB}"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1017BAC3-F5F9-4F22-AABF-F588761CE62E}"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F915C5F3-1643-4A44-97F1-F938375C308A}"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9E793736-ED6B-4563-B38F-AF656F813046}"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B079A4AB-76D7-435F-8B94-D03373B23E42}"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CB44EAE1-3838-4C0C-B440-DC6426DAF0B0}"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1CF3BB19-CACC-41F6-972A-023046BA81AF}"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856BF821-BE2D-4BBE-99C3-570DF792A03A}"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368EB2C2-77E4-4B6C-BED4-624633F49E8C}"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7276065C-0C9E-4B56-8C69-F74D111635D6}"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A5C8D3BC-8986-4261-A0AB-14B8BA6C9F1B}"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2"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12A16FB0-E52F-42D2-843D-54083CDAB02F}"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6"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4E7DDE44-BF1A-4B6D-B95B-F42F180E4755}"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8"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9"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3798AB92-1ECA-4CC9-BA73-47191A7AC970}"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4"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1EC7A42D-445A-4E37-8688-8AAB04DC4ED1}"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6"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7"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9"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0"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1"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DDDCE340-E0EB-44CC-923E-9B448EC4E325}" type="slidenum">
              <a:t>&lt;#&gt;</a:t>
            </a:fld>
          </a:p>
        </p:txBody>
      </p:sp>
      <p:sp>
        <p:nvSpPr>
          <p:cNvPr id="11" name="PlaceHolder 10"/>
          <p:cNvSpPr>
            <a:spLocks noGrp="1"/>
          </p:cNvSpPr>
          <p:nvPr>
            <p:ph type="dt" idx="6"/>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4038480" y="6356520"/>
            <a:ext cx="4109760" cy="360000"/>
          </a:xfrm>
          <a:prstGeom prst="rect">
            <a:avLst/>
          </a:prstGeom>
          <a:noFill/>
          <a:ln w="0">
            <a:noFill/>
          </a:ln>
        </p:spPr>
        <p:txBody>
          <a:bodyPr lIns="90000" rIns="90000" tIns="45000" bIns="45000" anchor="ctr">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1" name="PlaceHolder 2"/>
          <p:cNvSpPr>
            <a:spLocks noGrp="1"/>
          </p:cNvSpPr>
          <p:nvPr>
            <p:ph type="sldNum" idx="2"/>
          </p:nvPr>
        </p:nvSpPr>
        <p:spPr>
          <a:xfrm>
            <a:off x="8610480" y="6356520"/>
            <a:ext cx="2738160" cy="360000"/>
          </a:xfrm>
          <a:prstGeom prst="rect">
            <a:avLst/>
          </a:prstGeom>
          <a:noFill/>
          <a:ln w="0">
            <a:noFill/>
          </a:ln>
        </p:spPr>
        <p:txBody>
          <a:bodyPr lIns="90000" rIns="90000" tIns="45000" bIns="45000" anchor="ctr">
            <a:noAutofit/>
          </a:bodyPr>
          <a:lstStyle>
            <a:lvl1pPr algn="r">
              <a:lnSpc>
                <a:spcPct val="100000"/>
              </a:lnSpc>
              <a:buNone/>
              <a:defRPr b="0" lang="en-US" sz="1200" spc="-1" strike="noStrike">
                <a:solidFill>
                  <a:srgbClr val="787878"/>
                </a:solidFill>
                <a:latin typeface="等线"/>
              </a:defRPr>
            </a:lvl1pPr>
          </a:lstStyle>
          <a:p>
            <a:pPr algn="r">
              <a:lnSpc>
                <a:spcPct val="100000"/>
              </a:lnSpc>
              <a:buNone/>
            </a:pPr>
            <a:fld id="{3000F424-8906-4C74-B8D6-E436FAD10583}" type="slidenum">
              <a:rPr b="0" lang="en-US" sz="1200" spc="-1" strike="noStrike">
                <a:solidFill>
                  <a:srgbClr val="787878"/>
                </a:solidFill>
                <a:latin typeface="等线"/>
              </a:rPr>
              <a:t>&lt;number&gt;</a:t>
            </a:fld>
            <a:endParaRPr b="0" lang="en-US" sz="1200" spc="-1" strike="noStrike">
              <a:latin typeface="Times New Roman"/>
            </a:endParaRPr>
          </a:p>
        </p:txBody>
      </p:sp>
      <p:sp>
        <p:nvSpPr>
          <p:cNvPr id="2" name="PlaceHolder 3"/>
          <p:cNvSpPr>
            <a:spLocks noGrp="1"/>
          </p:cNvSpPr>
          <p:nvPr>
            <p:ph type="dt" idx="3"/>
          </p:nvPr>
        </p:nvSpPr>
        <p:spPr>
          <a:xfrm>
            <a:off x="838080" y="6356520"/>
            <a:ext cx="2738160" cy="36000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3"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ftr" idx="4"/>
          </p:nvPr>
        </p:nvSpPr>
        <p:spPr>
          <a:xfrm>
            <a:off x="4038480" y="6356520"/>
            <a:ext cx="4109760" cy="360000"/>
          </a:xfrm>
          <a:prstGeom prst="rect">
            <a:avLst/>
          </a:prstGeom>
          <a:noFill/>
          <a:ln w="0">
            <a:noFill/>
          </a:ln>
        </p:spPr>
        <p:txBody>
          <a:bodyPr lIns="90000" rIns="90000" tIns="45000" bIns="45000" anchor="ctr">
            <a:noAutofit/>
          </a:bodyPr>
          <a:lstStyle>
            <a:lvl1pPr algn="ctr">
              <a:lnSpc>
                <a:spcPct val="100000"/>
              </a:lnSpc>
              <a:buNone/>
              <a:defRPr b="0" lang="en-US" sz="1400" spc="-1" strike="noStrike">
                <a:latin typeface="Times New Roman"/>
              </a:defRPr>
            </a:lvl1pPr>
          </a:lstStyle>
          <a:p>
            <a:pPr algn="ctr">
              <a:lnSpc>
                <a:spcPct val="100000"/>
              </a:lnSpc>
              <a:buNone/>
            </a:pPr>
            <a:r>
              <a:rPr b="0" lang="en-US" sz="1400" spc="-1" strike="noStrike">
                <a:latin typeface="Times New Roman"/>
              </a:rPr>
              <a:t>&lt;footer&gt;</a:t>
            </a:r>
            <a:endParaRPr b="0" lang="en-US" sz="1400" spc="-1" strike="noStrike">
              <a:latin typeface="Times New Roman"/>
            </a:endParaRPr>
          </a:p>
        </p:txBody>
      </p:sp>
      <p:sp>
        <p:nvSpPr>
          <p:cNvPr id="42" name="PlaceHolder 2"/>
          <p:cNvSpPr>
            <a:spLocks noGrp="1"/>
          </p:cNvSpPr>
          <p:nvPr>
            <p:ph type="sldNum" idx="5"/>
          </p:nvPr>
        </p:nvSpPr>
        <p:spPr>
          <a:xfrm>
            <a:off x="8610480" y="6356520"/>
            <a:ext cx="2738160" cy="360000"/>
          </a:xfrm>
          <a:prstGeom prst="rect">
            <a:avLst/>
          </a:prstGeom>
          <a:noFill/>
          <a:ln w="0">
            <a:noFill/>
          </a:ln>
        </p:spPr>
        <p:txBody>
          <a:bodyPr lIns="90000" rIns="90000" tIns="45000" bIns="45000" anchor="ctr">
            <a:noAutofit/>
          </a:bodyPr>
          <a:lstStyle>
            <a:lvl1pPr algn="r">
              <a:lnSpc>
                <a:spcPct val="100000"/>
              </a:lnSpc>
              <a:buNone/>
              <a:defRPr b="0" lang="en-US" sz="1200" spc="-1" strike="noStrike">
                <a:solidFill>
                  <a:srgbClr val="787878"/>
                </a:solidFill>
                <a:latin typeface="等线"/>
              </a:defRPr>
            </a:lvl1pPr>
          </a:lstStyle>
          <a:p>
            <a:pPr algn="r">
              <a:lnSpc>
                <a:spcPct val="100000"/>
              </a:lnSpc>
              <a:buNone/>
            </a:pPr>
            <a:fld id="{7FCC036F-E8A5-45A8-B1C5-ABA301313A1A}" type="slidenum">
              <a:rPr b="0" lang="en-US" sz="1200" spc="-1" strike="noStrike">
                <a:solidFill>
                  <a:srgbClr val="787878"/>
                </a:solidFill>
                <a:latin typeface="等线"/>
              </a:rPr>
              <a:t>&lt;number&gt;</a:t>
            </a:fld>
            <a:endParaRPr b="0" lang="en-US" sz="1200" spc="-1" strike="noStrike">
              <a:latin typeface="Times New Roman"/>
            </a:endParaRPr>
          </a:p>
        </p:txBody>
      </p:sp>
      <p:sp>
        <p:nvSpPr>
          <p:cNvPr id="43" name="PlaceHolder 3"/>
          <p:cNvSpPr>
            <a:spLocks noGrp="1"/>
          </p:cNvSpPr>
          <p:nvPr>
            <p:ph type="dt" idx="6"/>
          </p:nvPr>
        </p:nvSpPr>
        <p:spPr>
          <a:xfrm>
            <a:off x="838080" y="6356520"/>
            <a:ext cx="2738160" cy="36000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44"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45"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png"/><Relationship Id="rId3"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image" Target="../media/image54.png"/><Relationship Id="rId3"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image" Target="../media/image56.png"/><Relationship Id="rId3" Type="http://schemas.openxmlformats.org/officeDocument/2006/relationships/hyperlink" Target="https://github.com/yitingHH-bit/manager_based/blob/main/masi_pefect_one_V25_21_12.zip" TargetMode="External"/><Relationship Id="rId4" Type="http://schemas.openxmlformats.org/officeDocument/2006/relationships/image" Target="../media/image57.png"/><Relationship Id="rId5"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image" Target="../media/image59.png"/><Relationship Id="rId3"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60.png"/><Relationship Id="rId2"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
</Relationships>
</file>

<file path=ppt/slides/_rels/slide35.xml.rels><?xml version="1.0" encoding="UTF-8"?>
<Relationships xmlns="http://schemas.openxmlformats.org/package/2006/relationships"><Relationship Id="rId1" Type="http://schemas.openxmlformats.org/officeDocument/2006/relationships/image" Target="../media/image63.png"/><Relationship Id="rId2" Type="http://schemas.openxmlformats.org/officeDocument/2006/relationships/image" Target="../media/image64.png"/><Relationship Id="rId3"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66.png"/><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image" Target="../media/image70.png"/><Relationship Id="rId2" Type="http://schemas.openxmlformats.org/officeDocument/2006/relationships/image" Target="../media/image71.png"/><Relationship Id="rId3"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image" Target="../media/image72.png"/><Relationship Id="rId2"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image" Target="../media/image73.png"/><Relationship Id="rId2" Type="http://schemas.openxmlformats.org/officeDocument/2006/relationships/slideLayout" Target="../slideLayouts/slideLayout1.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Relationships xmlns="http://schemas.openxmlformats.org/package/2006/relationships"><Relationship Id="rId1" Type="http://schemas.openxmlformats.org/officeDocument/2006/relationships/image" Target="../media/image74.png"/><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slideLayout" Target="../slideLayouts/slideLayout1.xml"/>
</Relationships>
</file>

<file path=ppt/slides/_rels/slide44.xml.rels><?xml version="1.0" encoding="UTF-8"?>
<Relationships xmlns="http://schemas.openxmlformats.org/package/2006/relationships"><Relationship Id="rId1" Type="http://schemas.openxmlformats.org/officeDocument/2006/relationships/image" Target="../media/image78.png"/><Relationship Id="rId2" Type="http://schemas.openxmlformats.org/officeDocument/2006/relationships/image" Target="../media/image79.png"/><Relationship Id="rId3" Type="http://schemas.openxmlformats.org/officeDocument/2006/relationships/slideLayout" Target="../slideLayouts/slideLayout1.xml"/>
</Relationships>
</file>

<file path=ppt/slides/_rels/slide45.xml.rels><?xml version="1.0" encoding="UTF-8"?>
<Relationships xmlns="http://schemas.openxmlformats.org/package/2006/relationships"><Relationship Id="rId1" Type="http://schemas.openxmlformats.org/officeDocument/2006/relationships/image" Target="../media/image80.png"/><Relationship Id="rId2" Type="http://schemas.openxmlformats.org/officeDocument/2006/relationships/image" Target="../media/image81.png"/><Relationship Id="rId3" Type="http://schemas.openxmlformats.org/officeDocument/2006/relationships/slideLayout" Target="../slideLayouts/slideLayout1.xml"/>
</Relationships>
</file>

<file path=ppt/slides/_rels/slide46.xml.rels><?xml version="1.0" encoding="UTF-8"?>
<Relationships xmlns="http://schemas.openxmlformats.org/package/2006/relationships"><Relationship Id="rId1" Type="http://schemas.openxmlformats.org/officeDocument/2006/relationships/image" Target="../media/image82.png"/><Relationship Id="rId2" Type="http://schemas.openxmlformats.org/officeDocument/2006/relationships/image" Target="../media/image83.png"/><Relationship Id="rId3" Type="http://schemas.openxmlformats.org/officeDocument/2006/relationships/slideLayout" Target="../slideLayouts/slideLayout1.xml"/>
</Relationships>
</file>

<file path=ppt/slides/_rels/slide47.xml.rels><?xml version="1.0" encoding="UTF-8"?>
<Relationships xmlns="http://schemas.openxmlformats.org/package/2006/relationships"><Relationship Id="rId1" Type="http://schemas.openxmlformats.org/officeDocument/2006/relationships/image" Target="../media/image84.png"/><Relationship Id="rId2" Type="http://schemas.openxmlformats.org/officeDocument/2006/relationships/slideLayout" Target="../slideLayouts/slideLayout1.xml"/>
</Relationships>
</file>

<file path=ppt/slides/_rels/slide48.xml.rels><?xml version="1.0" encoding="UTF-8"?>
<Relationships xmlns="http://schemas.openxmlformats.org/package/2006/relationships"><Relationship Id="rId1" Type="http://schemas.openxmlformats.org/officeDocument/2006/relationships/image" Target="../media/image85.png"/><Relationship Id="rId2" Type="http://schemas.openxmlformats.org/officeDocument/2006/relationships/image" Target="../media/image86.png"/><Relationship Id="rId3" Type="http://schemas.openxmlformats.org/officeDocument/2006/relationships/slideLayout" Target="../slideLayouts/slideLayout1.xml"/>
</Relationships>
</file>

<file path=ppt/slides/_rels/slide49.xml.rels><?xml version="1.0" encoding="UTF-8"?>
<Relationships xmlns="http://schemas.openxmlformats.org/package/2006/relationships"><Relationship Id="rId1" Type="http://schemas.openxmlformats.org/officeDocument/2006/relationships/image" Target="../media/image87.png"/><Relationship Id="rId2"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image" Target="../media/image88.png"/><Relationship Id="rId2"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image" Target="../media/image89.png"/><Relationship Id="rId2"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image" Target="../media/image90.png"/><Relationship Id="rId2" Type="http://schemas.openxmlformats.org/officeDocument/2006/relationships/image" Target="../media/image91.png"/><Relationship Id="rId3"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image" Target="../media/image92.png"/><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image" Target="../media/image95.png"/><Relationship Id="rId2" Type="http://schemas.openxmlformats.org/officeDocument/2006/relationships/image" Target="../media/image96.png"/><Relationship Id="rId3" Type="http://schemas.openxmlformats.org/officeDocument/2006/relationships/image" Target="../media/image97.png"/><Relationship Id="rId4" Type="http://schemas.openxmlformats.org/officeDocument/2006/relationships/slideLayout" Target="../slideLayouts/slideLayout1.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 name="" descr=""/>
          <p:cNvPicPr/>
          <p:nvPr/>
        </p:nvPicPr>
        <p:blipFill>
          <a:blip r:embed="rId1"/>
          <a:stretch/>
        </p:blipFill>
        <p:spPr>
          <a:xfrm>
            <a:off x="6629760" y="3600720"/>
            <a:ext cx="5024160" cy="2823840"/>
          </a:xfrm>
          <a:prstGeom prst="rect">
            <a:avLst/>
          </a:prstGeom>
          <a:ln w="0">
            <a:noFill/>
          </a:ln>
        </p:spPr>
      </p:pic>
      <p:pic>
        <p:nvPicPr>
          <p:cNvPr id="89" name="" descr=""/>
          <p:cNvPicPr/>
          <p:nvPr/>
        </p:nvPicPr>
        <p:blipFill>
          <a:blip r:embed="rId2"/>
          <a:stretch/>
        </p:blipFill>
        <p:spPr>
          <a:xfrm>
            <a:off x="6629400" y="228600"/>
            <a:ext cx="4939920" cy="3081240"/>
          </a:xfrm>
          <a:prstGeom prst="rect">
            <a:avLst/>
          </a:prstGeom>
          <a:ln w="0">
            <a:noFill/>
          </a:ln>
        </p:spPr>
      </p:pic>
      <p:pic>
        <p:nvPicPr>
          <p:cNvPr id="90" name="" descr=""/>
          <p:cNvPicPr/>
          <p:nvPr/>
        </p:nvPicPr>
        <p:blipFill>
          <a:blip r:embed="rId3"/>
          <a:stretch/>
        </p:blipFill>
        <p:spPr>
          <a:xfrm>
            <a:off x="572040" y="3476520"/>
            <a:ext cx="4681080" cy="2919600"/>
          </a:xfrm>
          <a:prstGeom prst="rect">
            <a:avLst/>
          </a:prstGeom>
          <a:ln w="0">
            <a:noFill/>
          </a:ln>
        </p:spPr>
      </p:pic>
      <p:sp>
        <p:nvSpPr>
          <p:cNvPr id="91" name=""/>
          <p:cNvSpPr/>
          <p:nvPr/>
        </p:nvSpPr>
        <p:spPr>
          <a:xfrm>
            <a:off x="2057400" y="5486400"/>
            <a:ext cx="4438440" cy="5979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Episode_Reward/action_rate: 0.0000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Metrics/ee_pose/position_error: 0.0680</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2" name="" descr=""/>
          <p:cNvPicPr/>
          <p:nvPr/>
        </p:nvPicPr>
        <p:blipFill>
          <a:blip r:embed="rId1"/>
          <a:stretch/>
        </p:blipFill>
        <p:spPr>
          <a:xfrm>
            <a:off x="457200" y="228600"/>
            <a:ext cx="6710400" cy="4272120"/>
          </a:xfrm>
          <a:prstGeom prst="rect">
            <a:avLst/>
          </a:prstGeom>
          <a:ln w="0">
            <a:noFill/>
          </a:ln>
        </p:spPr>
      </p:pic>
      <p:pic>
        <p:nvPicPr>
          <p:cNvPr id="93" name="" descr=""/>
          <p:cNvPicPr/>
          <p:nvPr/>
        </p:nvPicPr>
        <p:blipFill>
          <a:blip r:embed="rId2"/>
          <a:stretch/>
        </p:blipFill>
        <p:spPr>
          <a:xfrm>
            <a:off x="4800600" y="1371600"/>
            <a:ext cx="6710400" cy="4272120"/>
          </a:xfrm>
          <a:prstGeom prst="rect">
            <a:avLst/>
          </a:prstGeom>
          <a:ln w="0">
            <a:noFill/>
          </a:ln>
        </p:spPr>
      </p:pic>
      <p:pic>
        <p:nvPicPr>
          <p:cNvPr id="94" name="" descr=""/>
          <p:cNvPicPr/>
          <p:nvPr/>
        </p:nvPicPr>
        <p:blipFill>
          <a:blip r:embed="rId3"/>
          <a:stretch/>
        </p:blipFill>
        <p:spPr>
          <a:xfrm>
            <a:off x="8915400" y="3886200"/>
            <a:ext cx="2621520" cy="166788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
          <p:cNvSpPr/>
          <p:nvPr/>
        </p:nvSpPr>
        <p:spPr>
          <a:xfrm>
            <a:off x="228600" y="457200"/>
            <a:ext cx="12011760" cy="7891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The current issue is that when the claw encounters an obstacle, it doesn't descend vertically. Could we modify the logic so that when the claw attempts to move forward, it shifts downward once it reaches a certain distance from the target point (log)? This way, log would be directly beneath the claw. As the claw wraps around the target, it would exert upward force to lift it.</a:t>
            </a:r>
            <a:endParaRPr b="0" lang="en-US" sz="1000" spc="-1" strike="noStrike">
              <a:latin typeface="Arial"/>
            </a:endParaRPr>
          </a:p>
          <a:p>
            <a:pPr>
              <a:lnSpc>
                <a:spcPct val="100000"/>
              </a:lnSpc>
              <a:buNone/>
            </a:pPr>
            <a:endParaRPr b="0" lang="en-US" sz="1000" spc="-1" strike="noStrike">
              <a:latin typeface="Arial"/>
            </a:endParaRPr>
          </a:p>
        </p:txBody>
      </p:sp>
      <p:sp>
        <p:nvSpPr>
          <p:cNvPr id="96" name=""/>
          <p:cNvSpPr/>
          <p:nvPr/>
        </p:nvSpPr>
        <p:spPr>
          <a:xfrm>
            <a:off x="228600" y="2058120"/>
            <a:ext cx="3881880" cy="2052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sync_command_with_log = EventTerm( func=mdp.sync_ee_pose_to_log_center, mode="interval", interval_range_s=(0.0, 0.0), # </a:t>
            </a:r>
            <a:r>
              <a:rPr b="0" lang="zh-CN" sz="1000" spc="-1" strike="noStrike">
                <a:solidFill>
                  <a:srgbClr val="000000"/>
                </a:solidFill>
                <a:latin typeface="Arial"/>
                <a:ea typeface="DejaVu Sans"/>
              </a:rPr>
              <a:t>每步更新 </a:t>
            </a:r>
            <a:r>
              <a:rPr b="0" lang="en-US" sz="1000" spc="-1" strike="noStrike">
                <a:solidFill>
                  <a:srgbClr val="000000"/>
                </a:solidFill>
                <a:latin typeface="Arial"/>
                <a:ea typeface="DejaVu Sans"/>
              </a:rPr>
              <a:t>params={ "command_name": "ee_pose", "robot_asset_cfg": SceneEntityCfg("robot"), "log_asset_cfg": SceneEntityCfg("log"), "z_offset": 0.0, # </a:t>
            </a:r>
            <a:r>
              <a:rPr b="0" lang="zh-CN" sz="1000" spc="-1" strike="noStrike">
                <a:solidFill>
                  <a:srgbClr val="000000"/>
                </a:solidFill>
                <a:latin typeface="Arial"/>
                <a:ea typeface="DejaVu Sans"/>
              </a:rPr>
              <a:t>目标</a:t>
            </a:r>
            <a:r>
              <a:rPr b="0" lang="en-US" sz="1000" spc="-1" strike="noStrike">
                <a:solidFill>
                  <a:srgbClr val="000000"/>
                </a:solidFill>
                <a:latin typeface="Arial"/>
                <a:ea typeface="DejaVu Sans"/>
              </a:rPr>
              <a:t>=log</a:t>
            </a:r>
            <a:r>
              <a:rPr b="0" lang="zh-CN" sz="1000" spc="-1" strike="noStrike">
                <a:solidFill>
                  <a:srgbClr val="000000"/>
                </a:solidFill>
                <a:latin typeface="Arial"/>
                <a:ea typeface="DejaVu Sans"/>
              </a:rPr>
              <a:t>中心；如果想抓上表面可设 </a:t>
            </a:r>
            <a:r>
              <a:rPr b="0" lang="en-US" sz="1000" spc="-1" strike="noStrike">
                <a:solidFill>
                  <a:srgbClr val="000000"/>
                </a:solidFill>
                <a:latin typeface="Arial"/>
                <a:ea typeface="DejaVu Sans"/>
              </a:rPr>
              <a:t>0.02 },</a:t>
            </a:r>
            <a:endParaRPr b="0" lang="en-US" sz="1000" spc="-1" strike="noStrike">
              <a:latin typeface="Arial"/>
            </a:endParaRPr>
          </a:p>
        </p:txBody>
      </p:sp>
      <p:pic>
        <p:nvPicPr>
          <p:cNvPr id="97" name="" descr=""/>
          <p:cNvPicPr/>
          <p:nvPr/>
        </p:nvPicPr>
        <p:blipFill>
          <a:blip r:embed="rId1"/>
          <a:stretch/>
        </p:blipFill>
        <p:spPr>
          <a:xfrm>
            <a:off x="4343400" y="1143000"/>
            <a:ext cx="5567400" cy="354420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8" name="" descr=""/>
          <p:cNvPicPr/>
          <p:nvPr/>
        </p:nvPicPr>
        <p:blipFill>
          <a:blip r:embed="rId1"/>
          <a:stretch/>
        </p:blipFill>
        <p:spPr>
          <a:xfrm>
            <a:off x="143280" y="295560"/>
            <a:ext cx="5567400" cy="3544200"/>
          </a:xfrm>
          <a:prstGeom prst="rect">
            <a:avLst/>
          </a:prstGeom>
          <a:ln w="0">
            <a:noFill/>
          </a:ln>
        </p:spPr>
      </p:pic>
      <p:sp>
        <p:nvSpPr>
          <p:cNvPr id="99" name=""/>
          <p:cNvSpPr/>
          <p:nvPr/>
        </p:nvSpPr>
        <p:spPr>
          <a:xfrm>
            <a:off x="914400" y="4069800"/>
            <a:ext cx="3594600" cy="2692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zh-CN" sz="1000" spc="-1" strike="noStrike">
                <a:solidFill>
                  <a:srgbClr val="000000"/>
                </a:solidFill>
                <a:latin typeface="Arial"/>
                <a:ea typeface="DejaVu Sans"/>
              </a:rPr>
              <a:t>夹爪关节 </a:t>
            </a:r>
            <a:r>
              <a:rPr b="0" lang="en-US" sz="1000" spc="-1" strike="noStrike">
                <a:solidFill>
                  <a:srgbClr val="000000"/>
                </a:solidFill>
                <a:latin typeface="Arial"/>
                <a:ea typeface="DejaVu Sans"/>
              </a:rPr>
              <a:t>limit </a:t>
            </a:r>
            <a:r>
              <a:rPr b="0" lang="zh-CN" sz="1000" spc="-1" strike="noStrike">
                <a:solidFill>
                  <a:srgbClr val="000000"/>
                </a:solidFill>
                <a:latin typeface="Arial"/>
                <a:ea typeface="DejaVu Sans"/>
              </a:rPr>
              <a:t>本来就没到 </a:t>
            </a:r>
            <a:r>
              <a:rPr b="0" lang="en-US" sz="1000" spc="-1" strike="noStrike">
                <a:solidFill>
                  <a:srgbClr val="000000"/>
                </a:solidFill>
                <a:latin typeface="Arial"/>
                <a:ea typeface="DejaVu Sans"/>
              </a:rPr>
              <a:t>0.6rad</a:t>
            </a:r>
            <a:r>
              <a:rPr b="0" lang="zh-CN" sz="1000" spc="-1" strike="noStrike">
                <a:solidFill>
                  <a:srgbClr val="000000"/>
                </a:solidFill>
                <a:latin typeface="Arial"/>
                <a:ea typeface="DejaVu Sans"/>
              </a:rPr>
              <a:t>（被物理限位 </a:t>
            </a:r>
            <a:r>
              <a:rPr b="0" lang="en-US" sz="1000" spc="-1" strike="noStrike">
                <a:solidFill>
                  <a:srgbClr val="000000"/>
                </a:solidFill>
                <a:latin typeface="Arial"/>
                <a:ea typeface="DejaVu Sans"/>
              </a:rPr>
              <a:t>clamp </a:t>
            </a:r>
            <a:r>
              <a:rPr b="0" lang="zh-CN" sz="1000" spc="-1" strike="noStrike">
                <a:solidFill>
                  <a:srgbClr val="000000"/>
                </a:solidFill>
                <a:latin typeface="Arial"/>
                <a:ea typeface="DejaVu Sans"/>
              </a:rPr>
              <a:t>了）</a:t>
            </a:r>
            <a:endParaRPr b="0" lang="en-US" sz="1000" spc="-1" strike="noStrike">
              <a:latin typeface="Arial"/>
            </a:endParaRPr>
          </a:p>
        </p:txBody>
      </p:sp>
      <p:pic>
        <p:nvPicPr>
          <p:cNvPr id="100" name="" descr=""/>
          <p:cNvPicPr/>
          <p:nvPr/>
        </p:nvPicPr>
        <p:blipFill>
          <a:blip r:embed="rId2"/>
          <a:stretch/>
        </p:blipFill>
        <p:spPr>
          <a:xfrm>
            <a:off x="5943600" y="228600"/>
            <a:ext cx="5482080" cy="3489840"/>
          </a:xfrm>
          <a:prstGeom prst="rect">
            <a:avLst/>
          </a:prstGeom>
          <a:ln w="0">
            <a:noFill/>
          </a:ln>
        </p:spPr>
      </p:pic>
      <p:pic>
        <p:nvPicPr>
          <p:cNvPr id="101" name="" descr=""/>
          <p:cNvPicPr/>
          <p:nvPr/>
        </p:nvPicPr>
        <p:blipFill>
          <a:blip r:embed="rId3"/>
          <a:stretch/>
        </p:blipFill>
        <p:spPr>
          <a:xfrm>
            <a:off x="6015240" y="3886200"/>
            <a:ext cx="3810240" cy="242496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2" name="" descr=""/>
          <p:cNvPicPr/>
          <p:nvPr/>
        </p:nvPicPr>
        <p:blipFill>
          <a:blip r:embed="rId1"/>
          <a:stretch/>
        </p:blipFill>
        <p:spPr>
          <a:xfrm>
            <a:off x="1371600" y="393480"/>
            <a:ext cx="2967480" cy="1888200"/>
          </a:xfrm>
          <a:prstGeom prst="rect">
            <a:avLst/>
          </a:prstGeom>
          <a:ln w="0">
            <a:noFill/>
          </a:ln>
        </p:spPr>
      </p:pic>
      <p:pic>
        <p:nvPicPr>
          <p:cNvPr id="103" name="" descr=""/>
          <p:cNvPicPr/>
          <p:nvPr/>
        </p:nvPicPr>
        <p:blipFill>
          <a:blip r:embed="rId2"/>
          <a:stretch/>
        </p:blipFill>
        <p:spPr>
          <a:xfrm>
            <a:off x="4572000" y="385200"/>
            <a:ext cx="2967480" cy="1888200"/>
          </a:xfrm>
          <a:prstGeom prst="rect">
            <a:avLst/>
          </a:prstGeom>
          <a:ln w="0">
            <a:noFill/>
          </a:ln>
        </p:spPr>
      </p:pic>
      <p:pic>
        <p:nvPicPr>
          <p:cNvPr id="104" name="" descr=""/>
          <p:cNvPicPr/>
          <p:nvPr/>
        </p:nvPicPr>
        <p:blipFill>
          <a:blip r:embed="rId3"/>
          <a:stretch/>
        </p:blipFill>
        <p:spPr>
          <a:xfrm>
            <a:off x="1371600" y="2514600"/>
            <a:ext cx="2967480" cy="1888200"/>
          </a:xfrm>
          <a:prstGeom prst="rect">
            <a:avLst/>
          </a:prstGeom>
          <a:ln w="0">
            <a:noFill/>
          </a:ln>
        </p:spPr>
      </p:pic>
      <p:sp>
        <p:nvSpPr>
          <p:cNvPr id="105" name=""/>
          <p:cNvSpPr/>
          <p:nvPr/>
        </p:nvSpPr>
        <p:spPr>
          <a:xfrm>
            <a:off x="0" y="228600"/>
            <a:ext cx="1138680" cy="227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Align with  object</a:t>
            </a:r>
            <a:endParaRPr b="0" lang="en-US" sz="1000" spc="-1" strike="noStrike">
              <a:latin typeface="Arial"/>
            </a:endParaRPr>
          </a:p>
        </p:txBody>
      </p:sp>
      <p:pic>
        <p:nvPicPr>
          <p:cNvPr id="106" name="" descr=""/>
          <p:cNvPicPr/>
          <p:nvPr/>
        </p:nvPicPr>
        <p:blipFill>
          <a:blip r:embed="rId4"/>
          <a:stretch/>
        </p:blipFill>
        <p:spPr>
          <a:xfrm>
            <a:off x="4662720" y="2524320"/>
            <a:ext cx="2852280" cy="1814760"/>
          </a:xfrm>
          <a:prstGeom prst="rect">
            <a:avLst/>
          </a:prstGeom>
          <a:ln w="0">
            <a:noFill/>
          </a:ln>
        </p:spPr>
      </p:pic>
      <p:pic>
        <p:nvPicPr>
          <p:cNvPr id="107" name="" descr=""/>
          <p:cNvPicPr/>
          <p:nvPr/>
        </p:nvPicPr>
        <p:blipFill>
          <a:blip r:embed="rId5"/>
          <a:stretch/>
        </p:blipFill>
        <p:spPr>
          <a:xfrm>
            <a:off x="1371600" y="4800600"/>
            <a:ext cx="3068640" cy="195264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8" name="" descr=""/>
          <p:cNvPicPr/>
          <p:nvPr/>
        </p:nvPicPr>
        <p:blipFill>
          <a:blip r:embed="rId1"/>
          <a:stretch/>
        </p:blipFill>
        <p:spPr>
          <a:xfrm>
            <a:off x="729360" y="466920"/>
            <a:ext cx="3929040" cy="2500560"/>
          </a:xfrm>
          <a:prstGeom prst="rect">
            <a:avLst/>
          </a:prstGeom>
          <a:ln w="0">
            <a:noFill/>
          </a:ln>
        </p:spPr>
      </p:pic>
      <p:sp>
        <p:nvSpPr>
          <p:cNvPr id="109" name=""/>
          <p:cNvSpPr/>
          <p:nvPr/>
        </p:nvSpPr>
        <p:spPr>
          <a:xfrm>
            <a:off x="5029200" y="1371600"/>
            <a:ext cx="4614120" cy="342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ik_rel_log_env_cfg copy 8  after align ok .py</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
          <p:cNvSpPr/>
          <p:nvPr/>
        </p:nvSpPr>
        <p:spPr>
          <a:xfrm>
            <a:off x="685800" y="681840"/>
            <a:ext cx="843840" cy="2282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masi_v9.zip</a:t>
            </a:r>
            <a:endParaRPr b="0" lang="en-US" sz="1000" spc="-1" strike="noStrike">
              <a:latin typeface="Arial"/>
            </a:endParaRPr>
          </a:p>
        </p:txBody>
      </p:sp>
      <p:pic>
        <p:nvPicPr>
          <p:cNvPr id="111" name="" descr=""/>
          <p:cNvPicPr/>
          <p:nvPr/>
        </p:nvPicPr>
        <p:blipFill>
          <a:blip r:embed="rId1"/>
          <a:stretch/>
        </p:blipFill>
        <p:spPr>
          <a:xfrm>
            <a:off x="448200" y="1143000"/>
            <a:ext cx="3662280" cy="2417040"/>
          </a:xfrm>
          <a:prstGeom prst="rect">
            <a:avLst/>
          </a:prstGeom>
          <a:ln w="0">
            <a:noFill/>
          </a:ln>
        </p:spPr>
      </p:pic>
      <p:sp>
        <p:nvSpPr>
          <p:cNvPr id="112" name=""/>
          <p:cNvSpPr/>
          <p:nvPr/>
        </p:nvSpPr>
        <p:spPr>
          <a:xfrm>
            <a:off x="4572000" y="185400"/>
            <a:ext cx="8026560" cy="69973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Learning iteration 91/5000                       </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Computation: 4961 steps/s (collection: 2.357s, learning 0.062s)</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action noise std: 0.60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value_function loss: 0.0008</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surrogate loss: -0.0027</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entropy loss: 6.3417</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reward: -2.90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episode length: 360.00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Episode_Reward/end_effector_position_tracking: -0.1712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Episode_Reward/end_effector_position_tracking_fine_grained: 0.1862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Episode_Reward/action_rate: 0.0000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Episode_Reward/log_lift_reward: 0.1398</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Episode_Reward/end_effector_orientation_tracking: -0.3976</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Metrics/ee_pose/position_error: 0.1459</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Metrics/ee_pose/orientation_error: 0.9408</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Episode_Termination/time_out: 0.9811</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Episode_Termination/root_oob: 0.0000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Episode_Termination/ee_speed_oob: 0.0000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Episode_Termination/any_link_speed_oob: 0.0189</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Episode_Termination/any_link_oob: 0.0000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Episode_Termination/nan_inf_guard: 0.0000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Total timesteps: 1104000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Iteration time: 2.42s</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Time elapsed: 00:03:36</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ETA: 03:12:25</a:t>
            </a:r>
            <a:endParaRPr b="0" lang="en-US" sz="1800" spc="-1" strike="noStrike">
              <a:latin typeface="Arial"/>
            </a:endParaRPr>
          </a:p>
        </p:txBody>
      </p:sp>
      <p:pic>
        <p:nvPicPr>
          <p:cNvPr id="113" name="" descr=""/>
          <p:cNvPicPr/>
          <p:nvPr/>
        </p:nvPicPr>
        <p:blipFill>
          <a:blip r:embed="rId2"/>
          <a:stretch/>
        </p:blipFill>
        <p:spPr>
          <a:xfrm>
            <a:off x="457200" y="3657600"/>
            <a:ext cx="3478680" cy="22957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4" name="" descr=""/>
          <p:cNvPicPr/>
          <p:nvPr/>
        </p:nvPicPr>
        <p:blipFill>
          <a:blip r:embed="rId1"/>
          <a:stretch/>
        </p:blipFill>
        <p:spPr>
          <a:xfrm>
            <a:off x="457200" y="1128960"/>
            <a:ext cx="2786400" cy="1838520"/>
          </a:xfrm>
          <a:prstGeom prst="rect">
            <a:avLst/>
          </a:prstGeom>
          <a:ln w="0">
            <a:noFill/>
          </a:ln>
        </p:spPr>
      </p:pic>
      <p:sp>
        <p:nvSpPr>
          <p:cNvPr id="115" name=""/>
          <p:cNvSpPr/>
          <p:nvPr/>
        </p:nvSpPr>
        <p:spPr>
          <a:xfrm>
            <a:off x="685800" y="681840"/>
            <a:ext cx="843840" cy="2282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masi_v9.zip</a:t>
            </a:r>
            <a:endParaRPr b="0" lang="en-US" sz="1000" spc="-1" strike="noStrike">
              <a:latin typeface="Arial"/>
            </a:endParaRPr>
          </a:p>
        </p:txBody>
      </p:sp>
      <p:pic>
        <p:nvPicPr>
          <p:cNvPr id="116" name="" descr=""/>
          <p:cNvPicPr/>
          <p:nvPr/>
        </p:nvPicPr>
        <p:blipFill>
          <a:blip r:embed="rId2"/>
          <a:stretch/>
        </p:blipFill>
        <p:spPr>
          <a:xfrm>
            <a:off x="3437280" y="457200"/>
            <a:ext cx="4102200" cy="40147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7" name="" descr=""/>
          <p:cNvPicPr/>
          <p:nvPr/>
        </p:nvPicPr>
        <p:blipFill>
          <a:blip r:embed="rId1"/>
          <a:stretch/>
        </p:blipFill>
        <p:spPr>
          <a:xfrm>
            <a:off x="686160" y="457200"/>
            <a:ext cx="4567680" cy="2567520"/>
          </a:xfrm>
          <a:prstGeom prst="rect">
            <a:avLst/>
          </a:prstGeom>
          <a:ln w="0">
            <a:noFill/>
          </a:ln>
        </p:spPr>
      </p:pic>
      <p:sp>
        <p:nvSpPr>
          <p:cNvPr id="118" name=""/>
          <p:cNvSpPr/>
          <p:nvPr/>
        </p:nvSpPr>
        <p:spPr>
          <a:xfrm>
            <a:off x="685800" y="110520"/>
            <a:ext cx="681840" cy="3427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v 9</a:t>
            </a:r>
            <a:endParaRPr b="0" lang="en-US" sz="1800" spc="-1" strike="noStrike">
              <a:latin typeface="Arial"/>
            </a:endParaRPr>
          </a:p>
        </p:txBody>
      </p:sp>
      <p:sp>
        <p:nvSpPr>
          <p:cNvPr id="119" name=""/>
          <p:cNvSpPr/>
          <p:nvPr/>
        </p:nvSpPr>
        <p:spPr>
          <a:xfrm>
            <a:off x="6172200" y="685080"/>
            <a:ext cx="3433320" cy="11016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body_offset=DifferentialInverseKinematicsActionCfg.OffsetCfg( # </a:t>
            </a:r>
            <a:r>
              <a:rPr b="0" lang="zh-CN" sz="1000" spc="-1" strike="noStrike">
                <a:solidFill>
                  <a:srgbClr val="000000"/>
                </a:solidFill>
                <a:latin typeface="Arial"/>
                <a:ea typeface="DejaVu Sans"/>
              </a:rPr>
              <a:t>关键改动：把“虚拟末端”从 </a:t>
            </a:r>
            <a:r>
              <a:rPr b="0" lang="en-US" sz="1000" spc="-1" strike="noStrike">
                <a:solidFill>
                  <a:srgbClr val="000000"/>
                </a:solidFill>
                <a:latin typeface="Arial"/>
                <a:ea typeface="DejaVu Sans"/>
              </a:rPr>
              <a:t>gripper_frame </a:t>
            </a:r>
            <a:r>
              <a:rPr b="0" lang="zh-CN" sz="1000" spc="-1" strike="noStrike">
                <a:solidFill>
                  <a:srgbClr val="000000"/>
                </a:solidFill>
                <a:latin typeface="Arial"/>
                <a:ea typeface="DejaVu Sans"/>
              </a:rPr>
              <a:t>向下挪一段到铲斗前端 </a:t>
            </a:r>
            <a:r>
              <a:rPr b="0" lang="en-US" sz="1000" spc="-1" strike="noStrike">
                <a:solidFill>
                  <a:srgbClr val="000000"/>
                </a:solidFill>
                <a:latin typeface="Arial"/>
                <a:ea typeface="DejaVu Sans"/>
              </a:rPr>
              <a:t># </a:t>
            </a:r>
            <a:r>
              <a:rPr b="0" lang="zh-CN" sz="1000" spc="-1" strike="noStrike">
                <a:solidFill>
                  <a:srgbClr val="000000"/>
                </a:solidFill>
                <a:latin typeface="Arial"/>
                <a:ea typeface="DejaVu Sans"/>
              </a:rPr>
              <a:t>数值你可以微调，先试 </a:t>
            </a:r>
            <a:r>
              <a:rPr b="0" lang="en-US" sz="1000" spc="-1" strike="noStrike">
                <a:solidFill>
                  <a:srgbClr val="000000"/>
                </a:solidFill>
                <a:latin typeface="Arial"/>
                <a:ea typeface="DejaVu Sans"/>
              </a:rPr>
              <a:t>-0.25</a:t>
            </a:r>
            <a:r>
              <a:rPr b="0" lang="zh-CN" sz="1000" spc="-1" strike="noStrike">
                <a:solidFill>
                  <a:srgbClr val="000000"/>
                </a:solidFill>
                <a:latin typeface="Arial"/>
                <a:ea typeface="DejaVu Sans"/>
              </a:rPr>
              <a:t>，如果目标点还在铲斗中间就再缩小一点 </a:t>
            </a:r>
            <a:r>
              <a:rPr b="0" lang="en-US" sz="1000" spc="-1" strike="noStrike">
                <a:solidFill>
                  <a:srgbClr val="000000"/>
                </a:solidFill>
                <a:latin typeface="Arial"/>
                <a:ea typeface="DejaVu Sans"/>
              </a:rPr>
              <a:t>pos=[0.0, 0.0, -0.19], # v9 pos=[0.0, 0.0, -0.19], rot=[0.7071068, 0.0, 0.7071068, 0.0], # v9 </a:t>
            </a:r>
            <a:r>
              <a:rPr b="0" lang="zh-CN" sz="1000" spc="-1" strike="noStrike">
                <a:solidFill>
                  <a:srgbClr val="000000"/>
                </a:solidFill>
                <a:latin typeface="Arial"/>
                <a:ea typeface="DejaVu Sans"/>
              </a:rPr>
              <a:t>绕 </a:t>
            </a:r>
            <a:r>
              <a:rPr b="0" lang="en-US" sz="1000" spc="-1" strike="noStrike">
                <a:solidFill>
                  <a:srgbClr val="000000"/>
                </a:solidFill>
                <a:latin typeface="Arial"/>
                <a:ea typeface="DejaVu Sans"/>
              </a:rPr>
              <a:t>Y </a:t>
            </a:r>
            <a:r>
              <a:rPr b="0" lang="zh-CN" sz="1000" spc="-1" strike="noStrike">
                <a:solidFill>
                  <a:srgbClr val="000000"/>
                </a:solidFill>
                <a:latin typeface="Arial"/>
                <a:ea typeface="DejaVu Sans"/>
              </a:rPr>
              <a:t>轴 </a:t>
            </a:r>
            <a:r>
              <a:rPr b="0" lang="en-US" sz="1000" spc="-1" strike="noStrike">
                <a:solidFill>
                  <a:srgbClr val="000000"/>
                </a:solidFill>
                <a:latin typeface="Arial"/>
                <a:ea typeface="DejaVu Sans"/>
              </a:rPr>
              <a:t>+90° ), )</a:t>
            </a:r>
            <a:endParaRPr b="0" lang="en-US" sz="1000" spc="-1" strike="noStrike">
              <a:latin typeface="Arial"/>
            </a:endParaRPr>
          </a:p>
        </p:txBody>
      </p:sp>
      <p:sp>
        <p:nvSpPr>
          <p:cNvPr id="120" name=""/>
          <p:cNvSpPr/>
          <p:nvPr/>
        </p:nvSpPr>
        <p:spPr>
          <a:xfrm>
            <a:off x="6163920" y="228600"/>
            <a:ext cx="3433320" cy="4525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Lets try</a:t>
            </a:r>
            <a:endParaRPr b="0" lang="en-US" sz="1000" spc="-1" strike="noStrike">
              <a:latin typeface="Arial"/>
            </a:endParaRPr>
          </a:p>
        </p:txBody>
      </p:sp>
      <p:pic>
        <p:nvPicPr>
          <p:cNvPr id="121" name="" descr=""/>
          <p:cNvPicPr/>
          <p:nvPr/>
        </p:nvPicPr>
        <p:blipFill>
          <a:blip r:embed="rId2"/>
          <a:stretch/>
        </p:blipFill>
        <p:spPr>
          <a:xfrm>
            <a:off x="685800" y="3200400"/>
            <a:ext cx="3241080" cy="332280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2" name="" descr=""/>
          <p:cNvPicPr/>
          <p:nvPr/>
        </p:nvPicPr>
        <p:blipFill>
          <a:blip r:embed="rId1"/>
          <a:stretch/>
        </p:blipFill>
        <p:spPr>
          <a:xfrm>
            <a:off x="4343400" y="0"/>
            <a:ext cx="5047200" cy="3882240"/>
          </a:xfrm>
          <a:prstGeom prst="rect">
            <a:avLst/>
          </a:prstGeom>
          <a:ln w="0">
            <a:noFill/>
          </a:ln>
        </p:spPr>
      </p:pic>
      <p:sp>
        <p:nvSpPr>
          <p:cNvPr id="123" name=""/>
          <p:cNvSpPr/>
          <p:nvPr/>
        </p:nvSpPr>
        <p:spPr>
          <a:xfrm>
            <a:off x="139320" y="83160"/>
            <a:ext cx="3285720" cy="598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 body_name="gripper_frame",</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body_name="ee",</a:t>
            </a:r>
            <a:endParaRPr b="0" lang="en-US" sz="1800" spc="-1" strike="noStrike">
              <a:latin typeface="Arial"/>
            </a:endParaRPr>
          </a:p>
        </p:txBody>
      </p:sp>
      <p:pic>
        <p:nvPicPr>
          <p:cNvPr id="124" name="" descr=""/>
          <p:cNvPicPr/>
          <p:nvPr/>
        </p:nvPicPr>
        <p:blipFill>
          <a:blip r:embed="rId2"/>
          <a:stretch/>
        </p:blipFill>
        <p:spPr>
          <a:xfrm>
            <a:off x="228600" y="794160"/>
            <a:ext cx="4015080" cy="3088080"/>
          </a:xfrm>
          <a:prstGeom prst="rect">
            <a:avLst/>
          </a:prstGeom>
          <a:ln w="0">
            <a:noFill/>
          </a:ln>
        </p:spPr>
      </p:pic>
      <p:pic>
        <p:nvPicPr>
          <p:cNvPr id="125" name="" descr=""/>
          <p:cNvPicPr/>
          <p:nvPr/>
        </p:nvPicPr>
        <p:blipFill>
          <a:blip r:embed="rId3"/>
          <a:stretch/>
        </p:blipFill>
        <p:spPr>
          <a:xfrm>
            <a:off x="8576280" y="300240"/>
            <a:ext cx="3611880" cy="312480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6" name="" descr=""/>
          <p:cNvPicPr/>
          <p:nvPr/>
        </p:nvPicPr>
        <p:blipFill>
          <a:blip r:embed="rId1"/>
          <a:stretch/>
        </p:blipFill>
        <p:spPr>
          <a:xfrm>
            <a:off x="0" y="0"/>
            <a:ext cx="6854040" cy="3022920"/>
          </a:xfrm>
          <a:prstGeom prst="rect">
            <a:avLst/>
          </a:prstGeom>
          <a:ln w="0">
            <a:noFill/>
          </a:ln>
        </p:spPr>
      </p:pic>
      <p:sp>
        <p:nvSpPr>
          <p:cNvPr id="127" name=""/>
          <p:cNvSpPr/>
          <p:nvPr/>
        </p:nvSpPr>
        <p:spPr>
          <a:xfrm>
            <a:off x="7225920" y="914400"/>
            <a:ext cx="3285720" cy="1622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Save  v10 version for this modify</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solidFill>
                  <a:srgbClr val="000000"/>
                </a:solidFill>
                <a:latin typeface="Arial"/>
                <a:ea typeface="Noto Sans CJK SC"/>
              </a:rPr>
              <a:t>Has contained the log but cannot catch and lift  it </a:t>
            </a:r>
            <a:endParaRPr b="0" lang="en-US" sz="1800" spc="-1" strike="noStrike">
              <a:latin typeface="Arial"/>
            </a:endParaRPr>
          </a:p>
        </p:txBody>
      </p:sp>
      <p:pic>
        <p:nvPicPr>
          <p:cNvPr id="128" name="" descr=""/>
          <p:cNvPicPr/>
          <p:nvPr/>
        </p:nvPicPr>
        <p:blipFill>
          <a:blip r:embed="rId2"/>
          <a:stretch/>
        </p:blipFill>
        <p:spPr>
          <a:xfrm>
            <a:off x="827640" y="3200400"/>
            <a:ext cx="3740400" cy="2286720"/>
          </a:xfrm>
          <a:prstGeom prst="rect">
            <a:avLst/>
          </a:prstGeom>
          <a:ln w="0">
            <a:noFill/>
          </a:ln>
        </p:spPr>
      </p:pic>
      <p:sp>
        <p:nvSpPr>
          <p:cNvPr id="129" name=""/>
          <p:cNvSpPr/>
          <p:nvPr/>
        </p:nvSpPr>
        <p:spPr>
          <a:xfrm>
            <a:off x="7125120" y="3200400"/>
            <a:ext cx="2472120" cy="13564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The current training phase is such that when the claw wraps around the log target, it does not immediately grasp the object. Instead, it continues pushing the object until the claw can no longer wrap around it.</a:t>
            </a:r>
            <a:endParaRPr b="0" lang="en-US" sz="1000" spc="-1" strike="noStrike">
              <a:latin typeface="Arial"/>
            </a:endParaRPr>
          </a:p>
          <a:p>
            <a:pPr>
              <a:lnSpc>
                <a:spcPct val="100000"/>
              </a:lnSpc>
              <a:buNone/>
            </a:pPr>
            <a:endParaRPr b="0" lang="en-US" sz="1000" spc="-1" strike="noStrike">
              <a:latin typeface="Arial"/>
            </a:endParaRPr>
          </a:p>
        </p:txBody>
      </p:sp>
      <p:sp>
        <p:nvSpPr>
          <p:cNvPr id="130" name=""/>
          <p:cNvSpPr/>
          <p:nvPr/>
        </p:nvSpPr>
        <p:spPr>
          <a:xfrm>
            <a:off x="4800600" y="4572000"/>
            <a:ext cx="6808680" cy="1847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"close_dist": 0.02,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+"close_dist": 0.05,       # </a:t>
            </a:r>
            <a:r>
              <a:rPr b="0" lang="zh-CN" sz="1800" spc="-1" strike="noStrike">
                <a:solidFill>
                  <a:srgbClr val="000000"/>
                </a:solidFill>
                <a:latin typeface="Arial"/>
                <a:ea typeface="DejaVu Sans"/>
              </a:rPr>
              <a:t>先从 </a:t>
            </a:r>
            <a:r>
              <a:rPr b="0" lang="en-US" sz="1800" spc="-1" strike="noStrike">
                <a:solidFill>
                  <a:srgbClr val="000000"/>
                </a:solidFill>
                <a:latin typeface="Arial"/>
                <a:ea typeface="DejaVu Sans"/>
              </a:rPr>
              <a:t>5cm </a:t>
            </a:r>
            <a:r>
              <a:rPr b="0" lang="zh-CN" sz="1800" spc="-1" strike="noStrike">
                <a:solidFill>
                  <a:srgbClr val="000000"/>
                </a:solidFill>
                <a:latin typeface="Arial"/>
                <a:ea typeface="DejaVu Sans"/>
              </a:rPr>
              <a:t>开始</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"keep_open_xy": 0.10,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+"keep_open_xy": 0.06,     # </a:t>
            </a:r>
            <a:r>
              <a:rPr b="0" lang="zh-CN" sz="1800" spc="-1" strike="noStrike">
                <a:solidFill>
                  <a:srgbClr val="000000"/>
                </a:solidFill>
                <a:latin typeface="Arial"/>
                <a:ea typeface="DejaVu Sans"/>
              </a:rPr>
              <a:t>对齐要求更严格，否则老是强制张开</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"keep_open_z_above": 0.02,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+"keep_open_z_above": 0.01 # </a:t>
            </a:r>
            <a:r>
              <a:rPr b="0" lang="zh-CN" sz="1800" spc="-1" strike="noStrike">
                <a:solidFill>
                  <a:srgbClr val="000000"/>
                </a:solidFill>
                <a:latin typeface="Arial"/>
                <a:ea typeface="DejaVu Sans"/>
              </a:rPr>
              <a:t>离得不高了就允许夹</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1" name="" descr=""/>
          <p:cNvPicPr/>
          <p:nvPr/>
        </p:nvPicPr>
        <p:blipFill>
          <a:blip r:embed="rId1"/>
          <a:stretch/>
        </p:blipFill>
        <p:spPr>
          <a:xfrm>
            <a:off x="657720" y="371880"/>
            <a:ext cx="5053320" cy="3053160"/>
          </a:xfrm>
          <a:prstGeom prst="rect">
            <a:avLst/>
          </a:prstGeom>
          <a:ln w="0">
            <a:noFill/>
          </a:ln>
        </p:spPr>
      </p:pic>
      <p:sp>
        <p:nvSpPr>
          <p:cNvPr id="132" name=""/>
          <p:cNvSpPr/>
          <p:nvPr/>
        </p:nvSpPr>
        <p:spPr>
          <a:xfrm>
            <a:off x="6137640" y="914400"/>
            <a:ext cx="1173600" cy="23900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masi_V11</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Can contain and grasp  but cannot  lift</a:t>
            </a:r>
            <a:endParaRPr b="0" lang="en-US" sz="1800" spc="-1" strike="noStrike">
              <a:latin typeface="Arial"/>
            </a:endParaRPr>
          </a:p>
        </p:txBody>
      </p:sp>
      <p:sp>
        <p:nvSpPr>
          <p:cNvPr id="133" name=""/>
          <p:cNvSpPr/>
          <p:nvPr/>
        </p:nvSpPr>
        <p:spPr>
          <a:xfrm>
            <a:off x="685800" y="3657600"/>
            <a:ext cx="1507320" cy="3427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masi_v12.zip</a:t>
            </a:r>
            <a:endParaRPr b="0" lang="en-US" sz="1800" spc="-1" strike="noStrike">
              <a:latin typeface="Arial"/>
            </a:endParaRPr>
          </a:p>
        </p:txBody>
      </p:sp>
      <p:pic>
        <p:nvPicPr>
          <p:cNvPr id="134" name="" descr=""/>
          <p:cNvPicPr/>
          <p:nvPr/>
        </p:nvPicPr>
        <p:blipFill>
          <a:blip r:embed="rId2"/>
          <a:stretch/>
        </p:blipFill>
        <p:spPr>
          <a:xfrm>
            <a:off x="6172200" y="3886200"/>
            <a:ext cx="4312440" cy="2288520"/>
          </a:xfrm>
          <a:prstGeom prst="rect">
            <a:avLst/>
          </a:prstGeom>
          <a:ln w="0">
            <a:noFill/>
          </a:ln>
        </p:spPr>
      </p:pic>
      <p:sp>
        <p:nvSpPr>
          <p:cNvPr id="135" name=""/>
          <p:cNvSpPr/>
          <p:nvPr/>
        </p:nvSpPr>
        <p:spPr>
          <a:xfrm>
            <a:off x="4432320" y="3886200"/>
            <a:ext cx="1507320" cy="3427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masi_v13.zip</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
          <p:cNvSpPr/>
          <p:nvPr/>
        </p:nvSpPr>
        <p:spPr>
          <a:xfrm>
            <a:off x="228600" y="685800"/>
            <a:ext cx="1367640" cy="11390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Can contain and grasp  but cannot  lift</a:t>
            </a:r>
            <a:endParaRPr b="0" lang="en-US" sz="1800" spc="-1" strike="noStrike">
              <a:latin typeface="Arial"/>
            </a:endParaRPr>
          </a:p>
        </p:txBody>
      </p:sp>
      <p:sp>
        <p:nvSpPr>
          <p:cNvPr id="137" name=""/>
          <p:cNvSpPr/>
          <p:nvPr/>
        </p:nvSpPr>
        <p:spPr>
          <a:xfrm>
            <a:off x="228600" y="228600"/>
            <a:ext cx="1507320" cy="3427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masi_v14.zip</a:t>
            </a:r>
            <a:endParaRPr b="0" lang="en-US" sz="1800" spc="-1" strike="noStrike">
              <a:latin typeface="Arial"/>
            </a:endParaRPr>
          </a:p>
        </p:txBody>
      </p:sp>
      <p:pic>
        <p:nvPicPr>
          <p:cNvPr id="138" name="" descr=""/>
          <p:cNvPicPr/>
          <p:nvPr/>
        </p:nvPicPr>
        <p:blipFill>
          <a:blip r:embed="rId1"/>
          <a:stretch/>
        </p:blipFill>
        <p:spPr>
          <a:xfrm>
            <a:off x="2057400" y="300960"/>
            <a:ext cx="5025240" cy="2666880"/>
          </a:xfrm>
          <a:prstGeom prst="rect">
            <a:avLst/>
          </a:prstGeom>
          <a:ln w="0">
            <a:noFill/>
          </a:ln>
        </p:spPr>
      </p:pic>
      <p:sp>
        <p:nvSpPr>
          <p:cNvPr id="139" name=""/>
          <p:cNvSpPr/>
          <p:nvPr/>
        </p:nvSpPr>
        <p:spPr>
          <a:xfrm>
            <a:off x="7315200" y="228600"/>
            <a:ext cx="2850840" cy="9309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Modified: When the log is wrapped, it moves upward, but the claw remains firmly gripped on the log entity.</a:t>
            </a:r>
            <a:endParaRPr b="0" lang="en-US" sz="1000" spc="-1" strike="noStrike">
              <a:latin typeface="Arial"/>
            </a:endParaRPr>
          </a:p>
          <a:p>
            <a:pPr>
              <a:lnSpc>
                <a:spcPct val="100000"/>
              </a:lnSpc>
              <a:buNone/>
            </a:pPr>
            <a:endParaRPr b="0" lang="en-US" sz="1000" spc="-1" strike="noStrike">
              <a:latin typeface="Arial"/>
            </a:endParaRPr>
          </a:p>
        </p:txBody>
      </p:sp>
      <p:pic>
        <p:nvPicPr>
          <p:cNvPr id="140" name="" descr=""/>
          <p:cNvPicPr/>
          <p:nvPr/>
        </p:nvPicPr>
        <p:blipFill>
          <a:blip r:embed="rId2"/>
          <a:stretch/>
        </p:blipFill>
        <p:spPr>
          <a:xfrm>
            <a:off x="7386480" y="900360"/>
            <a:ext cx="3353760" cy="2067480"/>
          </a:xfrm>
          <a:prstGeom prst="rect">
            <a:avLst/>
          </a:prstGeom>
          <a:ln w="0">
            <a:noFill/>
          </a:ln>
        </p:spPr>
      </p:pic>
      <p:pic>
        <p:nvPicPr>
          <p:cNvPr id="141" name="" descr=""/>
          <p:cNvPicPr/>
          <p:nvPr/>
        </p:nvPicPr>
        <p:blipFill>
          <a:blip r:embed="rId3"/>
          <a:stretch/>
        </p:blipFill>
        <p:spPr>
          <a:xfrm>
            <a:off x="2057400" y="3105000"/>
            <a:ext cx="5025240" cy="3148560"/>
          </a:xfrm>
          <a:prstGeom prst="rect">
            <a:avLst/>
          </a:prstGeom>
          <a:ln w="0">
            <a:noFill/>
          </a:ln>
        </p:spPr>
      </p:pic>
      <p:pic>
        <p:nvPicPr>
          <p:cNvPr id="142" name="" descr=""/>
          <p:cNvPicPr/>
          <p:nvPr/>
        </p:nvPicPr>
        <p:blipFill>
          <a:blip r:embed="rId4"/>
          <a:stretch/>
        </p:blipFill>
        <p:spPr>
          <a:xfrm>
            <a:off x="7401240" y="3162240"/>
            <a:ext cx="3339000" cy="209160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
          <p:cNvSpPr/>
          <p:nvPr/>
        </p:nvSpPr>
        <p:spPr>
          <a:xfrm>
            <a:off x="228600" y="685800"/>
            <a:ext cx="2739600" cy="6822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Eetu help check the model  (17.12.2025) </a:t>
            </a:r>
            <a:endParaRPr b="0" lang="en-US" sz="1800" spc="-1" strike="noStrike">
              <a:latin typeface="Arial"/>
            </a:endParaRPr>
          </a:p>
        </p:txBody>
      </p:sp>
      <p:sp>
        <p:nvSpPr>
          <p:cNvPr id="144" name=""/>
          <p:cNvSpPr/>
          <p:nvPr/>
        </p:nvSpPr>
        <p:spPr>
          <a:xfrm>
            <a:off x="228600" y="228600"/>
            <a:ext cx="1507320" cy="3427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masi_v15.zip</a:t>
            </a:r>
            <a:endParaRPr b="0" lang="en-US" sz="1800" spc="-1" strike="noStrike">
              <a:latin typeface="Arial"/>
            </a:endParaRPr>
          </a:p>
        </p:txBody>
      </p:sp>
      <p:sp>
        <p:nvSpPr>
          <p:cNvPr id="145" name=""/>
          <p:cNvSpPr/>
          <p:nvPr/>
        </p:nvSpPr>
        <p:spPr>
          <a:xfrm>
            <a:off x="7315200" y="228600"/>
            <a:ext cx="2850840" cy="9309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Modified: When the log is wrapped, it moves upward, but the claw remains firmly gripped on the log entity.</a:t>
            </a:r>
            <a:endParaRPr b="0" lang="en-US" sz="1000" spc="-1" strike="noStrike">
              <a:latin typeface="Arial"/>
            </a:endParaRPr>
          </a:p>
          <a:p>
            <a:pPr>
              <a:lnSpc>
                <a:spcPct val="100000"/>
              </a:lnSpc>
              <a:buNone/>
            </a:pPr>
            <a:endParaRPr b="0" lang="en-US" sz="1000" spc="-1" strike="noStrike">
              <a:latin typeface="Arial"/>
            </a:endParaRPr>
          </a:p>
        </p:txBody>
      </p:sp>
      <p:sp>
        <p:nvSpPr>
          <p:cNvPr id="146" name=""/>
          <p:cNvSpPr/>
          <p:nvPr/>
        </p:nvSpPr>
        <p:spPr>
          <a:xfrm>
            <a:off x="228600" y="2286000"/>
            <a:ext cx="4350240" cy="13669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19.12.2025:</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masi_v17  recovery for this version </a:t>
            </a:r>
            <a:endParaRPr b="0" lang="en-US" sz="1800" spc="-1" strike="noStrike">
              <a:latin typeface="Arial"/>
            </a:endParaRPr>
          </a:p>
        </p:txBody>
      </p:sp>
      <p:pic>
        <p:nvPicPr>
          <p:cNvPr id="147" name="" descr=""/>
          <p:cNvPicPr/>
          <p:nvPr/>
        </p:nvPicPr>
        <p:blipFill>
          <a:blip r:embed="rId1"/>
          <a:stretch/>
        </p:blipFill>
        <p:spPr>
          <a:xfrm>
            <a:off x="3886560" y="1086120"/>
            <a:ext cx="4568400" cy="2568240"/>
          </a:xfrm>
          <a:prstGeom prst="rect">
            <a:avLst/>
          </a:prstGeom>
          <a:ln w="0">
            <a:noFill/>
          </a:ln>
        </p:spPr>
      </p:pic>
      <p:sp>
        <p:nvSpPr>
          <p:cNvPr id="148" name=""/>
          <p:cNvSpPr/>
          <p:nvPr/>
        </p:nvSpPr>
        <p:spPr>
          <a:xfrm>
            <a:off x="235440" y="3886200"/>
            <a:ext cx="3647520" cy="7898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The target has already soared halfway up, yet its claws still scrape the ground.</a:t>
            </a:r>
            <a:endParaRPr b="0" lang="en-US" sz="1000" spc="-1" strike="noStrike">
              <a:latin typeface="Arial"/>
            </a:endParaRPr>
          </a:p>
          <a:p>
            <a:pPr>
              <a:lnSpc>
                <a:spcPct val="100000"/>
              </a:lnSpc>
              <a:buNone/>
            </a:pPr>
            <a:endParaRPr b="0" lang="en-US" sz="1000" spc="-1" strike="noStrike">
              <a:latin typeface="Arial"/>
            </a:endParaRPr>
          </a:p>
        </p:txBody>
      </p:sp>
      <p:pic>
        <p:nvPicPr>
          <p:cNvPr id="149" name="" descr=""/>
          <p:cNvPicPr/>
          <p:nvPr/>
        </p:nvPicPr>
        <p:blipFill>
          <a:blip r:embed="rId2"/>
          <a:stretch/>
        </p:blipFill>
        <p:spPr>
          <a:xfrm>
            <a:off x="8649000" y="1117440"/>
            <a:ext cx="2549160" cy="2536920"/>
          </a:xfrm>
          <a:prstGeom prst="rect">
            <a:avLst/>
          </a:prstGeom>
          <a:ln w="0">
            <a:noFill/>
          </a:ln>
        </p:spPr>
      </p:pic>
      <p:pic>
        <p:nvPicPr>
          <p:cNvPr id="150" name="" descr=""/>
          <p:cNvPicPr/>
          <p:nvPr/>
        </p:nvPicPr>
        <p:blipFill>
          <a:blip r:embed="rId3"/>
          <a:stretch/>
        </p:blipFill>
        <p:spPr>
          <a:xfrm>
            <a:off x="235440" y="4343400"/>
            <a:ext cx="3882960" cy="200808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
          <p:cNvSpPr/>
          <p:nvPr/>
        </p:nvSpPr>
        <p:spPr>
          <a:xfrm>
            <a:off x="228960" y="0"/>
            <a:ext cx="2739600" cy="6822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masi_v18.zip</a:t>
            </a:r>
            <a:endParaRPr b="0" lang="en-US" sz="1800" spc="-1" strike="noStrike">
              <a:latin typeface="Arial"/>
            </a:endParaRPr>
          </a:p>
        </p:txBody>
      </p:sp>
      <p:sp>
        <p:nvSpPr>
          <p:cNvPr id="152" name=""/>
          <p:cNvSpPr/>
          <p:nvPr/>
        </p:nvSpPr>
        <p:spPr>
          <a:xfrm>
            <a:off x="228600" y="228600"/>
            <a:ext cx="1507320" cy="3427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masi_v15.zip</a:t>
            </a:r>
            <a:endParaRPr b="0" lang="en-US" sz="1800" spc="-1" strike="noStrike">
              <a:latin typeface="Arial"/>
            </a:endParaRPr>
          </a:p>
        </p:txBody>
      </p:sp>
      <p:sp>
        <p:nvSpPr>
          <p:cNvPr id="153" name=""/>
          <p:cNvSpPr/>
          <p:nvPr/>
        </p:nvSpPr>
        <p:spPr>
          <a:xfrm>
            <a:off x="7315200" y="228600"/>
            <a:ext cx="2850840" cy="9309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Modified: When the log is wrapped, it moves upward, but the claw remains firmly gripped on the log entity.</a:t>
            </a:r>
            <a:endParaRPr b="0" lang="en-US" sz="1000" spc="-1" strike="noStrike">
              <a:latin typeface="Arial"/>
            </a:endParaRPr>
          </a:p>
          <a:p>
            <a:pPr>
              <a:lnSpc>
                <a:spcPct val="100000"/>
              </a:lnSpc>
              <a:buNone/>
            </a:pPr>
            <a:endParaRPr b="0" lang="en-US" sz="1000" spc="-1" strike="noStrike">
              <a:latin typeface="Arial"/>
            </a:endParaRPr>
          </a:p>
        </p:txBody>
      </p:sp>
      <p:pic>
        <p:nvPicPr>
          <p:cNvPr id="154" name="" descr=""/>
          <p:cNvPicPr/>
          <p:nvPr/>
        </p:nvPicPr>
        <p:blipFill>
          <a:blip r:embed="rId1"/>
          <a:stretch/>
        </p:blipFill>
        <p:spPr>
          <a:xfrm>
            <a:off x="333720" y="574560"/>
            <a:ext cx="5378040" cy="2782080"/>
          </a:xfrm>
          <a:prstGeom prst="rect">
            <a:avLst/>
          </a:prstGeom>
          <a:ln w="0">
            <a:noFill/>
          </a:ln>
        </p:spPr>
      </p:pic>
      <p:pic>
        <p:nvPicPr>
          <p:cNvPr id="155" name="" descr=""/>
          <p:cNvPicPr/>
          <p:nvPr/>
        </p:nvPicPr>
        <p:blipFill>
          <a:blip r:embed="rId2"/>
          <a:stretch/>
        </p:blipFill>
        <p:spPr>
          <a:xfrm>
            <a:off x="5844240" y="914400"/>
            <a:ext cx="4439520" cy="2290320"/>
          </a:xfrm>
          <a:prstGeom prst="rect">
            <a:avLst/>
          </a:prstGeom>
          <a:ln w="0">
            <a:noFill/>
          </a:ln>
        </p:spPr>
      </p:pic>
      <p:pic>
        <p:nvPicPr>
          <p:cNvPr id="156" name="" descr=""/>
          <p:cNvPicPr/>
          <p:nvPr/>
        </p:nvPicPr>
        <p:blipFill>
          <a:blip r:embed="rId3"/>
          <a:stretch/>
        </p:blipFill>
        <p:spPr>
          <a:xfrm>
            <a:off x="457200" y="3637800"/>
            <a:ext cx="5251320" cy="253116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
          <p:cNvSpPr/>
          <p:nvPr/>
        </p:nvSpPr>
        <p:spPr>
          <a:xfrm>
            <a:off x="396720" y="970200"/>
            <a:ext cx="4629240" cy="855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[ActionTerms] ['arm_action', 'gripper_action']</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[ActionDims ] [3, 1]</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[GripSlice ] slice(3, 4, None)</a:t>
            </a:r>
            <a:endParaRPr b="0" lang="en-US" sz="1800" spc="-1" strike="noStrike">
              <a:latin typeface="Arial"/>
            </a:endParaRPr>
          </a:p>
        </p:txBody>
      </p:sp>
      <p:pic>
        <p:nvPicPr>
          <p:cNvPr id="158" name="" descr=""/>
          <p:cNvPicPr/>
          <p:nvPr/>
        </p:nvPicPr>
        <p:blipFill>
          <a:blip r:embed="rId1"/>
          <a:stretch/>
        </p:blipFill>
        <p:spPr>
          <a:xfrm>
            <a:off x="5715000" y="0"/>
            <a:ext cx="6019920" cy="2901960"/>
          </a:xfrm>
          <a:prstGeom prst="rect">
            <a:avLst/>
          </a:prstGeom>
          <a:ln w="0">
            <a:noFill/>
          </a:ln>
        </p:spPr>
      </p:pic>
      <p:sp>
        <p:nvSpPr>
          <p:cNvPr id="159" name=""/>
          <p:cNvSpPr/>
          <p:nvPr/>
        </p:nvSpPr>
        <p:spPr>
          <a:xfrm>
            <a:off x="396720" y="2057400"/>
            <a:ext cx="4629240" cy="11113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[ActionTerms] ['arm_action', 'gripper_action']</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[ActionDims ] [3, 1]</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[GripSlice ] slice(3, 4, None)</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claw_joint_ids = [5, 6]</a:t>
            </a:r>
            <a:endParaRPr b="0" lang="en-US" sz="1800" spc="-1" strike="noStrike">
              <a:latin typeface="Arial"/>
            </a:endParaRPr>
          </a:p>
        </p:txBody>
      </p:sp>
      <p:sp>
        <p:nvSpPr>
          <p:cNvPr id="160" name=""/>
          <p:cNvSpPr/>
          <p:nvPr/>
        </p:nvSpPr>
        <p:spPr>
          <a:xfrm>
            <a:off x="372600" y="3832560"/>
            <a:ext cx="8082360" cy="18792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[ActionTerms] ['arm_action', 'gripper_action']</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[ActionDims ] [3, 1]</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[GripSlice ] slice(3, 4, None)</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claw_joint_ids = [5, 6]</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 joint_pos       = [0.058184847235679626, -0.05750758945941925]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 joint_pos_target= [0.800000011920929, -0.800000011920929]</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phase(eid) = 0</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
          <p:cNvSpPr/>
          <p:nvPr/>
        </p:nvSpPr>
        <p:spPr>
          <a:xfrm>
            <a:off x="648360" y="796320"/>
            <a:ext cx="1405800" cy="13669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masi_v18_2  and  3,4 (event)  just stable than before</a:t>
            </a:r>
            <a:endParaRPr b="0" lang="en-US" sz="1800" spc="-1" strike="noStrike">
              <a:latin typeface="Arial"/>
            </a:endParaRPr>
          </a:p>
        </p:txBody>
      </p:sp>
      <p:sp>
        <p:nvSpPr>
          <p:cNvPr id="162" name=""/>
          <p:cNvSpPr/>
          <p:nvPr/>
        </p:nvSpPr>
        <p:spPr>
          <a:xfrm>
            <a:off x="203760" y="2113560"/>
            <a:ext cx="11842200" cy="26470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t_limits` property will be deprecated in a future release. Please use `joint_pos_limits` instead.</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limits   = [[-0.8726646304130554, 0.5061454772949219], [-0.8726646304130554, 0.5061454772949219]]</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cur(claw)             = [0.058184847235679626, -0.05750758945941925]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open_tgt = [0.47856926918029785, -0.8450884222984314]</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close_tgt= [-0.8450884222984314, 0.47856926918029785]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 joint_pos       = [0.058184847235679626, -0.05750758945941925]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 joint_pos_target= [0.47856926918029785, -0.8450884222984314]</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phase(eid) = 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v_ee(world_up in EE frame) = [-0.006549802143126726, -1.0523775983983796e-07, 0.9999785423278809]</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
          <p:cNvSpPr/>
          <p:nvPr/>
        </p:nvSpPr>
        <p:spPr>
          <a:xfrm>
            <a:off x="203760" y="1473840"/>
            <a:ext cx="11842200" cy="3926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[DBG] d_xy= 0.09066011011600494  dz_top= 0.22005146741867065  approaching= True  ready_to_close= False  close_xy/close_z= 0.06 0.06  keep_open_z_above= 0.32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d_xy / dz_top / dist_top = 0.09066011011600494 0.22005146741867065 0.23799559473991394</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approaching / ready_to_close = True False</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params close_dist/keep_open_xy/keep_open_z_above = 0.06 0.08 0.32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claw_joint_ids = [5, 6]</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limits   = [[-0.8726646304130554, 0.5061454772949219], [-0.8726646304130554, 0.5061454772949219]]</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cur(claw)             = [0.058184847235679626, -0.05750758945941925]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open_tgt = [0.47856926918029785, -0.8450884222984314]</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close_tgt= [-0.8450884222984314, 0.47856926918029785]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 joint_pos       = [0.058184847235679626, -0.05750758945941925]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 joint_pos_target= [0.47856926918029785, -0.8450884222984314]</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phase(eid) = 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v_ee(world_up in EE frame) = [-0.006549802143126726, -1.0523775983983796e-07, 0.9999785423278809]</a:t>
            </a:r>
            <a:endParaRPr b="0" lang="en-US" sz="1800" spc="-1" strike="noStrike">
              <a:latin typeface="Arial"/>
            </a:endParaRPr>
          </a:p>
        </p:txBody>
      </p:sp>
      <p:sp>
        <p:nvSpPr>
          <p:cNvPr id="164" name=""/>
          <p:cNvSpPr/>
          <p:nvPr/>
        </p:nvSpPr>
        <p:spPr>
          <a:xfrm>
            <a:off x="648360" y="1440"/>
            <a:ext cx="2320200" cy="13669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masi_v18_2  and  3,4 (event)  just stable than before   19.11.2025 18:24 </a:t>
            </a:r>
            <a:endParaRPr b="0" lang="en-US" sz="1800" spc="-1" strike="noStrike">
              <a:latin typeface="Arial"/>
            </a:endParaRPr>
          </a:p>
        </p:txBody>
      </p:sp>
      <p:sp>
        <p:nvSpPr>
          <p:cNvPr id="165" name=""/>
          <p:cNvSpPr/>
          <p:nvPr/>
        </p:nvSpPr>
        <p:spPr>
          <a:xfrm>
            <a:off x="457200" y="5943600"/>
            <a:ext cx="7168320" cy="749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"close_dist": 0.10,      # </a:t>
            </a:r>
            <a:r>
              <a:rPr b="0" lang="zh-CN" sz="1800" spc="-1" strike="noStrike">
                <a:solidFill>
                  <a:srgbClr val="000000"/>
                </a:solidFill>
                <a:latin typeface="Arial"/>
                <a:ea typeface="DejaVu Sans"/>
              </a:rPr>
              <a:t>原来 </a:t>
            </a:r>
            <a:r>
              <a:rPr b="0" lang="en-US" sz="1800" spc="-1" strike="noStrike">
                <a:solidFill>
                  <a:srgbClr val="000000"/>
                </a:solidFill>
                <a:latin typeface="Arial"/>
                <a:ea typeface="DejaVu Sans"/>
              </a:rPr>
              <a:t>0.06 </a:t>
            </a:r>
            <a:r>
              <a:rPr b="0" lang="zh-CN" sz="1800" spc="-1" strike="noStrike">
                <a:solidFill>
                  <a:srgbClr val="000000"/>
                </a:solidFill>
                <a:latin typeface="Arial"/>
                <a:ea typeface="DejaVu Sans"/>
              </a:rPr>
              <a:t>太严</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"keep_open_xy": 0.12,    # </a:t>
            </a:r>
            <a:r>
              <a:rPr b="0" lang="zh-CN" sz="1800" spc="-1" strike="noStrike">
                <a:solidFill>
                  <a:srgbClr val="000000"/>
                </a:solidFill>
                <a:latin typeface="Arial"/>
                <a:ea typeface="DejaVu Sans"/>
              </a:rPr>
              <a:t>原来 </a:t>
            </a:r>
            <a:r>
              <a:rPr b="0" lang="en-US" sz="1800" spc="-1" strike="noStrike">
                <a:solidFill>
                  <a:srgbClr val="000000"/>
                </a:solidFill>
                <a:latin typeface="Arial"/>
                <a:ea typeface="DejaVu Sans"/>
              </a:rPr>
              <a:t>0.08 </a:t>
            </a:r>
            <a:r>
              <a:rPr b="0" lang="zh-CN" sz="1800" spc="-1" strike="noStrike">
                <a:solidFill>
                  <a:srgbClr val="000000"/>
                </a:solidFill>
                <a:latin typeface="Arial"/>
                <a:ea typeface="DejaVu Sans"/>
              </a:rPr>
              <a:t>太严（你现在 </a:t>
            </a:r>
            <a:r>
              <a:rPr b="0" lang="en-US" sz="1800" spc="-1" strike="noStrike">
                <a:solidFill>
                  <a:srgbClr val="000000"/>
                </a:solidFill>
                <a:latin typeface="Arial"/>
                <a:ea typeface="DejaVu Sans"/>
              </a:rPr>
              <a:t>d_xy=0.0906</a:t>
            </a:r>
            <a:r>
              <a:rPr b="0" lang="zh-CN" sz="1800" spc="-1" strike="noStrike">
                <a:solidFill>
                  <a:srgbClr val="000000"/>
                </a:solidFill>
                <a:latin typeface="Arial"/>
                <a:ea typeface="DejaVu Sans"/>
              </a:rPr>
              <a:t>）</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
          <p:cNvSpPr/>
          <p:nvPr/>
        </p:nvSpPr>
        <p:spPr>
          <a:xfrm>
            <a:off x="203760" y="1473840"/>
            <a:ext cx="11842200" cy="3926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[DBG] d_xy= 0.09066011011600494  dz_top= 0.22005146741867065  approaching= False  ready_to_close= False  close_xy/close_z= 0.1 0.1  keep_open_z_above= 0.32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d_xy / dz_top / dist_top = 0.09066011011600494 0.22005146741867065 0.23799559473991394</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approaching / ready_to_close = False False</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params close_dist/keep_open_xy/keep_open_z_above = 0.1 0.12 0.32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claw_joint_ids = [5, 6]</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limits   = [[-0.8726646304130554, 0.5061454772949219], [-0.8726646304130554, 0.5061454772949219]]</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cur(claw)             = [0.058184847235679626, -0.05750758945941925]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open_tgt = [0.47856926918029785, -0.8450884222984314]</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close_tgt= [-0.8450884222984314, 0.47856926918029785]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 joint_pos       = [0.058184847235679626, -0.05750758945941925]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 joint_pos_target= [0.47856926918029785, -0.8450884222984314]</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phase(eid) = 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v_ee(world_up in EE frame) = [-0.006549802143126726, -1.0523775983983796e-07, 0.9999785423278809]</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
          <p:cNvSpPr/>
          <p:nvPr/>
        </p:nvSpPr>
        <p:spPr>
          <a:xfrm>
            <a:off x="203760" y="1473840"/>
            <a:ext cx="11842200" cy="3926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[DBG] d_xy= 0.09066011011600494  dz_top= 0.22005146741867065  approaching= False  ready_to_close= True  close_xy/close_z= 0.1 0.25  keep_open_z_above= 0.32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d_xy / dz_top / dist_top = 0.09066011011600494 0.22005146741867065 0.23799559473991394</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approaching / ready_to_close = False True</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params close_dist/keep_open_xy/keep_open_z_above = 0.1 0.12 0.32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claw_joint_ids = [5, 6]</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limits   = [[-0.8726646304130554, 0.5061454772949219], [-0.8726646304130554, 0.5061454772949219]]</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cur(claw)             = [0.058184847235679626, -0.05750758945941925]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open_tgt = [0.47856926918029785, -0.8450884222984314]</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close_tgt= [-0.8450884222984314, 0.47856926918029785]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 joint_pos       = [0.058184847235679626, -0.05750758945941925]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 joint_pos_target= [-0.8450884222984314, 0.47856926918029785]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phase(eid) = 1</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v_ee(world_up in EE frame) = [-0.006549802143126726, -1.0523775983983796e-07, 0.9999785423278809]</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
          <p:cNvSpPr/>
          <p:nvPr/>
        </p:nvSpPr>
        <p:spPr>
          <a:xfrm>
            <a:off x="203760" y="1345680"/>
            <a:ext cx="11842200" cy="41828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[DBG] d_xy= 0.09066011011600494  dz_top= 0.22005146741867065  approaching= False  ready_to_close= True  close_xy/close_z= 0.1 0.25  keep_open_z_above= 0.32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d_xy / dz_top / dist_top = 0.09066011011600494 0.22005146741867065 0.23799559473991394</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approaching / ready_to_close = False True</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params close_dist/keep_open_xy/keep_open_z_above = 0.1 0.12 0.32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claw_joint_ids = [5, 6]</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limits   = [[-0.8726646304130554, 0.5061454772949219], [-0.8726646304130554, 0.5061454772949219]]</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cur(claw)             = [0.058184847235679626, -0.05750758945941925]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open_tgt = [0.47856926918029785, -0.8450884222984314]</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close_tgt= [-0.8450884222984314, 0.47856926918029785]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 joint_pos       = [0.058184847235679626, -0.05750758945941925]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 joint_pos_target= [-0.8450884222984314, 0.47856926918029785]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phase(eid) = 1</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grasp_close_counter(eid) = 1</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v_ee(world_up in EE frame) = [-0.006549802143126726, -1.0523775983983796e-07, 0.9999785423278809]</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
          <p:cNvSpPr/>
          <p:nvPr/>
        </p:nvSpPr>
        <p:spPr>
          <a:xfrm>
            <a:off x="203760" y="1345680"/>
            <a:ext cx="11842200" cy="41828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[DBG] d_xy= 0.09066011011600494  dz_top= 0.22005146741867065  approaching= False  ready_to_close= True  close_xy/close_z= 0.1 0.25  keep_open_z_above= 0.32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d_xy / dz_top / dist_top = 0.09066011011600494 0.22005146741867065 0.23799559473991394</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params close_dist/keep_open_xy/keep_open_z_above = 0.1 0.12 0.32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claw_joint_ids = [5, 6]</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limits   = [[-0.8726646304130554, 0.5061454772949219], [-0.8726646304130554, 0.5061454772949219]]</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cur(claw)             = [0.058184847235679626, -0.05750758945941925]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open_tgt = [0.47856926918029785, -0.8450884222984314]</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inferred claw close_tgt= [-0.8450884222984314, 0.47856926918029785]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 joint_pos       = [0.058184847235679626, -0.05750758945941925]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claw joint_pos_target= [-0.8450884222984314, 0.47856926918029785]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phase(eid) = 1</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grasp_close_counter(eid) = 1</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v_ee(world_up in EE frame) = [-0.006549802143126726, -1.0523775983983796e-07, 0.9999785423278809]</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2025-12-19T</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0" name="" descr=""/>
          <p:cNvPicPr/>
          <p:nvPr/>
        </p:nvPicPr>
        <p:blipFill>
          <a:blip r:embed="rId1"/>
          <a:stretch/>
        </p:blipFill>
        <p:spPr>
          <a:xfrm>
            <a:off x="457200" y="685800"/>
            <a:ext cx="5096520" cy="2511720"/>
          </a:xfrm>
          <a:prstGeom prst="rect">
            <a:avLst/>
          </a:prstGeom>
          <a:ln w="0">
            <a:noFill/>
          </a:ln>
        </p:spPr>
      </p:pic>
      <p:sp>
        <p:nvSpPr>
          <p:cNvPr id="171" name=""/>
          <p:cNvSpPr/>
          <p:nvPr/>
        </p:nvSpPr>
        <p:spPr>
          <a:xfrm>
            <a:off x="419760" y="339120"/>
            <a:ext cx="1406160" cy="3438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masi_v19_1</a:t>
            </a:r>
            <a:endParaRPr b="0" lang="en-US" sz="1800" spc="-1" strike="noStrike">
              <a:latin typeface="Arial"/>
            </a:endParaRPr>
          </a:p>
        </p:txBody>
      </p:sp>
      <p:sp>
        <p:nvSpPr>
          <p:cNvPr id="172" name=""/>
          <p:cNvSpPr/>
          <p:nvPr/>
        </p:nvSpPr>
        <p:spPr>
          <a:xfrm>
            <a:off x="5943600" y="679320"/>
            <a:ext cx="7083720" cy="57186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Computation: 6040 steps/s (collection: 1.926s, learning 0.060s)</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action noise std: 0.59</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value_function loss: 0.0285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surrogate loss: -0.0007</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entropy loss: 3.5971</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reward: 7.58</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episode length: 351.63</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Episode_Reward/end_effector_position_tracking: -0.1103</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Episode_Reward/end_effector_position_tracking_fine_grained: 0.6745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Episode_Reward/action_rate: 0.0000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Episode_Reward/log_lift_reward: 0.1323</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Metrics/ee_pose/position_error: 0.0825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Metrics/ee_pose/orientation_error: 0.2427</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Episode_Termination/time_out: 0.9848</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Episode_Termination/root_oob: 0.0000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Episode_Termination/ee_speed_oob: 0.0000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Episode_Termination/any_link_speed_oob: 0.0152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Episode_Termination/any_link_oob: 0.0000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Episode_Termination/nan_inf_guard: 0.0000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a:t>
            </a:r>
            <a:endParaRPr b="0" lang="en-US" sz="1800" spc="-1" strike="noStrike">
              <a:latin typeface="Arial"/>
            </a:endParaRPr>
          </a:p>
        </p:txBody>
      </p:sp>
      <p:pic>
        <p:nvPicPr>
          <p:cNvPr id="173" name="" descr=""/>
          <p:cNvPicPr/>
          <p:nvPr/>
        </p:nvPicPr>
        <p:blipFill>
          <a:blip r:embed="rId2"/>
          <a:stretch/>
        </p:blipFill>
        <p:spPr>
          <a:xfrm>
            <a:off x="457200" y="3338640"/>
            <a:ext cx="3926880" cy="2144880"/>
          </a:xfrm>
          <a:prstGeom prst="rect">
            <a:avLst/>
          </a:prstGeom>
          <a:ln w="0">
            <a:noFill/>
          </a:ln>
        </p:spPr>
      </p:pic>
      <p:pic>
        <p:nvPicPr>
          <p:cNvPr id="174" name="" descr=""/>
          <p:cNvPicPr/>
          <p:nvPr/>
        </p:nvPicPr>
        <p:blipFill>
          <a:blip r:embed="rId3"/>
          <a:stretch/>
        </p:blipFill>
        <p:spPr>
          <a:xfrm>
            <a:off x="1276920" y="4572000"/>
            <a:ext cx="3749400" cy="225432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
          <p:cNvSpPr/>
          <p:nvPr/>
        </p:nvSpPr>
        <p:spPr>
          <a:xfrm>
            <a:off x="282600" y="228600"/>
            <a:ext cx="11906640" cy="13676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[DBG] phase= 2 d_xy= 0.058763016015291214 dz(center)= -0.13232935965061188 approach= False ready_close= False c_cnt= 0 l_cnt= 60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endParaRPr b="0" lang="en-US" sz="1800" spc="-1" strike="noStrike">
              <a:latin typeface="Arial"/>
            </a:endParaRPr>
          </a:p>
        </p:txBody>
      </p:sp>
      <p:sp>
        <p:nvSpPr>
          <p:cNvPr id="176" name=""/>
          <p:cNvSpPr/>
          <p:nvPr/>
        </p:nvSpPr>
        <p:spPr>
          <a:xfrm>
            <a:off x="457200" y="1885320"/>
            <a:ext cx="1761120" cy="855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masi_v19_2.zip    better  open clips</a:t>
            </a:r>
            <a:endParaRPr b="0" lang="en-US" sz="1800" spc="-1" strike="noStrike">
              <a:latin typeface="Arial"/>
            </a:endParaRPr>
          </a:p>
        </p:txBody>
      </p:sp>
      <p:pic>
        <p:nvPicPr>
          <p:cNvPr id="177" name="" descr=""/>
          <p:cNvPicPr/>
          <p:nvPr/>
        </p:nvPicPr>
        <p:blipFill>
          <a:blip r:embed="rId1"/>
          <a:stretch/>
        </p:blipFill>
        <p:spPr>
          <a:xfrm>
            <a:off x="2286000" y="1402560"/>
            <a:ext cx="3426480" cy="1879200"/>
          </a:xfrm>
          <a:prstGeom prst="rect">
            <a:avLst/>
          </a:prstGeom>
          <a:ln w="0">
            <a:noFill/>
          </a:ln>
        </p:spPr>
      </p:pic>
      <p:sp>
        <p:nvSpPr>
          <p:cNvPr id="178" name=""/>
          <p:cNvSpPr/>
          <p:nvPr/>
        </p:nvSpPr>
        <p:spPr>
          <a:xfrm>
            <a:off x="419760" y="3886200"/>
            <a:ext cx="1406520" cy="344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masi_v19_3</a:t>
            </a:r>
            <a:endParaRPr b="0" lang="en-US" sz="800" spc="-1" strike="noStrike">
              <a:latin typeface="Arial"/>
            </a:endParaRPr>
          </a:p>
        </p:txBody>
      </p:sp>
      <p:pic>
        <p:nvPicPr>
          <p:cNvPr id="179" name="" descr=""/>
          <p:cNvPicPr/>
          <p:nvPr/>
        </p:nvPicPr>
        <p:blipFill>
          <a:blip r:embed="rId2"/>
          <a:stretch/>
        </p:blipFill>
        <p:spPr>
          <a:xfrm>
            <a:off x="2286000" y="3429000"/>
            <a:ext cx="3426480" cy="1926360"/>
          </a:xfrm>
          <a:prstGeom prst="rect">
            <a:avLst/>
          </a:prstGeom>
          <a:ln w="0">
            <a:noFill/>
          </a:ln>
        </p:spPr>
      </p:pic>
      <p:sp>
        <p:nvSpPr>
          <p:cNvPr id="180" name=""/>
          <p:cNvSpPr/>
          <p:nvPr/>
        </p:nvSpPr>
        <p:spPr>
          <a:xfrm>
            <a:off x="6302520" y="1482120"/>
            <a:ext cx="2381760" cy="344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masi_V20_1_patched</a:t>
            </a:r>
            <a:endParaRPr b="0" lang="en-US" sz="800" spc="-1" strike="noStrike">
              <a:latin typeface="Arial"/>
            </a:endParaRPr>
          </a:p>
        </p:txBody>
      </p:sp>
      <p:pic>
        <p:nvPicPr>
          <p:cNvPr id="181" name="" descr=""/>
          <p:cNvPicPr/>
          <p:nvPr/>
        </p:nvPicPr>
        <p:blipFill>
          <a:blip r:embed="rId3"/>
          <a:stretch/>
        </p:blipFill>
        <p:spPr>
          <a:xfrm>
            <a:off x="6629400" y="2000520"/>
            <a:ext cx="4569120" cy="256896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2" name="" descr=""/>
          <p:cNvPicPr/>
          <p:nvPr/>
        </p:nvPicPr>
        <p:blipFill>
          <a:blip r:embed="rId1"/>
          <a:stretch/>
        </p:blipFill>
        <p:spPr>
          <a:xfrm>
            <a:off x="685800" y="838440"/>
            <a:ext cx="4798080" cy="3124800"/>
          </a:xfrm>
          <a:prstGeom prst="rect">
            <a:avLst/>
          </a:prstGeom>
          <a:ln w="0">
            <a:noFill/>
          </a:ln>
        </p:spPr>
      </p:pic>
      <p:sp>
        <p:nvSpPr>
          <p:cNvPr id="183" name=""/>
          <p:cNvSpPr/>
          <p:nvPr/>
        </p:nvSpPr>
        <p:spPr>
          <a:xfrm>
            <a:off x="685800" y="339120"/>
            <a:ext cx="2381760" cy="344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masi_V20_1_patched</a:t>
            </a:r>
            <a:endParaRPr b="0" lang="en-US" sz="800" spc="-1" strike="noStrike">
              <a:latin typeface="Arial"/>
            </a:endParaRPr>
          </a:p>
        </p:txBody>
      </p:sp>
      <p:pic>
        <p:nvPicPr>
          <p:cNvPr id="184" name="" descr=""/>
          <p:cNvPicPr/>
          <p:nvPr/>
        </p:nvPicPr>
        <p:blipFill>
          <a:blip r:embed="rId2"/>
          <a:stretch/>
        </p:blipFill>
        <p:spPr>
          <a:xfrm>
            <a:off x="5943600" y="1209600"/>
            <a:ext cx="3755520" cy="244548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5" name="" descr=""/>
          <p:cNvPicPr/>
          <p:nvPr/>
        </p:nvPicPr>
        <p:blipFill>
          <a:blip r:embed="rId1"/>
          <a:stretch/>
        </p:blipFill>
        <p:spPr>
          <a:xfrm>
            <a:off x="179280" y="501840"/>
            <a:ext cx="4390200" cy="2128320"/>
          </a:xfrm>
          <a:prstGeom prst="rect">
            <a:avLst/>
          </a:prstGeom>
          <a:ln w="0">
            <a:noFill/>
          </a:ln>
        </p:spPr>
      </p:pic>
      <p:sp>
        <p:nvSpPr>
          <p:cNvPr id="186" name=""/>
          <p:cNvSpPr/>
          <p:nvPr/>
        </p:nvSpPr>
        <p:spPr>
          <a:xfrm>
            <a:off x="457200" y="3082320"/>
            <a:ext cx="3305520" cy="344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masi_v22_1_direct_aligned.zip</a:t>
            </a:r>
            <a:endParaRPr b="0" lang="en-US" sz="800" spc="-1" strike="noStrike">
              <a:latin typeface="Arial"/>
            </a:endParaRPr>
          </a:p>
        </p:txBody>
      </p:sp>
      <p:sp>
        <p:nvSpPr>
          <p:cNvPr id="187" name=""/>
          <p:cNvSpPr/>
          <p:nvPr/>
        </p:nvSpPr>
        <p:spPr>
          <a:xfrm>
            <a:off x="64800" y="155160"/>
            <a:ext cx="1761480" cy="344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masi_v22_1.zip</a:t>
            </a:r>
            <a:endParaRPr b="0" lang="en-US" sz="800" spc="-1" strike="noStrike">
              <a:latin typeface="Arial"/>
            </a:endParaRPr>
          </a:p>
        </p:txBody>
      </p:sp>
      <p:pic>
        <p:nvPicPr>
          <p:cNvPr id="188" name="" descr=""/>
          <p:cNvPicPr/>
          <p:nvPr/>
        </p:nvPicPr>
        <p:blipFill>
          <a:blip r:embed="rId2"/>
          <a:stretch/>
        </p:blipFill>
        <p:spPr>
          <a:xfrm>
            <a:off x="228600" y="3570480"/>
            <a:ext cx="4418280" cy="2142000"/>
          </a:xfrm>
          <a:prstGeom prst="rect">
            <a:avLst/>
          </a:prstGeom>
          <a:ln w="0">
            <a:noFill/>
          </a:ln>
        </p:spPr>
      </p:pic>
      <p:pic>
        <p:nvPicPr>
          <p:cNvPr id="189" name="" descr=""/>
          <p:cNvPicPr/>
          <p:nvPr/>
        </p:nvPicPr>
        <p:blipFill>
          <a:blip r:embed="rId3"/>
          <a:stretch/>
        </p:blipFill>
        <p:spPr>
          <a:xfrm>
            <a:off x="5257800" y="1187280"/>
            <a:ext cx="4618800" cy="2239200"/>
          </a:xfrm>
          <a:prstGeom prst="rect">
            <a:avLst/>
          </a:prstGeom>
          <a:ln w="0">
            <a:noFill/>
          </a:ln>
        </p:spPr>
      </p:pic>
      <p:sp>
        <p:nvSpPr>
          <p:cNvPr id="190" name=""/>
          <p:cNvSpPr/>
          <p:nvPr/>
        </p:nvSpPr>
        <p:spPr>
          <a:xfrm>
            <a:off x="5257800" y="110520"/>
            <a:ext cx="3317760" cy="344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masi_v22_1_direct_aligned_v2</a:t>
            </a:r>
            <a:endParaRPr b="0" lang="en-US" sz="800" spc="-1" strike="noStrike">
              <a:latin typeface="Arial"/>
            </a:endParaRPr>
          </a:p>
        </p:txBody>
      </p:sp>
      <p:sp>
        <p:nvSpPr>
          <p:cNvPr id="191" name=""/>
          <p:cNvSpPr/>
          <p:nvPr/>
        </p:nvSpPr>
        <p:spPr>
          <a:xfrm>
            <a:off x="5257800" y="523440"/>
            <a:ext cx="4346640" cy="10742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How does this directRL align the target to lift the robotic arm upward? Analyze it first, then tell me how to adapt it. The main issues with our current managebase are: 1. The probability of triggering the grasp is very low. 2. It fails to trigger the lift-up action.</a:t>
            </a:r>
            <a:endParaRPr b="0" lang="en-US" sz="1000" spc="-1" strike="noStrike">
              <a:latin typeface="Arial"/>
            </a:endParaRPr>
          </a:p>
          <a:p>
            <a:pPr>
              <a:lnSpc>
                <a:spcPct val="100000"/>
              </a:lnSpc>
              <a:buNone/>
            </a:pPr>
            <a:endParaRPr b="0" lang="en-US" sz="1000" spc="-1" strike="noStrike">
              <a:latin typeface="Arial"/>
            </a:endParaRPr>
          </a:p>
        </p:txBody>
      </p:sp>
      <p:pic>
        <p:nvPicPr>
          <p:cNvPr id="192" name="" descr=""/>
          <p:cNvPicPr/>
          <p:nvPr/>
        </p:nvPicPr>
        <p:blipFill>
          <a:blip r:embed="rId4"/>
          <a:stretch/>
        </p:blipFill>
        <p:spPr>
          <a:xfrm>
            <a:off x="5486400" y="3572280"/>
            <a:ext cx="5197680" cy="259740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3" name="" descr=""/>
          <p:cNvPicPr/>
          <p:nvPr/>
        </p:nvPicPr>
        <p:blipFill>
          <a:blip r:embed="rId1"/>
          <a:stretch/>
        </p:blipFill>
        <p:spPr>
          <a:xfrm>
            <a:off x="228600" y="360"/>
            <a:ext cx="6857640" cy="4340520"/>
          </a:xfrm>
          <a:prstGeom prst="rect">
            <a:avLst/>
          </a:prstGeom>
          <a:ln w="0">
            <a:noFill/>
          </a:ln>
        </p:spPr>
      </p:pic>
      <p:sp>
        <p:nvSpPr>
          <p:cNvPr id="194" name=""/>
          <p:cNvSpPr/>
          <p:nvPr/>
        </p:nvSpPr>
        <p:spPr>
          <a:xfrm>
            <a:off x="479160" y="4453920"/>
            <a:ext cx="4318920" cy="344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masi_v22_1_manager_direct_aligned (1)</a:t>
            </a:r>
            <a:endParaRPr b="0" lang="en-US" sz="800" spc="-1" strike="noStrike">
              <a:latin typeface="Arial"/>
            </a:endParaRPr>
          </a:p>
        </p:txBody>
      </p:sp>
      <p:pic>
        <p:nvPicPr>
          <p:cNvPr id="195" name="" descr=""/>
          <p:cNvPicPr/>
          <p:nvPr/>
        </p:nvPicPr>
        <p:blipFill>
          <a:blip r:embed="rId2"/>
          <a:stretch/>
        </p:blipFill>
        <p:spPr>
          <a:xfrm>
            <a:off x="6229800" y="2743200"/>
            <a:ext cx="5197680" cy="2597400"/>
          </a:xfrm>
          <a:prstGeom prst="rect">
            <a:avLst/>
          </a:prstGeom>
          <a:ln w="0">
            <a:noFill/>
          </a:ln>
        </p:spPr>
      </p:pic>
      <p:sp>
        <p:nvSpPr>
          <p:cNvPr id="196" name=""/>
          <p:cNvSpPr/>
          <p:nvPr/>
        </p:nvSpPr>
        <p:spPr>
          <a:xfrm>
            <a:off x="457200" y="4911120"/>
            <a:ext cx="1153440" cy="344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masi_v23  xiugaile 22</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7" name="" descr=""/>
          <p:cNvPicPr/>
          <p:nvPr/>
        </p:nvPicPr>
        <p:blipFill>
          <a:blip r:embed="rId1"/>
          <a:stretch/>
        </p:blipFill>
        <p:spPr>
          <a:xfrm>
            <a:off x="228600" y="151560"/>
            <a:ext cx="3368880" cy="2131920"/>
          </a:xfrm>
          <a:prstGeom prst="rect">
            <a:avLst/>
          </a:prstGeom>
          <a:ln w="0">
            <a:noFill/>
          </a:ln>
        </p:spPr>
      </p:pic>
      <p:pic>
        <p:nvPicPr>
          <p:cNvPr id="198" name="" descr=""/>
          <p:cNvPicPr/>
          <p:nvPr/>
        </p:nvPicPr>
        <p:blipFill>
          <a:blip r:embed="rId2"/>
          <a:stretch/>
        </p:blipFill>
        <p:spPr>
          <a:xfrm>
            <a:off x="3753360" y="9720"/>
            <a:ext cx="4245120" cy="2273760"/>
          </a:xfrm>
          <a:prstGeom prst="rect">
            <a:avLst/>
          </a:prstGeom>
          <a:ln w="0">
            <a:noFill/>
          </a:ln>
        </p:spPr>
      </p:pic>
      <p:sp>
        <p:nvSpPr>
          <p:cNvPr id="199" name=""/>
          <p:cNvSpPr/>
          <p:nvPr/>
        </p:nvSpPr>
        <p:spPr>
          <a:xfrm>
            <a:off x="689400" y="2971800"/>
            <a:ext cx="2051280" cy="2300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u="sng">
                <a:solidFill>
                  <a:srgbClr val="467886"/>
                </a:solidFill>
                <a:uFillTx/>
                <a:latin typeface="Arial"/>
                <a:ea typeface="DejaVu Sans"/>
                <a:hlinkClick r:id="rId3"/>
              </a:rPr>
              <a:t>masi_pefect_one_V25_21_12.zip</a:t>
            </a:r>
            <a:endParaRPr b="0" lang="en-US" sz="1000" spc="-1" strike="noStrike">
              <a:latin typeface="Arial"/>
            </a:endParaRPr>
          </a:p>
        </p:txBody>
      </p:sp>
      <p:pic>
        <p:nvPicPr>
          <p:cNvPr id="200" name="" descr=""/>
          <p:cNvPicPr/>
          <p:nvPr/>
        </p:nvPicPr>
        <p:blipFill>
          <a:blip r:embed="rId4"/>
          <a:stretch/>
        </p:blipFill>
        <p:spPr>
          <a:xfrm>
            <a:off x="457200" y="3429000"/>
            <a:ext cx="5483880" cy="2638080"/>
          </a:xfrm>
          <a:prstGeom prst="rect">
            <a:avLst/>
          </a:prstGeom>
          <a:ln w="0">
            <a:noFill/>
          </a:ln>
        </p:spPr>
      </p:pic>
      <p:sp>
        <p:nvSpPr>
          <p:cNvPr id="201" name=""/>
          <p:cNvSpPr/>
          <p:nvPr/>
        </p:nvSpPr>
        <p:spPr>
          <a:xfrm>
            <a:off x="6629400" y="2514600"/>
            <a:ext cx="4340880" cy="37512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Learning iteration 245/5000                       </a:t>
            </a:r>
            <a:endParaRPr b="0" lang="en-US" sz="800" spc="-1" strike="noStrike">
              <a:latin typeface="Arial"/>
            </a:endParaRPr>
          </a:p>
          <a:p>
            <a:pPr>
              <a:lnSpc>
                <a:spcPct val="100000"/>
              </a:lnSpc>
              <a:buNone/>
            </a:pP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Computation: 4466 steps/s (collection: 2.630s, learning 0.057s)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action noise std: 0.59</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value_function loss: 339.9729</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surrogate loss: -0.0005</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entropy loss: 2.6822</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reward: 690.28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episode length: 357.38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Episode_Reward/ee_to_log_distance: -0.9381</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Episode_Reward/yaw_alignment: 0.4978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Episode_Reward/vertical_upright: 0.3418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Episode_Reward/grasp_open_close: 0.0590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Episode_Reward/log_lift: 62.3997</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Episode_Reward/action_rate: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Metrics/ee_pose/position_error: 0.5032</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Metrics/ee_pose/orientation_error: 0.9708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Episode_Termination/time_out: 0.9780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Episode_Termination/root_oob: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Episode_Termination/ee_speed_oob: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Episode_Termination/any_link_speed_oob: 0.0220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Episode_Termination/any_link_oob: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Episode_Termination/nan_inf_guard: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Total timesteps: 2952000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Iteration time: 2.69s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Time elapsed: 00:11:05</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ETA: 03:34:24</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2" name="" descr=""/>
          <p:cNvPicPr/>
          <p:nvPr/>
        </p:nvPicPr>
        <p:blipFill>
          <a:blip r:embed="rId1"/>
          <a:stretch/>
        </p:blipFill>
        <p:spPr>
          <a:xfrm>
            <a:off x="228600" y="257400"/>
            <a:ext cx="4997880" cy="3397680"/>
          </a:xfrm>
          <a:prstGeom prst="rect">
            <a:avLst/>
          </a:prstGeom>
          <a:ln w="0">
            <a:noFill/>
          </a:ln>
        </p:spPr>
      </p:pic>
      <p:sp>
        <p:nvSpPr>
          <p:cNvPr id="203" name=""/>
          <p:cNvSpPr/>
          <p:nvPr/>
        </p:nvSpPr>
        <p:spPr>
          <a:xfrm>
            <a:off x="2425320" y="0"/>
            <a:ext cx="1001160" cy="202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masi_v25_2_lift_1</a:t>
            </a:r>
            <a:endParaRPr b="0" lang="en-US" sz="800" spc="-1" strike="noStrike">
              <a:latin typeface="Arial"/>
            </a:endParaRPr>
          </a:p>
        </p:txBody>
      </p:sp>
      <p:sp>
        <p:nvSpPr>
          <p:cNvPr id="204" name=""/>
          <p:cNvSpPr/>
          <p:nvPr/>
        </p:nvSpPr>
        <p:spPr>
          <a:xfrm>
            <a:off x="3493800" y="52200"/>
            <a:ext cx="1532880" cy="202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Learning iteration 194/5000   </a:t>
            </a:r>
            <a:endParaRPr b="0" lang="en-US" sz="800" spc="-1" strike="noStrike">
              <a:latin typeface="Arial"/>
            </a:endParaRPr>
          </a:p>
        </p:txBody>
      </p:sp>
      <p:sp>
        <p:nvSpPr>
          <p:cNvPr id="205" name=""/>
          <p:cNvSpPr/>
          <p:nvPr/>
        </p:nvSpPr>
        <p:spPr>
          <a:xfrm>
            <a:off x="457200" y="3886200"/>
            <a:ext cx="1053000" cy="202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masi_v25_4_ok_lift</a:t>
            </a:r>
            <a:endParaRPr b="0" lang="en-US" sz="800" spc="-1" strike="noStrike">
              <a:latin typeface="Arial"/>
            </a:endParaRPr>
          </a:p>
        </p:txBody>
      </p:sp>
      <p:pic>
        <p:nvPicPr>
          <p:cNvPr id="206" name="" descr=""/>
          <p:cNvPicPr/>
          <p:nvPr/>
        </p:nvPicPr>
        <p:blipFill>
          <a:blip r:embed="rId2"/>
          <a:stretch/>
        </p:blipFill>
        <p:spPr>
          <a:xfrm>
            <a:off x="1646640" y="3710520"/>
            <a:ext cx="3380040" cy="314496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
          <p:cNvSpPr/>
          <p:nvPr/>
        </p:nvSpPr>
        <p:spPr>
          <a:xfrm>
            <a:off x="295560" y="1161720"/>
            <a:ext cx="3122640" cy="3179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Computation: 4022 steps/s (collection: 2.924s, learning 0.059s)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action noise std: 0.59</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value_function loss: 0.0043</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surrogate loss: -0.0019</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entropy loss: 2.6838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reward: 3.55</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episode length: 357.87</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Episode_Reward/ee_to_log_distance: -0.7390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Episode_Reward/yaw_alignment: 0.4860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Episode_Reward/vertical_upright: 0.5202</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Episode_Reward/grasp_open_close: 0.0647</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Episode_Reward/log_lift: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Episode_Reward/action_rate: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Metrics/ee_pose/position_error: 0.2416</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Metrics/ee_pose/orientation_error: 0.5969</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Episode_Termination/time_out: 0.8573</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Episode_Termination/root_oob: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Episode_Termination/ee_speed_oob: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Episode_Termination/any_link_speed_oob: 0.1427</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Episode_Termination/any_link_oob: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Episode_Termination/nan_inf_guard: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Total timesteps: 744000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Iteration time: 2.98s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Time elapsed: 00:02:58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ETA: 03:56:53</a:t>
            </a:r>
            <a:endParaRPr b="0" lang="en-US" sz="800" spc="-1" strike="noStrike">
              <a:latin typeface="Arial"/>
            </a:endParaRPr>
          </a:p>
          <a:p>
            <a:pPr>
              <a:lnSpc>
                <a:spcPct val="100000"/>
              </a:lnSpc>
              <a:buNone/>
            </a:pPr>
            <a:endParaRPr b="0" lang="en-US" sz="800" spc="-1" strike="noStrike">
              <a:latin typeface="Arial"/>
            </a:endParaRPr>
          </a:p>
        </p:txBody>
      </p:sp>
      <p:pic>
        <p:nvPicPr>
          <p:cNvPr id="208" name="" descr=""/>
          <p:cNvPicPr/>
          <p:nvPr/>
        </p:nvPicPr>
        <p:blipFill>
          <a:blip r:embed="rId1"/>
          <a:stretch/>
        </p:blipFill>
        <p:spPr>
          <a:xfrm>
            <a:off x="3886200" y="1136880"/>
            <a:ext cx="4632840" cy="3204000"/>
          </a:xfrm>
          <a:prstGeom prst="rect">
            <a:avLst/>
          </a:prstGeom>
          <a:ln w="0">
            <a:noFill/>
          </a:ln>
        </p:spPr>
      </p:pic>
      <p:sp>
        <p:nvSpPr>
          <p:cNvPr id="209" name=""/>
          <p:cNvSpPr/>
          <p:nvPr/>
        </p:nvSpPr>
        <p:spPr>
          <a:xfrm>
            <a:off x="9051840" y="685800"/>
            <a:ext cx="2375640" cy="9788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"max_pos_step": 0.005,   # ★5mm/</a:t>
            </a:r>
            <a:r>
              <a:rPr b="0" lang="zh-CN" sz="800" spc="-1" strike="noStrike">
                <a:solidFill>
                  <a:srgbClr val="000000"/>
                </a:solidFill>
                <a:latin typeface="Arial"/>
                <a:ea typeface="DejaVu Sans"/>
              </a:rPr>
              <a:t>次</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"blend": 0.15,           # ★</a:t>
            </a:r>
            <a:r>
              <a:rPr b="0" lang="zh-CN" sz="800" spc="-1" strike="noStrike">
                <a:solidFill>
                  <a:srgbClr val="000000"/>
                </a:solidFill>
                <a:latin typeface="Arial"/>
                <a:ea typeface="DejaVu Sans"/>
              </a:rPr>
              <a:t>更平滑</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"lift_z": 0.18,</a:t>
            </a:r>
            <a:endParaRPr b="0" lang="en-US" sz="800" spc="-1" strike="noStrike">
              <a:latin typeface="Arial"/>
            </a:endParaRPr>
          </a:p>
        </p:txBody>
      </p:sp>
      <p:sp>
        <p:nvSpPr>
          <p:cNvPr id="210" name=""/>
          <p:cNvSpPr/>
          <p:nvPr/>
        </p:nvSpPr>
        <p:spPr>
          <a:xfrm>
            <a:off x="9372600" y="1966320"/>
            <a:ext cx="1200960" cy="317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"max_pos_step": 0.01,</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"blend": 0.2,</a:t>
            </a:r>
            <a:endParaRPr b="0" lang="en-US" sz="800" spc="-1" strike="noStrike">
              <a:latin typeface="Arial"/>
            </a:endParaRPr>
          </a:p>
        </p:txBody>
      </p:sp>
      <p:sp>
        <p:nvSpPr>
          <p:cNvPr id="211" name=""/>
          <p:cNvSpPr/>
          <p:nvPr/>
        </p:nvSpPr>
        <p:spPr>
          <a:xfrm>
            <a:off x="3647880" y="4800600"/>
            <a:ext cx="5722200" cy="2710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a:t>
            </a:r>
            <a:r>
              <a:rPr b="0" lang="en-US" sz="1000" spc="-1" strike="noStrike">
                <a:solidFill>
                  <a:srgbClr val="000000"/>
                </a:solidFill>
                <a:latin typeface="Arial"/>
                <a:ea typeface="DejaVu Sans"/>
              </a:rPr>
              <a:t>revolute_cabin” </a:t>
            </a:r>
            <a:r>
              <a:rPr b="0" lang="zh-CN" sz="1000" spc="-1" strike="noStrike">
                <a:solidFill>
                  <a:srgbClr val="000000"/>
                </a:solidFill>
                <a:latin typeface="Arial"/>
                <a:ea typeface="DejaVu Sans"/>
              </a:rPr>
              <a:t>这个 </a:t>
            </a:r>
            <a:r>
              <a:rPr b="0" lang="en-US" sz="1000" spc="-1" strike="noStrike">
                <a:solidFill>
                  <a:srgbClr val="000000"/>
                </a:solidFill>
                <a:latin typeface="Arial"/>
                <a:ea typeface="DejaVu Sans"/>
              </a:rPr>
              <a:t>DOF </a:t>
            </a:r>
            <a:r>
              <a:rPr b="0" lang="zh-CN" sz="1000" spc="-1" strike="noStrike">
                <a:solidFill>
                  <a:srgbClr val="000000"/>
                </a:solidFill>
                <a:latin typeface="Arial"/>
                <a:ea typeface="DejaVu Sans"/>
              </a:rPr>
              <a:t>太强：一旦 </a:t>
            </a:r>
            <a:r>
              <a:rPr b="0" lang="en-US" sz="1000" spc="-1" strike="noStrike">
                <a:solidFill>
                  <a:srgbClr val="000000"/>
                </a:solidFill>
                <a:latin typeface="Arial"/>
                <a:ea typeface="DejaVu Sans"/>
              </a:rPr>
              <a:t>PPO </a:t>
            </a:r>
            <a:r>
              <a:rPr b="0" lang="zh-CN" sz="1000" spc="-1" strike="noStrike">
                <a:solidFill>
                  <a:srgbClr val="000000"/>
                </a:solidFill>
                <a:latin typeface="Arial"/>
                <a:ea typeface="DejaVu Sans"/>
              </a:rPr>
              <a:t>学到一点“更激进”的策略，它会开始大量用 </a:t>
            </a:r>
            <a:r>
              <a:rPr b="0" lang="en-US" sz="1000" spc="-1" strike="noStrike">
                <a:solidFill>
                  <a:srgbClr val="000000"/>
                </a:solidFill>
                <a:latin typeface="Arial"/>
                <a:ea typeface="DejaVu Sans"/>
              </a:rPr>
              <a:t>cabin</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
          <p:cNvSpPr/>
          <p:nvPr/>
        </p:nvSpPr>
        <p:spPr>
          <a:xfrm>
            <a:off x="685800" y="914400"/>
            <a:ext cx="3730680" cy="35226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Learning iteration 23/5000                       </a:t>
            </a:r>
            <a:endParaRPr b="0" lang="en-US" sz="800" spc="-1" strike="noStrike">
              <a:latin typeface="Arial"/>
            </a:endParaRPr>
          </a:p>
          <a:p>
            <a:pPr>
              <a:lnSpc>
                <a:spcPct val="100000"/>
              </a:lnSpc>
              <a:buNone/>
            </a:pP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Computation: 4343 steps/s (collection: 2.705s, learning 0.058s)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action noise std: 0.60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value_function loss: 0.0036</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surrogate loss: -0.0009</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entropy loss: 2.7221</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reward: 4.00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episode length: 359.57</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Episode_Reward/ee_to_log_distance: -0.9521</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Episode_Reward/yaw_alignment: 0.3718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Episode_Reward/vertical_upright: 0.7709</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Episode_Reward/grasp_open_close: 0.1434</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Episode_Reward/log_lift: 0.0328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Episode_Reward/action_rate: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Metrics/ee_pose/position_error: 0.1668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Metrics/ee_pose/orientation_error: 0.2558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Episode_Termination/time_out: 0.9840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Episode_Termination/root_oob: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Episode_Termination/ee_speed_oob: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Episode_Termination/any_link_speed_oob: 0.0160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Episode_Termination/any_link_oob: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Episode_Termination/nan_inf_guard: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Total timesteps: 288000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Iteration time: 2.76s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Time elapsed: 00:01:04</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ETA: 03:43:01</a:t>
            </a:r>
            <a:endParaRPr b="0" lang="en-US" sz="800" spc="-1" strike="noStrike">
              <a:latin typeface="Arial"/>
            </a:endParaRPr>
          </a:p>
          <a:p>
            <a:pPr>
              <a:lnSpc>
                <a:spcPct val="100000"/>
              </a:lnSpc>
              <a:buNone/>
            </a:pPr>
            <a:endParaRPr b="0" lang="en-US" sz="800" spc="-1" strike="noStrike">
              <a:latin typeface="Arial"/>
            </a:endParaRPr>
          </a:p>
        </p:txBody>
      </p:sp>
      <p:sp>
        <p:nvSpPr>
          <p:cNvPr id="213" name=""/>
          <p:cNvSpPr/>
          <p:nvPr/>
        </p:nvSpPr>
        <p:spPr>
          <a:xfrm>
            <a:off x="5029200" y="2030400"/>
            <a:ext cx="3358440" cy="938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joint_names=["revolute_lift", "revolute_tilt", "revolute_scoop","revolute_gripper"], body_name=EE_BODY, controller=DifferentialIKControllerCfg( command_type="position", use_relative_mode=True, ik_method="dls", ik_params={"lambda_val": 0.08}, ), scale=0.01,</a:t>
            </a:r>
            <a:endParaRPr b="0" lang="en-US" sz="1000" spc="-1" strike="noStrike">
              <a:latin typeface="Arial"/>
            </a:endParaRPr>
          </a:p>
        </p:txBody>
      </p:sp>
      <p:sp>
        <p:nvSpPr>
          <p:cNvPr id="214" name=""/>
          <p:cNvSpPr/>
          <p:nvPr/>
        </p:nvSpPr>
        <p:spPr>
          <a:xfrm>
            <a:off x="9372600" y="2514600"/>
            <a:ext cx="1531440" cy="202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masi_pefect_one_V25_21_12</a:t>
            </a:r>
            <a:endParaRPr b="0" lang="en-US" sz="800" spc="-1" strike="noStrike">
              <a:latin typeface="Arial"/>
            </a:endParaRPr>
          </a:p>
        </p:txBody>
      </p:sp>
      <p:sp>
        <p:nvSpPr>
          <p:cNvPr id="215" name=""/>
          <p:cNvSpPr/>
          <p:nvPr/>
        </p:nvSpPr>
        <p:spPr>
          <a:xfrm>
            <a:off x="5943600" y="480600"/>
            <a:ext cx="928080" cy="202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d/log_lift: 0.0017</a:t>
            </a:r>
            <a:endParaRPr b="0" lang="en-US" sz="800" spc="-1" strike="noStrike">
              <a:latin typeface="Arial"/>
            </a:endParaRPr>
          </a:p>
        </p:txBody>
      </p:sp>
      <p:sp>
        <p:nvSpPr>
          <p:cNvPr id="216" name=""/>
          <p:cNvSpPr/>
          <p:nvPr/>
        </p:nvSpPr>
        <p:spPr>
          <a:xfrm>
            <a:off x="7195320" y="480600"/>
            <a:ext cx="574560" cy="3168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Iteration  41/500</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
          <p:cNvSpPr/>
          <p:nvPr/>
        </p:nvSpPr>
        <p:spPr>
          <a:xfrm>
            <a:off x="457200" y="685800"/>
            <a:ext cx="2611800" cy="938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joint_names=["revolute_lift", "revolute_tilt", "revolute_scoop"], body_name=EE_BODY, controller=DifferentialIKControllerCfg( command_type="position", use_relative_mode=True, ik_method="dls", ik_params={"lambda_val": 0.08}, ),</a:t>
            </a:r>
            <a:endParaRPr b="0" lang="en-US" sz="1000" spc="-1" strike="noStrike">
              <a:latin typeface="Arial"/>
            </a:endParaRPr>
          </a:p>
        </p:txBody>
      </p:sp>
      <p:sp>
        <p:nvSpPr>
          <p:cNvPr id="218" name=""/>
          <p:cNvSpPr/>
          <p:nvPr/>
        </p:nvSpPr>
        <p:spPr>
          <a:xfrm>
            <a:off x="3429000" y="591480"/>
            <a:ext cx="3064680" cy="23778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Computation: 4279 steps/s (collection: 2.742s, learning 0.062s)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action noise std: 0.59</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value_function loss: 17.4053</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surrogate loss: -0.0001</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entropy loss: 2.6700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reward: 28.13</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episode length: 281.23</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Episode_Reward/ee_to_log_distance: -0.7992</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Episode_Reward/yaw_alignment: 0.3471</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Episode_Reward/vertical_upright: 0.2407</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Episode_Reward/grasp_open_close: 0.0847</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Episode_Reward/log_lift: 1.8576</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Episode_Reward/action_rate: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Metrics/ee_pose/position_error: 0.3413</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Metrics/ee_pose/orientation_error: 1.7418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Episode_Termination/time_out: 0.6718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Episode_Termination/root_oob: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Episode_Termination/ee_speed_oob: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Episode_Termination/any_link_speed_oob: 0.3282</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Episode_Termination/any_link_oob: 0.000</a:t>
            </a:r>
            <a:endParaRPr b="0" lang="en-US" sz="800" spc="-1" strike="noStrike">
              <a:latin typeface="Arial"/>
            </a:endParaRPr>
          </a:p>
        </p:txBody>
      </p:sp>
      <p:sp>
        <p:nvSpPr>
          <p:cNvPr id="219" name=""/>
          <p:cNvSpPr/>
          <p:nvPr/>
        </p:nvSpPr>
        <p:spPr>
          <a:xfrm>
            <a:off x="3886200" y="228600"/>
            <a:ext cx="1447560" cy="2026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Learning iteration 99/5000  </a:t>
            </a:r>
            <a:endParaRPr b="0" lang="en-US" sz="800" spc="-1" strike="noStrike">
              <a:latin typeface="Arial"/>
            </a:endParaRPr>
          </a:p>
        </p:txBody>
      </p:sp>
      <p:sp>
        <p:nvSpPr>
          <p:cNvPr id="220" name=""/>
          <p:cNvSpPr/>
          <p:nvPr/>
        </p:nvSpPr>
        <p:spPr>
          <a:xfrm>
            <a:off x="7039800" y="685800"/>
            <a:ext cx="3701880" cy="7750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Learning iteration 114/5000                       </a:t>
            </a:r>
            <a:endParaRPr b="0" lang="en-US" sz="800" spc="-1" strike="noStrike">
              <a:latin typeface="Arial"/>
            </a:endParaRPr>
          </a:p>
          <a:p>
            <a:pPr>
              <a:lnSpc>
                <a:spcPct val="100000"/>
              </a:lnSpc>
              <a:buNone/>
            </a:pP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Computation: 4283 steps/s (collection: 2.742s, learning 0.059s)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action noise std: 0.59</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value_function loss: 76.2998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surrogate loss: -0.0001</a:t>
            </a:r>
            <a:endParaRPr b="0" lang="en-US" sz="800" spc="-1" strike="noStrike">
              <a:latin typeface="Arial"/>
            </a:endParaRPr>
          </a:p>
        </p:txBody>
      </p:sp>
      <p:sp>
        <p:nvSpPr>
          <p:cNvPr id="221" name=""/>
          <p:cNvSpPr/>
          <p:nvPr/>
        </p:nvSpPr>
        <p:spPr>
          <a:xfrm>
            <a:off x="685800" y="3908880"/>
            <a:ext cx="3701880" cy="6606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Learning iteration 140/5000                       </a:t>
            </a:r>
            <a:endParaRPr b="0" lang="en-US" sz="800" spc="-1" strike="noStrike">
              <a:latin typeface="Arial"/>
            </a:endParaRPr>
          </a:p>
          <a:p>
            <a:pPr>
              <a:lnSpc>
                <a:spcPct val="100000"/>
              </a:lnSpc>
              <a:buNone/>
            </a:pP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Computation: 4230 steps/s (collection: 2.776s, learning 0.060s)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action noise std: 0.59</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value_function loss: 28.9996</a:t>
            </a:r>
            <a:endParaRPr b="0" lang="en-US" sz="800" spc="-1" strike="noStrike">
              <a:latin typeface="Arial"/>
            </a:endParaRPr>
          </a:p>
        </p:txBody>
      </p:sp>
      <p:sp>
        <p:nvSpPr>
          <p:cNvPr id="222" name=""/>
          <p:cNvSpPr/>
          <p:nvPr/>
        </p:nvSpPr>
        <p:spPr>
          <a:xfrm>
            <a:off x="4982400" y="3886200"/>
            <a:ext cx="3701880" cy="6606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Learning iteration 192/5000                       </a:t>
            </a:r>
            <a:endParaRPr b="0" lang="en-US" sz="800" spc="-1" strike="noStrike">
              <a:latin typeface="Arial"/>
            </a:endParaRPr>
          </a:p>
          <a:p>
            <a:pPr>
              <a:lnSpc>
                <a:spcPct val="100000"/>
              </a:lnSpc>
              <a:buNone/>
            </a:pP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Computation: 4527 steps/s (collection: 2.594s, learning 0.057s)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action noise std: 0.59</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value_function loss: 121.4887</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
          <p:cNvSpPr/>
          <p:nvPr/>
        </p:nvSpPr>
        <p:spPr>
          <a:xfrm>
            <a:off x="228600" y="457200"/>
            <a:ext cx="3050640" cy="1334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log_lift = RewTerm(</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func=mdp.log_lift_linear_reward,</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weight=1.0,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params={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"log_cfg": SceneEntityCfg("log"),</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"log_z0": 0.03,</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"lift_scale": 150.0,   # 500 -&gt; 150</a:t>
            </a:r>
            <a:r>
              <a:rPr b="0" lang="zh-CN" sz="800" spc="-1" strike="noStrike">
                <a:solidFill>
                  <a:srgbClr val="000000"/>
                </a:solidFill>
                <a:latin typeface="Arial"/>
                <a:ea typeface="DejaVu Sans"/>
              </a:rPr>
              <a:t>（先稳住）</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a:t>
            </a:r>
            <a:endParaRPr b="0" lang="en-US" sz="800" spc="-1" strike="noStrike">
              <a:latin typeface="Arial"/>
            </a:endParaRPr>
          </a:p>
        </p:txBody>
      </p:sp>
      <p:sp>
        <p:nvSpPr>
          <p:cNvPr id="224" name=""/>
          <p:cNvSpPr/>
          <p:nvPr/>
        </p:nvSpPr>
        <p:spPr>
          <a:xfrm>
            <a:off x="3886200" y="593640"/>
            <a:ext cx="3482280" cy="10040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class RewardsCfg:</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ee_to_log_distance = RewTerm(..., weight=1.0, params={...})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yaw_alignment      = RewTerm(..., weight=1.0, params={...})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vertical_upright   = RewTerm(..., weight=1.0, params={...})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grasp_open_close   = RewTerm(..., weight=1.0, params={...})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log_lift           = RewTerm(..., weight=1.0, params={...})</a:t>
            </a:r>
            <a:endParaRPr b="0" lang="en-US" sz="800" spc="-1" strike="noStrike">
              <a:latin typeface="Arial"/>
            </a:endParaRPr>
          </a:p>
          <a:p>
            <a:pPr>
              <a:lnSpc>
                <a:spcPct val="100000"/>
              </a:lnSpc>
              <a:buNone/>
            </a:pP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action_rate = RewTerm(func=mdp.safe_action_rate_l2, weight=-0.001)</a:t>
            </a:r>
            <a:endParaRPr b="0" lang="en-US" sz="800" spc="-1" strike="noStrike">
              <a:latin typeface="Arial"/>
            </a:endParaRPr>
          </a:p>
        </p:txBody>
      </p:sp>
      <p:sp>
        <p:nvSpPr>
          <p:cNvPr id="225" name=""/>
          <p:cNvSpPr/>
          <p:nvPr/>
        </p:nvSpPr>
        <p:spPr>
          <a:xfrm>
            <a:off x="8229600" y="950040"/>
            <a:ext cx="2361960" cy="4190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0.5</a:t>
            </a:r>
            <a:endParaRPr b="0" lang="en-US" sz="800" spc="-1" strike="noStrike">
              <a:latin typeface="Arial"/>
            </a:endParaRPr>
          </a:p>
        </p:txBody>
      </p:sp>
      <p:sp>
        <p:nvSpPr>
          <p:cNvPr id="226" name=""/>
          <p:cNvSpPr/>
          <p:nvPr/>
        </p:nvSpPr>
        <p:spPr>
          <a:xfrm>
            <a:off x="410400" y="2514600"/>
            <a:ext cx="3701880" cy="1919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Learning iteration 4/5000                        </a:t>
            </a:r>
            <a:endParaRPr b="0" lang="en-US" sz="800" spc="-1" strike="noStrike">
              <a:latin typeface="Arial"/>
            </a:endParaRPr>
          </a:p>
          <a:p>
            <a:pPr>
              <a:lnSpc>
                <a:spcPct val="100000"/>
              </a:lnSpc>
              <a:buNone/>
            </a:pP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Computation: 7301 steps/s (collection: 1.584s, learning 0.060s)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action noise std: 0.60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value_function loss: 0.0025</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surrogate loss: -0.0018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entropy loss: 2.7265</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reward: 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episode length: 89.22</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Episode_Reward/ee_to_log_distance: -0.2147</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Episode_Reward/yaw_alignment: 0.0753</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Episode_Reward/vertical_upright: 0.1239</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Episode_Reward/grasp_open_close: 0.0288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Episode_Reward/log_lift: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Episode_Reward/action_rate: 0.0000</a:t>
            </a:r>
            <a:endParaRPr b="0" lang="en-US" sz="800" spc="-1" strike="noStrike">
              <a:latin typeface="Arial"/>
            </a:endParaRPr>
          </a:p>
        </p:txBody>
      </p:sp>
      <p:sp>
        <p:nvSpPr>
          <p:cNvPr id="227" name=""/>
          <p:cNvSpPr/>
          <p:nvPr/>
        </p:nvSpPr>
        <p:spPr>
          <a:xfrm>
            <a:off x="4753800" y="2545560"/>
            <a:ext cx="3701880" cy="26067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Learning iteration 286/5000                       </a:t>
            </a:r>
            <a:endParaRPr b="0" lang="en-US" sz="800" spc="-1" strike="noStrike">
              <a:latin typeface="Arial"/>
            </a:endParaRPr>
          </a:p>
          <a:p>
            <a:pPr>
              <a:lnSpc>
                <a:spcPct val="100000"/>
              </a:lnSpc>
              <a:buNone/>
            </a:pP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Computation: 6287 steps/s (collection: 1.851s, learning 0.057s)</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action noise std: 0.57</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value_function loss: 0.0004</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surrogate loss: -0.0023</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entropy loss: 2.5756</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reward: 3.00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Mean episode length: 325.08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Episode_Reward/ee_to_log_distance: -0.4869</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Episode_Reward/yaw_alignment: 0.2288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Episode_Reward/vertical_upright: 0.4255</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Episode_Reward/grasp_open_close: 0.0930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Episode_Reward/log_lift: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Episode_Reward/action_rate: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Metrics/ee_pose/position_error: 0.1154</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Metrics/ee_pose/orientation_error: 0.2086</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Episode_Termination/time_out: 0.9278</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Episode_Termination/root_oob: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Episode_Termination/ee_speed_oob: 0.0000</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Episode_Termination/any_link_speed_oob: 0.0723</a:t>
            </a:r>
            <a:endParaRPr b="0" lang="en-US" sz="800" spc="-1" strike="noStrike">
              <a:latin typeface="Arial"/>
            </a:endParaRPr>
          </a:p>
          <a:p>
            <a:pPr>
              <a:lnSpc>
                <a:spcPct val="100000"/>
              </a:lnSpc>
              <a:buNone/>
            </a:pPr>
            <a:r>
              <a:rPr b="0" lang="en-US" sz="800" spc="-1" strike="noStrike">
                <a:solidFill>
                  <a:srgbClr val="000000"/>
                </a:solidFill>
                <a:latin typeface="Arial"/>
                <a:ea typeface="DejaVu Sans"/>
              </a:rPr>
              <a:t>  </a:t>
            </a:r>
            <a:r>
              <a:rPr b="0" lang="en-US" sz="800" spc="-1" strike="noStrike">
                <a:solidFill>
                  <a:srgbClr val="000000"/>
                </a:solidFill>
                <a:latin typeface="Arial"/>
                <a:ea typeface="DejaVu Sans"/>
              </a:rPr>
              <a:t>Episode_Termination/any_link_oob: 0.0000</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
          <p:cNvSpPr/>
          <p:nvPr/>
        </p:nvSpPr>
        <p:spPr>
          <a:xfrm>
            <a:off x="834120" y="681840"/>
            <a:ext cx="992880" cy="2307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masi_26_1.zip</a:t>
            </a:r>
            <a:endParaRPr b="0" lang="en-US" sz="1000" spc="-1" strike="noStrike">
              <a:latin typeface="Arial"/>
            </a:endParaRPr>
          </a:p>
        </p:txBody>
      </p:sp>
      <p:sp>
        <p:nvSpPr>
          <p:cNvPr id="229" name=""/>
          <p:cNvSpPr/>
          <p:nvPr/>
        </p:nvSpPr>
        <p:spPr>
          <a:xfrm>
            <a:off x="2057400" y="595440"/>
            <a:ext cx="1200960" cy="317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800" spc="-1" strike="noStrike">
                <a:solidFill>
                  <a:srgbClr val="000000"/>
                </a:solidFill>
                <a:latin typeface="Arial"/>
                <a:ea typeface="DejaVu Sans"/>
              </a:rPr>
              <a:t>Similar with  25 4 </a:t>
            </a:r>
            <a:endParaRPr b="0" lang="en-US" sz="800" spc="-1" strike="noStrike">
              <a:latin typeface="Arial"/>
            </a:endParaRPr>
          </a:p>
          <a:p>
            <a:pPr>
              <a:lnSpc>
                <a:spcPct val="100000"/>
              </a:lnSpc>
              <a:buNone/>
            </a:pPr>
            <a:endParaRPr b="0" lang="en-US" sz="800" spc="-1" strike="noStrike">
              <a:latin typeface="Arial"/>
            </a:endParaRPr>
          </a:p>
        </p:txBody>
      </p:sp>
      <p:pic>
        <p:nvPicPr>
          <p:cNvPr id="230" name="" descr=""/>
          <p:cNvPicPr/>
          <p:nvPr/>
        </p:nvPicPr>
        <p:blipFill>
          <a:blip r:embed="rId1"/>
          <a:stretch/>
        </p:blipFill>
        <p:spPr>
          <a:xfrm>
            <a:off x="225720" y="1235880"/>
            <a:ext cx="7316280" cy="4477320"/>
          </a:xfrm>
          <a:prstGeom prst="rect">
            <a:avLst/>
          </a:prstGeom>
          <a:ln w="0">
            <a:noFill/>
          </a:ln>
        </p:spPr>
      </p:pic>
      <p:pic>
        <p:nvPicPr>
          <p:cNvPr id="231" name="" descr=""/>
          <p:cNvPicPr/>
          <p:nvPr/>
        </p:nvPicPr>
        <p:blipFill>
          <a:blip r:embed="rId2"/>
          <a:stretch/>
        </p:blipFill>
        <p:spPr>
          <a:xfrm>
            <a:off x="7778520" y="1143000"/>
            <a:ext cx="4106880" cy="251280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2" name="" descr=""/>
          <p:cNvPicPr/>
          <p:nvPr/>
        </p:nvPicPr>
        <p:blipFill>
          <a:blip r:embed="rId1"/>
          <a:stretch/>
        </p:blipFill>
        <p:spPr>
          <a:xfrm>
            <a:off x="486000" y="1034640"/>
            <a:ext cx="6370560" cy="1935720"/>
          </a:xfrm>
          <a:prstGeom prst="rect">
            <a:avLst/>
          </a:prstGeom>
          <a:ln w="0">
            <a:noFill/>
          </a:ln>
        </p:spPr>
      </p:pic>
      <p:sp>
        <p:nvSpPr>
          <p:cNvPr id="233" name=""/>
          <p:cNvSpPr/>
          <p:nvPr/>
        </p:nvSpPr>
        <p:spPr>
          <a:xfrm>
            <a:off x="457200" y="228600"/>
            <a:ext cx="6627960" cy="11127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Masi_27_1   totally different version</a:t>
            </a:r>
            <a:endParaRPr b="0" lang="en-US" sz="1800" spc="-1" strike="noStrike">
              <a:latin typeface="Arial"/>
            </a:endParaRPr>
          </a:p>
        </p:txBody>
      </p:sp>
      <p:pic>
        <p:nvPicPr>
          <p:cNvPr id="234" name="" descr=""/>
          <p:cNvPicPr/>
          <p:nvPr/>
        </p:nvPicPr>
        <p:blipFill>
          <a:blip r:embed="rId2"/>
          <a:stretch/>
        </p:blipFill>
        <p:spPr>
          <a:xfrm>
            <a:off x="457200" y="3141720"/>
            <a:ext cx="6277320" cy="3257640"/>
          </a:xfrm>
          <a:prstGeom prst="rect">
            <a:avLst/>
          </a:prstGeom>
          <a:ln w="0">
            <a:noFill/>
          </a:ln>
        </p:spPr>
      </p:pic>
      <p:sp>
        <p:nvSpPr>
          <p:cNvPr id="235" name=""/>
          <p:cNvSpPr/>
          <p:nvPr/>
        </p:nvSpPr>
        <p:spPr>
          <a:xfrm>
            <a:off x="7285320" y="228600"/>
            <a:ext cx="8029440" cy="62323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Learning iteration 719/5000                       </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Computation: 5263 steps/s (collection: 2.221s, learning 0.059s)</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action noise std: 0.45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value_function loss: 0.0005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surrogate loss: 0.0030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entropy loss: 2.5630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reward: 57.86</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Mean episode length: 360.00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Episode_Reward/ee_to_log: 2.8202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Episode_Reward/yaw_alignment: 0.4892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Episode_Reward/vertical_upright: 0.9932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Episode_Reward/grasp_open_close: 0.4561</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Episode_Reward/log_lift: 0.0532</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Episode_Reward/action_rate: 0.0000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Episode_Termination/time_out: 1.0000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Episode_Termination/root_oob: 0.0000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Episode_Termination/ee_speed_oob: 0.0000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Total timesteps: 8640000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Iteration time: 2.28s</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Time elapsed: 00:24:25</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ETA: 02:25:12</a:t>
            </a:r>
            <a:endParaRPr b="0" lang="en-US" sz="1800" spc="-1" strike="noStrike">
              <a:latin typeface="Arial"/>
            </a:endParaRPr>
          </a:p>
          <a:p>
            <a:pPr>
              <a:lnSpc>
                <a:spcPct val="100000"/>
              </a:lnSpc>
              <a:buNone/>
            </a:pP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6" name="" descr=""/>
          <p:cNvPicPr/>
          <p:nvPr/>
        </p:nvPicPr>
        <p:blipFill>
          <a:blip r:embed="rId1"/>
          <a:stretch/>
        </p:blipFill>
        <p:spPr>
          <a:xfrm>
            <a:off x="30600" y="1371600"/>
            <a:ext cx="12190320" cy="5286960"/>
          </a:xfrm>
          <a:prstGeom prst="rect">
            <a:avLst/>
          </a:prstGeom>
          <a:ln w="0">
            <a:noFill/>
          </a:ln>
        </p:spPr>
      </p:pic>
      <p:sp>
        <p:nvSpPr>
          <p:cNvPr id="237" name=""/>
          <p:cNvSpPr/>
          <p:nvPr/>
        </p:nvSpPr>
        <p:spPr>
          <a:xfrm>
            <a:off x="0" y="540360"/>
            <a:ext cx="12366720" cy="6012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what the key factors to influcing he Log the value still so lower(still around 0.0532) when training , it indicate  no any lifted Log action or have being triggered </a:t>
            </a:r>
            <a:endParaRPr b="0" lang="en-US" sz="1800" spc="-1" strike="noStrike">
              <a:latin typeface="Arial"/>
            </a:endParaRPr>
          </a:p>
        </p:txBody>
      </p:sp>
      <p:sp>
        <p:nvSpPr>
          <p:cNvPr id="238" name=""/>
          <p:cNvSpPr/>
          <p:nvPr/>
        </p:nvSpPr>
        <p:spPr>
          <a:xfrm>
            <a:off x="0" y="-34920"/>
            <a:ext cx="1293480" cy="3452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masi_28_1</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
          <p:cNvSpPr/>
          <p:nvPr/>
        </p:nvSpPr>
        <p:spPr>
          <a:xfrm>
            <a:off x="360" y="-34560"/>
            <a:ext cx="1293480" cy="3452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masi_28_1</a:t>
            </a:r>
            <a:endParaRPr b="0" lang="en-US" sz="1800" spc="-1" strike="noStrike">
              <a:latin typeface="Arial"/>
            </a:endParaRPr>
          </a:p>
        </p:txBody>
      </p:sp>
      <p:pic>
        <p:nvPicPr>
          <p:cNvPr id="240" name="" descr=""/>
          <p:cNvPicPr/>
          <p:nvPr/>
        </p:nvPicPr>
        <p:blipFill>
          <a:blip r:embed="rId1"/>
          <a:stretch/>
        </p:blipFill>
        <p:spPr>
          <a:xfrm>
            <a:off x="351000" y="511920"/>
            <a:ext cx="5591160" cy="3144240"/>
          </a:xfrm>
          <a:prstGeom prst="rect">
            <a:avLst/>
          </a:prstGeom>
          <a:ln w="0">
            <a:noFill/>
          </a:ln>
        </p:spPr>
      </p:pic>
      <p:pic>
        <p:nvPicPr>
          <p:cNvPr id="241" name="" descr=""/>
          <p:cNvPicPr/>
          <p:nvPr/>
        </p:nvPicPr>
        <p:blipFill>
          <a:blip r:embed="rId2"/>
          <a:stretch/>
        </p:blipFill>
        <p:spPr>
          <a:xfrm>
            <a:off x="6294600" y="457200"/>
            <a:ext cx="5688360" cy="3198960"/>
          </a:xfrm>
          <a:prstGeom prst="rect">
            <a:avLst/>
          </a:prstGeom>
          <a:ln w="0">
            <a:noFill/>
          </a:ln>
        </p:spPr>
      </p:pic>
      <p:sp>
        <p:nvSpPr>
          <p:cNvPr id="242" name=""/>
          <p:cNvSpPr/>
          <p:nvPr/>
        </p:nvSpPr>
        <p:spPr>
          <a:xfrm>
            <a:off x="1731960" y="110520"/>
            <a:ext cx="2381400" cy="3452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2026-01-05_18-09-03</a:t>
            </a:r>
            <a:endParaRPr b="0" lang="en-US" sz="1800" spc="-1" strike="noStrike">
              <a:latin typeface="Arial"/>
            </a:endParaRPr>
          </a:p>
        </p:txBody>
      </p:sp>
      <p:pic>
        <p:nvPicPr>
          <p:cNvPr id="243" name="" descr=""/>
          <p:cNvPicPr/>
          <p:nvPr/>
        </p:nvPicPr>
        <p:blipFill>
          <a:blip r:embed="rId3"/>
          <a:stretch/>
        </p:blipFill>
        <p:spPr>
          <a:xfrm>
            <a:off x="288720" y="3886200"/>
            <a:ext cx="4053240" cy="2373120"/>
          </a:xfrm>
          <a:prstGeom prst="rect">
            <a:avLst/>
          </a:prstGeom>
          <a:ln w="0">
            <a:noFill/>
          </a:ln>
        </p:spPr>
      </p:pic>
      <p:pic>
        <p:nvPicPr>
          <p:cNvPr id="244" name="" descr=""/>
          <p:cNvPicPr/>
          <p:nvPr/>
        </p:nvPicPr>
        <p:blipFill>
          <a:blip r:embed="rId4"/>
          <a:stretch/>
        </p:blipFill>
        <p:spPr>
          <a:xfrm>
            <a:off x="4632120" y="3886200"/>
            <a:ext cx="4053240" cy="2373120"/>
          </a:xfrm>
          <a:prstGeom prst="rect">
            <a:avLst/>
          </a:prstGeom>
          <a:ln w="0">
            <a:noFill/>
          </a:ln>
        </p:spPr>
      </p:pic>
      <p:sp>
        <p:nvSpPr>
          <p:cNvPr id="245" name=""/>
          <p:cNvSpPr/>
          <p:nvPr/>
        </p:nvSpPr>
        <p:spPr>
          <a:xfrm>
            <a:off x="4266360" y="224640"/>
            <a:ext cx="2818800" cy="2311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events.out.tfevents.1767629354.home.17879.0</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TextBox 1"/>
          <p:cNvSpPr/>
          <p:nvPr/>
        </p:nvSpPr>
        <p:spPr>
          <a:xfrm>
            <a:off x="1440" y="549720"/>
            <a:ext cx="1369440" cy="3639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Symbol"/>
              <a:buChar char=""/>
            </a:pPr>
            <a:r>
              <a:rPr b="0" lang="en-US" sz="1800" spc="-1" strike="noStrike">
                <a:solidFill>
                  <a:srgbClr val="000000"/>
                </a:solidFill>
                <a:latin typeface="Arial"/>
                <a:ea typeface="DejaVu Sans"/>
              </a:rPr>
              <a:t>5000/500</a:t>
            </a:r>
            <a:endParaRPr b="0" lang="en-US" sz="1800" spc="-1" strike="noStrike">
              <a:latin typeface="Arial"/>
            </a:endParaRPr>
          </a:p>
        </p:txBody>
      </p:sp>
      <p:pic>
        <p:nvPicPr>
          <p:cNvPr id="247" name="" descr=""/>
          <p:cNvPicPr/>
          <p:nvPr/>
        </p:nvPicPr>
        <p:blipFill>
          <a:blip r:embed="rId1"/>
          <a:stretch/>
        </p:blipFill>
        <p:spPr>
          <a:xfrm>
            <a:off x="228600" y="1041840"/>
            <a:ext cx="11276640" cy="2386440"/>
          </a:xfrm>
          <a:prstGeom prst="rect">
            <a:avLst/>
          </a:prstGeom>
          <a:ln w="0">
            <a:noFill/>
          </a:ln>
        </p:spPr>
      </p:pic>
      <p:sp>
        <p:nvSpPr>
          <p:cNvPr id="248" name=""/>
          <p:cNvSpPr/>
          <p:nvPr/>
        </p:nvSpPr>
        <p:spPr>
          <a:xfrm>
            <a:off x="1371600" y="55080"/>
            <a:ext cx="7192080" cy="857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python scripts/reinforcement_learning/rsl_rl/train.py --num_envs 500 \</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--task Isaac-Masi-LogIK-train-v0 \</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--experiment_name masi_logik</a:t>
            </a:r>
            <a:r>
              <a:rPr b="0" lang="en-US" sz="1800" spc="-1" strike="noStrike">
                <a:solidFill>
                  <a:srgbClr val="000000"/>
                </a:solidFill>
                <a:latin typeface="Arial"/>
                <a:ea typeface="DejaVu Sans"/>
              </a:rPr>
              <a:t>	</a:t>
            </a:r>
            <a:endParaRPr b="0" lang="en-US" sz="1800" spc="-1" strike="noStrike">
              <a:latin typeface="Arial"/>
            </a:endParaRPr>
          </a:p>
        </p:txBody>
      </p:sp>
      <p:pic>
        <p:nvPicPr>
          <p:cNvPr id="249" name="" descr=""/>
          <p:cNvPicPr/>
          <p:nvPr/>
        </p:nvPicPr>
        <p:blipFill>
          <a:blip r:embed="rId2"/>
          <a:stretch/>
        </p:blipFill>
        <p:spPr>
          <a:xfrm>
            <a:off x="228600" y="3657600"/>
            <a:ext cx="12191040" cy="2580120"/>
          </a:xfrm>
          <a:prstGeom prst="rect">
            <a:avLst/>
          </a:prstGeom>
          <a:ln w="0">
            <a:noFill/>
          </a:ln>
        </p:spPr>
      </p:pic>
      <p:sp>
        <p:nvSpPr>
          <p:cNvPr id="250" name=""/>
          <p:cNvSpPr/>
          <p:nvPr/>
        </p:nvSpPr>
        <p:spPr>
          <a:xfrm>
            <a:off x="5943600" y="567720"/>
            <a:ext cx="5233680" cy="3459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tensorboard --logdir . --port 6018 --load_fast=false</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TextBox 4"/>
          <p:cNvSpPr/>
          <p:nvPr/>
        </p:nvSpPr>
        <p:spPr>
          <a:xfrm>
            <a:off x="1440" y="549720"/>
            <a:ext cx="1369440" cy="3639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Symbol"/>
              <a:buChar char=""/>
            </a:pPr>
            <a:r>
              <a:rPr b="0" lang="en-US" sz="1800" spc="-1" strike="noStrike">
                <a:solidFill>
                  <a:srgbClr val="000000"/>
                </a:solidFill>
                <a:latin typeface="Arial"/>
                <a:ea typeface="DejaVu Sans"/>
              </a:rPr>
              <a:t>5000/500</a:t>
            </a:r>
            <a:endParaRPr b="0" lang="en-US" sz="1800" spc="-1" strike="noStrike">
              <a:latin typeface="Arial"/>
            </a:endParaRPr>
          </a:p>
        </p:txBody>
      </p:sp>
      <p:sp>
        <p:nvSpPr>
          <p:cNvPr id="252" name=""/>
          <p:cNvSpPr/>
          <p:nvPr/>
        </p:nvSpPr>
        <p:spPr>
          <a:xfrm>
            <a:off x="1371600" y="55080"/>
            <a:ext cx="7192080" cy="857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python scripts/reinforcement_learning/rsl_rl/train.py --num_envs 500 \</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--task Isaac-Masi-LogIK-train-v0 \</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--experiment_name masi_logik</a:t>
            </a:r>
            <a:r>
              <a:rPr b="0" lang="en-US" sz="1800" spc="-1" strike="noStrike">
                <a:solidFill>
                  <a:srgbClr val="000000"/>
                </a:solidFill>
                <a:latin typeface="Arial"/>
                <a:ea typeface="DejaVu Sans"/>
              </a:rPr>
              <a:t>	</a:t>
            </a:r>
            <a:endParaRPr b="0" lang="en-US" sz="1800" spc="-1" strike="noStrike">
              <a:latin typeface="Arial"/>
            </a:endParaRPr>
          </a:p>
        </p:txBody>
      </p:sp>
      <p:pic>
        <p:nvPicPr>
          <p:cNvPr id="253" name="" descr=""/>
          <p:cNvPicPr/>
          <p:nvPr/>
        </p:nvPicPr>
        <p:blipFill>
          <a:blip r:embed="rId1"/>
          <a:stretch/>
        </p:blipFill>
        <p:spPr>
          <a:xfrm>
            <a:off x="228600" y="914400"/>
            <a:ext cx="12191040" cy="574920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TextBox 5"/>
          <p:cNvSpPr/>
          <p:nvPr/>
        </p:nvSpPr>
        <p:spPr>
          <a:xfrm>
            <a:off x="1440" y="549720"/>
            <a:ext cx="1369440" cy="3639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Symbol"/>
              <a:buChar char=""/>
            </a:pPr>
            <a:r>
              <a:rPr b="0" lang="en-US" sz="1800" spc="-1" strike="noStrike">
                <a:solidFill>
                  <a:srgbClr val="000000"/>
                </a:solidFill>
                <a:latin typeface="Arial"/>
                <a:ea typeface="DejaVu Sans"/>
              </a:rPr>
              <a:t>5000/500</a:t>
            </a:r>
            <a:endParaRPr b="0" lang="en-US" sz="1800" spc="-1" strike="noStrike">
              <a:latin typeface="Arial"/>
            </a:endParaRPr>
          </a:p>
        </p:txBody>
      </p:sp>
      <p:sp>
        <p:nvSpPr>
          <p:cNvPr id="255" name=""/>
          <p:cNvSpPr/>
          <p:nvPr/>
        </p:nvSpPr>
        <p:spPr>
          <a:xfrm>
            <a:off x="1371600" y="55080"/>
            <a:ext cx="7192080" cy="857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python scripts/reinforcement_learning/rsl_rl/train.py --num_envs 500 \</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--task Isaac-Masi-LogIK-train-v0 \</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  </a:t>
            </a:r>
            <a:r>
              <a:rPr b="0" lang="en-US" sz="1800" spc="-1" strike="noStrike">
                <a:solidFill>
                  <a:srgbClr val="000000"/>
                </a:solidFill>
                <a:latin typeface="Arial"/>
                <a:ea typeface="DejaVu Sans"/>
              </a:rPr>
              <a:t>--experiment_name masi_logik</a:t>
            </a:r>
            <a:r>
              <a:rPr b="0" lang="en-US" sz="1800" spc="-1" strike="noStrike">
                <a:solidFill>
                  <a:srgbClr val="000000"/>
                </a:solidFill>
                <a:latin typeface="Arial"/>
                <a:ea typeface="DejaVu Sans"/>
              </a:rPr>
              <a:t>	</a:t>
            </a:r>
            <a:endParaRPr b="0" lang="en-US" sz="1800" spc="-1" strike="noStrike">
              <a:latin typeface="Arial"/>
            </a:endParaRPr>
          </a:p>
        </p:txBody>
      </p:sp>
      <p:pic>
        <p:nvPicPr>
          <p:cNvPr id="256" name="" descr=""/>
          <p:cNvPicPr/>
          <p:nvPr/>
        </p:nvPicPr>
        <p:blipFill>
          <a:blip r:embed="rId1"/>
          <a:stretch/>
        </p:blipFill>
        <p:spPr>
          <a:xfrm>
            <a:off x="0" y="1371600"/>
            <a:ext cx="12191040" cy="2975400"/>
          </a:xfrm>
          <a:prstGeom prst="rect">
            <a:avLst/>
          </a:prstGeom>
          <a:ln w="0">
            <a:noFill/>
          </a:ln>
        </p:spPr>
      </p:pic>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
          <p:cNvSpPr/>
          <p:nvPr/>
        </p:nvSpPr>
        <p:spPr>
          <a:xfrm>
            <a:off x="206280" y="184680"/>
            <a:ext cx="7794360" cy="39297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latin typeface="Arial"/>
              </a:rPr>
              <a:t>ting seed: 42</a:t>
            </a:r>
            <a:endParaRPr b="0" lang="en-US" sz="1800" spc="-1" strike="noStrike">
              <a:latin typeface="Arial"/>
            </a:endParaRPr>
          </a:p>
          <a:p>
            <a:pPr>
              <a:lnSpc>
                <a:spcPct val="100000"/>
              </a:lnSpc>
              <a:buNone/>
            </a:pPr>
            <a:r>
              <a:rPr b="0" lang="en-US" sz="1800" spc="-1" strike="noStrike">
                <a:latin typeface="Arial"/>
              </a:rPr>
              <a:t>[INFO]: Base environment:</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Environment device    : cuda:0</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Environment seed      : 42</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Physics step-size     : 0.016666666666666666</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Rendering step-size   : 0.03333333333333333</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Environment step-size : 0.03333333333333333</a:t>
            </a:r>
            <a:endParaRPr b="0" lang="en-US" sz="1800" spc="-1" strike="noStrike">
              <a:latin typeface="Arial"/>
            </a:endParaRPr>
          </a:p>
          <a:p>
            <a:pPr>
              <a:lnSpc>
                <a:spcPct val="100000"/>
              </a:lnSpc>
              <a:buNone/>
            </a:pPr>
            <a:r>
              <a:rPr b="0" lang="en-US" sz="1800" spc="-1" strike="noStrike">
                <a:latin typeface="Arial"/>
              </a:rPr>
              <a:t>[INFO]: Time taken for scene creation : 3.104542 seconds</a:t>
            </a:r>
            <a:endParaRPr b="0" lang="en-US" sz="1800" spc="-1" strike="noStrike">
              <a:latin typeface="Arial"/>
            </a:endParaRPr>
          </a:p>
          <a:p>
            <a:pPr>
              <a:lnSpc>
                <a:spcPct val="100000"/>
              </a:lnSpc>
              <a:buNone/>
            </a:pPr>
            <a:r>
              <a:rPr b="0" lang="en-US" sz="1800" spc="-1" strike="noStrike">
                <a:latin typeface="Arial"/>
              </a:rPr>
              <a:t>[INFO]: Scene manager:  &lt;class InteractiveScene&gt;</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Number of environments: 4090</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Environment spacing   : 2.5</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Source prim name      : /World/envs/env_0</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Global prim paths     : []</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Replicate physics     : True</a:t>
            </a:r>
            <a:endParaRPr b="0" lang="en-US" sz="1800" spc="-1" strike="noStrike">
              <a:latin typeface="Arial"/>
            </a:endParaRPr>
          </a:p>
          <a:p>
            <a:pPr>
              <a:lnSpc>
                <a:spcPct val="100000"/>
              </a:lnSpc>
              <a:buNone/>
            </a:pPr>
            <a:r>
              <a:rPr b="0" lang="en-US" sz="1800" spc="-1" strike="noStrike">
                <a:latin typeface="Arial"/>
              </a:rPr>
              <a:t>[INFO]: Starting the simulation. This may take a few seconds. Please wait...</a:t>
            </a:r>
            <a:endParaRPr b="0" lang="en-US" sz="1800" spc="-1" strike="noStrike">
              <a:latin typeface="Arial"/>
            </a:endParaRPr>
          </a:p>
        </p:txBody>
      </p:sp>
      <p:sp>
        <p:nvSpPr>
          <p:cNvPr id="258" name=""/>
          <p:cNvSpPr/>
          <p:nvPr/>
        </p:nvSpPr>
        <p:spPr>
          <a:xfrm>
            <a:off x="817560" y="4800600"/>
            <a:ext cx="2382480" cy="3463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latin typeface="Arial"/>
              </a:rPr>
              <a:t>2026-01-05_21-43-36</a:t>
            </a:r>
            <a:endParaRPr b="0" lang="en-US" sz="1800" spc="-1" strike="noStrike">
              <a:latin typeface="Arial"/>
            </a:endParaRPr>
          </a:p>
        </p:txBody>
      </p:sp>
      <p:sp>
        <p:nvSpPr>
          <p:cNvPr id="259" name=""/>
          <p:cNvSpPr/>
          <p:nvPr/>
        </p:nvSpPr>
        <p:spPr>
          <a:xfrm>
            <a:off x="914400" y="5257800"/>
            <a:ext cx="4947480" cy="3463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latin typeface="Arial"/>
              </a:rPr>
              <a:t>events.out.tfevents.1767642223.home.31458.0</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
          <p:cNvSpPr/>
          <p:nvPr/>
        </p:nvSpPr>
        <p:spPr>
          <a:xfrm>
            <a:off x="182160" y="228600"/>
            <a:ext cx="8275680" cy="64893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latin typeface="Arial"/>
              </a:rPr>
              <a:t>################################################################</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Learning iteration 8600/10000                      </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Computation: 11375 steps/s (collection: 8.577s, learning 0.052s)</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Mean action noise std: 13.84</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Mean value_function loss: 0.7078</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Mean surrogate loss: -0.0008</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Mean entropy loss: 23.1809</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Mean reward: 122.37</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Mean episode length: 349.77</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Episode_Reward/ee_to_log: 2.6600</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Episode_Reward/yaw_alignment: 0.4580</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Episode_Reward/vertical_upright: 0.9721</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Episode_Reward/grasp_open_close: 0.5788</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Episode_Reward/log_lift: 5.6734</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Episode_Reward/action_rate: 0.0000</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Episode_Termination/time_out: 0.9777</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Episode_Termination/root_oob: 0.0000</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Episode_Termination/ee_speed_oob: 0.0223</a:t>
            </a:r>
            <a:endParaRPr b="0" lang="en-US" sz="1800" spc="-1" strike="noStrike">
              <a:latin typeface="Arial"/>
            </a:endParaRPr>
          </a:p>
          <a:p>
            <a:pPr>
              <a:lnSpc>
                <a:spcPct val="100000"/>
              </a:lnSpc>
              <a:buNone/>
            </a:pPr>
            <a:r>
              <a:rPr b="0" lang="en-US" sz="1800" spc="-1" strike="noStrike">
                <a:latin typeface="Arial"/>
              </a:rPr>
              <a:t>--------------------------------------------------------------------------------</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Total timesteps: 844274160</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Iteration time: 8.63s</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Time elapsed: 15:10:37</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ETA: 02:28:13</a:t>
            </a:r>
            <a:endParaRPr b="0" lang="en-US" sz="1800" spc="-1" strike="noStrike">
              <a:latin typeface="Arial"/>
            </a:endParaRPr>
          </a:p>
          <a:p>
            <a:pPr>
              <a:lnSpc>
                <a:spcPct val="100000"/>
              </a:lnSpc>
              <a:buNone/>
            </a:pP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TextBox 8"/>
          <p:cNvSpPr/>
          <p:nvPr/>
        </p:nvSpPr>
        <p:spPr>
          <a:xfrm>
            <a:off x="0" y="0"/>
            <a:ext cx="3200040" cy="3639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Symbol"/>
              <a:buChar char=""/>
            </a:pPr>
            <a:r>
              <a:rPr b="0" lang="en-US" sz="1800" spc="-1" strike="noStrike">
                <a:solidFill>
                  <a:srgbClr val="000000"/>
                </a:solidFill>
                <a:latin typeface="Arial"/>
                <a:ea typeface="DejaVu Sans"/>
              </a:rPr>
              <a:t>10000  4090</a:t>
            </a:r>
            <a:endParaRPr b="0" lang="en-US" sz="1800" spc="-1" strike="noStrike">
              <a:latin typeface="Arial"/>
            </a:endParaRPr>
          </a:p>
        </p:txBody>
      </p:sp>
      <p:sp>
        <p:nvSpPr>
          <p:cNvPr id="262" name=""/>
          <p:cNvSpPr/>
          <p:nvPr/>
        </p:nvSpPr>
        <p:spPr>
          <a:xfrm>
            <a:off x="228600" y="685800"/>
            <a:ext cx="7192440" cy="137016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latin typeface="Arial"/>
              </a:rPr>
              <a:t>python scripts/reinforcement_learning/rsl_rl/train.py --num_envs 500 \</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--task Isaac-Masi-LogIK-train-v0 \</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--experiment_name masi_logik \</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--load_run 2026-01-05_21-43-36 \</a:t>
            </a:r>
            <a:endParaRPr b="0" lang="en-US" sz="1800" spc="-1" strike="noStrike">
              <a:latin typeface="Arial"/>
            </a:endParaRPr>
          </a:p>
          <a:p>
            <a:pPr>
              <a:lnSpc>
                <a:spcPct val="100000"/>
              </a:lnSpc>
              <a:buNone/>
            </a:pPr>
            <a:r>
              <a:rPr b="0" lang="en-US" sz="1800" spc="-1" strike="noStrike">
                <a:latin typeface="Arial"/>
              </a:rPr>
              <a:t>  </a:t>
            </a:r>
            <a:r>
              <a:rPr b="0" lang="en-US" sz="1800" spc="-1" strike="noStrike">
                <a:latin typeface="Arial"/>
              </a:rPr>
              <a:t>--resume</a:t>
            </a:r>
            <a:endParaRPr b="0" lang="en-US" sz="1800" spc="-1" strike="noStrike">
              <a:latin typeface="Arial"/>
            </a:endParaRPr>
          </a:p>
        </p:txBody>
      </p:sp>
      <p:pic>
        <p:nvPicPr>
          <p:cNvPr id="263" name="" descr=""/>
          <p:cNvPicPr/>
          <p:nvPr/>
        </p:nvPicPr>
        <p:blipFill>
          <a:blip r:embed="rId1"/>
          <a:stretch/>
        </p:blipFill>
        <p:spPr>
          <a:xfrm>
            <a:off x="222120" y="2286000"/>
            <a:ext cx="7321320" cy="4029840"/>
          </a:xfrm>
          <a:prstGeom prst="rect">
            <a:avLst/>
          </a:prstGeom>
          <a:ln w="0">
            <a:noFill/>
          </a:ln>
        </p:spPr>
      </p:pic>
      <p:pic>
        <p:nvPicPr>
          <p:cNvPr id="264" name="" descr=""/>
          <p:cNvPicPr/>
          <p:nvPr/>
        </p:nvPicPr>
        <p:blipFill>
          <a:blip r:embed="rId2"/>
          <a:stretch/>
        </p:blipFill>
        <p:spPr>
          <a:xfrm>
            <a:off x="6400800" y="1143000"/>
            <a:ext cx="5597640" cy="3080880"/>
          </a:xfrm>
          <a:prstGeom prst="rect">
            <a:avLst/>
          </a:prstGeom>
          <a:ln w="0">
            <a:noFill/>
          </a:ln>
        </p:spPr>
      </p:pic>
      <p:pic>
        <p:nvPicPr>
          <p:cNvPr id="265" name="" descr=""/>
          <p:cNvPicPr/>
          <p:nvPr/>
        </p:nvPicPr>
        <p:blipFill>
          <a:blip r:embed="rId3"/>
          <a:stretch/>
        </p:blipFill>
        <p:spPr>
          <a:xfrm>
            <a:off x="7086600" y="3781800"/>
            <a:ext cx="4806720" cy="2618640"/>
          </a:xfrm>
          <a:prstGeom prst="rect">
            <a:avLst/>
          </a:prstGeom>
          <a:ln w="0">
            <a:noFill/>
          </a:ln>
        </p:spPr>
      </p:pic>
      <p:pic>
        <p:nvPicPr>
          <p:cNvPr id="266" name="" descr=""/>
          <p:cNvPicPr/>
          <p:nvPr/>
        </p:nvPicPr>
        <p:blipFill>
          <a:blip r:embed="rId4"/>
          <a:stretch/>
        </p:blipFill>
        <p:spPr>
          <a:xfrm>
            <a:off x="8019360" y="3886200"/>
            <a:ext cx="4553280" cy="2480760"/>
          </a:xfrm>
          <a:prstGeom prst="rect">
            <a:avLst/>
          </a:prstGeom>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TextBox 7"/>
          <p:cNvSpPr/>
          <p:nvPr/>
        </p:nvSpPr>
        <p:spPr>
          <a:xfrm>
            <a:off x="0" y="0"/>
            <a:ext cx="3200040" cy="3639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Symbol"/>
              <a:buChar char=""/>
            </a:pPr>
            <a:r>
              <a:rPr b="0" lang="en-US" sz="1800" spc="-1" strike="noStrike">
                <a:solidFill>
                  <a:srgbClr val="000000"/>
                </a:solidFill>
                <a:latin typeface="Arial"/>
                <a:ea typeface="DejaVu Sans"/>
              </a:rPr>
              <a:t>10000  4090</a:t>
            </a:r>
            <a:endParaRPr b="0" lang="en-US" sz="1800" spc="-1" strike="noStrike">
              <a:latin typeface="Arial"/>
            </a:endParaRPr>
          </a:p>
        </p:txBody>
      </p:sp>
      <p:pic>
        <p:nvPicPr>
          <p:cNvPr id="268" name="" descr=""/>
          <p:cNvPicPr/>
          <p:nvPr/>
        </p:nvPicPr>
        <p:blipFill>
          <a:blip r:embed="rId1"/>
          <a:stretch/>
        </p:blipFill>
        <p:spPr>
          <a:xfrm>
            <a:off x="0" y="602280"/>
            <a:ext cx="12191400" cy="2597760"/>
          </a:xfrm>
          <a:prstGeom prst="rect">
            <a:avLst/>
          </a:prstGeom>
          <a:ln w="0">
            <a:noFill/>
          </a:ln>
        </p:spPr>
      </p:pic>
      <p:pic>
        <p:nvPicPr>
          <p:cNvPr id="269" name="" descr=""/>
          <p:cNvPicPr/>
          <p:nvPr/>
        </p:nvPicPr>
        <p:blipFill>
          <a:blip r:embed="rId2"/>
          <a:stretch/>
        </p:blipFill>
        <p:spPr>
          <a:xfrm>
            <a:off x="228600" y="3429000"/>
            <a:ext cx="11886840" cy="2532960"/>
          </a:xfrm>
          <a:prstGeom prst="rect">
            <a:avLst/>
          </a:prstGeom>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TextBox 14"/>
          <p:cNvSpPr/>
          <p:nvPr/>
        </p:nvSpPr>
        <p:spPr>
          <a:xfrm>
            <a:off x="0" y="0"/>
            <a:ext cx="3200040" cy="3639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Symbol"/>
              <a:buChar char=""/>
            </a:pPr>
            <a:r>
              <a:rPr b="0" lang="en-US" sz="1800" spc="-1" strike="noStrike">
                <a:solidFill>
                  <a:srgbClr val="000000"/>
                </a:solidFill>
                <a:latin typeface="Arial"/>
                <a:ea typeface="DejaVu Sans"/>
              </a:rPr>
              <a:t>10000  4090</a:t>
            </a:r>
            <a:endParaRPr b="0" lang="en-US" sz="1800" spc="-1" strike="noStrike">
              <a:latin typeface="Arial"/>
            </a:endParaRPr>
          </a:p>
        </p:txBody>
      </p:sp>
      <p:pic>
        <p:nvPicPr>
          <p:cNvPr id="271" name="" descr=""/>
          <p:cNvPicPr/>
          <p:nvPr/>
        </p:nvPicPr>
        <p:blipFill>
          <a:blip r:embed="rId1"/>
          <a:stretch/>
        </p:blipFill>
        <p:spPr>
          <a:xfrm>
            <a:off x="360" y="602280"/>
            <a:ext cx="12191400" cy="2597760"/>
          </a:xfrm>
          <a:prstGeom prst="rect">
            <a:avLst/>
          </a:prstGeom>
          <a:ln w="0">
            <a:noFill/>
          </a:ln>
        </p:spPr>
      </p:pic>
      <p:pic>
        <p:nvPicPr>
          <p:cNvPr id="272" name="" descr=""/>
          <p:cNvPicPr/>
          <p:nvPr/>
        </p:nvPicPr>
        <p:blipFill>
          <a:blip r:embed="rId2"/>
          <a:stretch/>
        </p:blipFill>
        <p:spPr>
          <a:xfrm>
            <a:off x="152280" y="3394080"/>
            <a:ext cx="11963160" cy="2549160"/>
          </a:xfrm>
          <a:prstGeom prst="rect">
            <a:avLst/>
          </a:prstGeom>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TextBox 10"/>
          <p:cNvSpPr/>
          <p:nvPr/>
        </p:nvSpPr>
        <p:spPr>
          <a:xfrm>
            <a:off x="0" y="0"/>
            <a:ext cx="3200040" cy="3639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Symbol"/>
              <a:buChar char=""/>
            </a:pPr>
            <a:r>
              <a:rPr b="0" lang="en-US" sz="1800" spc="-1" strike="noStrike">
                <a:solidFill>
                  <a:srgbClr val="000000"/>
                </a:solidFill>
                <a:latin typeface="Arial"/>
                <a:ea typeface="DejaVu Sans"/>
              </a:rPr>
              <a:t>10000  4090</a:t>
            </a:r>
            <a:endParaRPr b="0" lang="en-US" sz="1800" spc="-1" strike="noStrike">
              <a:latin typeface="Arial"/>
            </a:endParaRPr>
          </a:p>
        </p:txBody>
      </p:sp>
      <p:pic>
        <p:nvPicPr>
          <p:cNvPr id="274" name="" descr=""/>
          <p:cNvPicPr/>
          <p:nvPr/>
        </p:nvPicPr>
        <p:blipFill>
          <a:blip r:embed="rId1"/>
          <a:stretch/>
        </p:blipFill>
        <p:spPr>
          <a:xfrm>
            <a:off x="30600" y="457200"/>
            <a:ext cx="12191400" cy="2597760"/>
          </a:xfrm>
          <a:prstGeom prst="rect">
            <a:avLst/>
          </a:prstGeom>
          <a:ln w="0">
            <a:noFill/>
          </a:ln>
        </p:spPr>
      </p:pic>
      <p:pic>
        <p:nvPicPr>
          <p:cNvPr id="275" name="" descr=""/>
          <p:cNvPicPr/>
          <p:nvPr/>
        </p:nvPicPr>
        <p:blipFill>
          <a:blip r:embed="rId2"/>
          <a:stretch/>
        </p:blipFill>
        <p:spPr>
          <a:xfrm>
            <a:off x="0" y="3429000"/>
            <a:ext cx="12191400" cy="2597760"/>
          </a:xfrm>
          <a:prstGeom prst="rect">
            <a:avLst/>
          </a:prstGeom>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TextBox 12"/>
          <p:cNvSpPr/>
          <p:nvPr/>
        </p:nvSpPr>
        <p:spPr>
          <a:xfrm>
            <a:off x="0" y="0"/>
            <a:ext cx="3200040" cy="3639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Symbol"/>
              <a:buChar char=""/>
            </a:pPr>
            <a:r>
              <a:rPr b="0" lang="en-US" sz="1800" spc="-1" strike="noStrike">
                <a:solidFill>
                  <a:srgbClr val="000000"/>
                </a:solidFill>
                <a:latin typeface="Arial"/>
                <a:ea typeface="DejaVu Sans"/>
              </a:rPr>
              <a:t>10000  4090</a:t>
            </a:r>
            <a:endParaRPr b="0" lang="en-US" sz="1800" spc="-1" strike="noStrike">
              <a:latin typeface="Arial"/>
            </a:endParaRPr>
          </a:p>
        </p:txBody>
      </p:sp>
      <p:sp>
        <p:nvSpPr>
          <p:cNvPr id="277" name=""/>
          <p:cNvSpPr txBox="1"/>
          <p:nvPr/>
        </p:nvSpPr>
        <p:spPr>
          <a:xfrm>
            <a:off x="243000" y="567720"/>
            <a:ext cx="7300800" cy="346680"/>
          </a:xfrm>
          <a:prstGeom prst="rect">
            <a:avLst/>
          </a:prstGeom>
          <a:noFill/>
          <a:ln w="0">
            <a:noFill/>
          </a:ln>
        </p:spPr>
        <p:txBody>
          <a:bodyPr lIns="90000" rIns="90000" tIns="45000" bIns="45000" anchor="t">
            <a:noAutofit/>
          </a:bodyPr>
          <a:p>
            <a:r>
              <a:rPr b="0" lang="en-US" sz="1800" spc="-1" strike="noStrike">
                <a:latin typeface="Arial"/>
              </a:rPr>
              <a:t>Masi_29_0   180 ~ -180   on the 180 and  -180  are dead corner </a:t>
            </a:r>
            <a:endParaRPr b="0" lang="en-US" sz="1800" spc="-1" strike="noStrike">
              <a:latin typeface="Arial"/>
            </a:endParaRPr>
          </a:p>
        </p:txBody>
      </p:sp>
      <p:pic>
        <p:nvPicPr>
          <p:cNvPr id="278" name="" descr=""/>
          <p:cNvPicPr/>
          <p:nvPr/>
        </p:nvPicPr>
        <p:blipFill>
          <a:blip r:embed="rId1"/>
          <a:srcRect l="0" t="0" r="3182" b="0"/>
          <a:stretch/>
        </p:blipFill>
        <p:spPr>
          <a:xfrm>
            <a:off x="355680" y="948240"/>
            <a:ext cx="6959160" cy="3852360"/>
          </a:xfrm>
          <a:prstGeom prst="rect">
            <a:avLst/>
          </a:prstGeom>
          <a:ln w="0">
            <a:noFill/>
          </a:ln>
        </p:spPr>
      </p:pic>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TextBox 15"/>
          <p:cNvSpPr/>
          <p:nvPr/>
        </p:nvSpPr>
        <p:spPr>
          <a:xfrm>
            <a:off x="0" y="0"/>
            <a:ext cx="3200040" cy="3639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Symbol"/>
              <a:buChar char=""/>
            </a:pPr>
            <a:r>
              <a:rPr b="0" lang="en-US" sz="1800" spc="-1" strike="noStrike">
                <a:solidFill>
                  <a:srgbClr val="000000"/>
                </a:solidFill>
                <a:latin typeface="Arial"/>
                <a:ea typeface="DejaVu Sans"/>
              </a:rPr>
              <a:t>5000  4090</a:t>
            </a:r>
            <a:endParaRPr b="0" lang="en-US" sz="1800" spc="-1" strike="noStrike">
              <a:latin typeface="Arial"/>
            </a:endParaRPr>
          </a:p>
        </p:txBody>
      </p:sp>
      <p:sp>
        <p:nvSpPr>
          <p:cNvPr id="280" name=""/>
          <p:cNvSpPr txBox="1"/>
          <p:nvPr/>
        </p:nvSpPr>
        <p:spPr>
          <a:xfrm>
            <a:off x="228600" y="1143000"/>
            <a:ext cx="5766480" cy="941400"/>
          </a:xfrm>
          <a:prstGeom prst="rect">
            <a:avLst/>
          </a:prstGeom>
          <a:noFill/>
          <a:ln w="0">
            <a:noFill/>
          </a:ln>
        </p:spPr>
        <p:txBody>
          <a:bodyPr lIns="90000" rIns="90000" tIns="45000" bIns="45000" anchor="t">
            <a:noAutofit/>
          </a:bodyPr>
          <a:p>
            <a:r>
              <a:rPr b="0" lang="en-US" sz="1000" spc="-1" strike="noStrike">
                <a:latin typeface="Arial"/>
              </a:rPr>
              <a:t>"offset_b": (0.55, 0.0, 0.05),129 "circle_radius": 0.55,130 "circle_angle_range": (-1.57079632679, 1.57079632679),130 "circle_angle_range": (-1.0471975512, 1.0471975512),131 "circle_z": 0.05,132 "yaw_range": 0.02,133 },11 unmodified lines145 "log_asset_cfg": SceneEntityCfg("log"),146 "offset_b": (0.55, 0.0, 0.05),147 "circle_radius": 0.55,148 "circle_angle_range": (-1.57079632679, 1.57079632679),148 "circle_angle_range": (-1.0471975512, 1.0471975512),149 "circle_z": 0.05,150 "max_dist": 0.95,151 },</a:t>
            </a:r>
            <a:endParaRPr b="0" lang="en-US" sz="1000" spc="-1" strike="noStrike">
              <a:latin typeface="Arial"/>
            </a:endParaRPr>
          </a:p>
        </p:txBody>
      </p:sp>
      <p:sp>
        <p:nvSpPr>
          <p:cNvPr id="281" name=""/>
          <p:cNvSpPr txBox="1"/>
          <p:nvPr/>
        </p:nvSpPr>
        <p:spPr>
          <a:xfrm>
            <a:off x="243000" y="568080"/>
            <a:ext cx="7300800" cy="346680"/>
          </a:xfrm>
          <a:prstGeom prst="rect">
            <a:avLst/>
          </a:prstGeom>
          <a:noFill/>
          <a:ln w="0">
            <a:noFill/>
          </a:ln>
        </p:spPr>
        <p:txBody>
          <a:bodyPr lIns="90000" rIns="90000" tIns="45000" bIns="45000" anchor="t">
            <a:noAutofit/>
          </a:bodyPr>
          <a:p>
            <a:r>
              <a:rPr b="0" lang="en-US" sz="1800" spc="-1" strike="noStrike">
                <a:latin typeface="Arial"/>
              </a:rPr>
              <a:t>Masi_29_0~1   random   </a:t>
            </a:r>
            <a:endParaRPr b="0" lang="en-US" sz="1800" spc="-1" strike="noStrike">
              <a:latin typeface="Arial"/>
            </a:endParaRPr>
          </a:p>
        </p:txBody>
      </p:sp>
      <p:pic>
        <p:nvPicPr>
          <p:cNvPr id="282" name="" descr=""/>
          <p:cNvPicPr/>
          <p:nvPr/>
        </p:nvPicPr>
        <p:blipFill>
          <a:blip r:embed="rId1"/>
          <a:stretch/>
        </p:blipFill>
        <p:spPr>
          <a:xfrm>
            <a:off x="457200" y="2091240"/>
            <a:ext cx="8915400" cy="2252160"/>
          </a:xfrm>
          <a:prstGeom prst="rect">
            <a:avLst/>
          </a:prstGeom>
          <a:ln w="0">
            <a:noFill/>
          </a:ln>
        </p:spPr>
      </p:pic>
      <p:pic>
        <p:nvPicPr>
          <p:cNvPr id="283" name="" descr=""/>
          <p:cNvPicPr/>
          <p:nvPr/>
        </p:nvPicPr>
        <p:blipFill>
          <a:blip r:embed="rId2"/>
          <a:stretch/>
        </p:blipFill>
        <p:spPr>
          <a:xfrm>
            <a:off x="457200" y="4378680"/>
            <a:ext cx="8910000" cy="2250720"/>
          </a:xfrm>
          <a:prstGeom prst="rect">
            <a:avLst/>
          </a:prstGeom>
          <a:ln w="0">
            <a:noFill/>
          </a:ln>
        </p:spPr>
      </p:pic>
      <p:sp>
        <p:nvSpPr>
          <p:cNvPr id="284" name=""/>
          <p:cNvSpPr txBox="1"/>
          <p:nvPr/>
        </p:nvSpPr>
        <p:spPr>
          <a:xfrm>
            <a:off x="6172200" y="796320"/>
            <a:ext cx="3394800" cy="346680"/>
          </a:xfrm>
          <a:prstGeom prst="rect">
            <a:avLst/>
          </a:prstGeom>
          <a:noFill/>
          <a:ln w="0">
            <a:noFill/>
          </a:ln>
        </p:spPr>
        <p:txBody>
          <a:bodyPr lIns="90000" rIns="90000" tIns="45000" bIns="45000" anchor="t">
            <a:noAutofit/>
          </a:bodyPr>
          <a:p>
            <a:r>
              <a:rPr b="0" lang="en-US" sz="1800" spc="-1" strike="noStrike">
                <a:latin typeface="Arial"/>
              </a:rPr>
              <a:t>https://youtu.be/jAsTWnVO9FM</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TextBox 13"/>
          <p:cNvSpPr/>
          <p:nvPr/>
        </p:nvSpPr>
        <p:spPr>
          <a:xfrm>
            <a:off x="0" y="0"/>
            <a:ext cx="3200040" cy="3639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Symbol"/>
              <a:buChar char=""/>
            </a:pPr>
            <a:r>
              <a:rPr b="0" lang="en-US" sz="1800" spc="-1" strike="noStrike">
                <a:solidFill>
                  <a:srgbClr val="000000"/>
                </a:solidFill>
                <a:latin typeface="Arial"/>
                <a:ea typeface="DejaVu Sans"/>
              </a:rPr>
              <a:t>5000  4090</a:t>
            </a:r>
            <a:endParaRPr b="0" lang="en-US" sz="1800" spc="-1" strike="noStrike">
              <a:latin typeface="Arial"/>
            </a:endParaRPr>
          </a:p>
        </p:txBody>
      </p:sp>
      <p:pic>
        <p:nvPicPr>
          <p:cNvPr id="286" name="" descr=""/>
          <p:cNvPicPr/>
          <p:nvPr/>
        </p:nvPicPr>
        <p:blipFill>
          <a:blip r:embed="rId1"/>
          <a:stretch/>
        </p:blipFill>
        <p:spPr>
          <a:xfrm>
            <a:off x="147240" y="484560"/>
            <a:ext cx="11511360" cy="5608800"/>
          </a:xfrm>
          <a:prstGeom prst="rect">
            <a:avLst/>
          </a:prstGeom>
          <a:ln w="0">
            <a:noFill/>
          </a:ln>
        </p:spPr>
      </p:pic>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7" name="" descr=""/>
          <p:cNvPicPr/>
          <p:nvPr/>
        </p:nvPicPr>
        <p:blipFill>
          <a:blip r:embed="rId1"/>
          <a:stretch/>
        </p:blipFill>
        <p:spPr>
          <a:xfrm>
            <a:off x="147240" y="26280"/>
            <a:ext cx="12191760" cy="6857280"/>
          </a:xfrm>
          <a:prstGeom prst="rect">
            <a:avLst/>
          </a:prstGeom>
          <a:ln w="0">
            <a:noFill/>
          </a:ln>
        </p:spPr>
      </p:pic>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8" name="" descr=""/>
          <p:cNvPicPr/>
          <p:nvPr/>
        </p:nvPicPr>
        <p:blipFill>
          <a:blip r:embed="rId1"/>
          <a:stretch/>
        </p:blipFill>
        <p:spPr>
          <a:xfrm>
            <a:off x="147240" y="26280"/>
            <a:ext cx="12191760" cy="6857280"/>
          </a:xfrm>
          <a:prstGeom prst="rect">
            <a:avLst/>
          </a:prstGeom>
          <a:ln w="0">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TextBox 2"/>
          <p:cNvSpPr/>
          <p:nvPr/>
        </p:nvSpPr>
        <p:spPr>
          <a:xfrm>
            <a:off x="228600" y="185040"/>
            <a:ext cx="1600200" cy="36468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Symbol"/>
              <a:buChar char=""/>
            </a:pPr>
            <a:r>
              <a:rPr b="0" lang="en-US" sz="1800" spc="-1" strike="noStrike">
                <a:solidFill>
                  <a:srgbClr val="000000"/>
                </a:solidFill>
                <a:latin typeface="Arial"/>
                <a:ea typeface="DejaVu Sans"/>
              </a:rPr>
              <a:t>5000  4090 </a:t>
            </a:r>
            <a:endParaRPr b="0" lang="en-US" sz="1800" spc="-1" strike="noStrike">
              <a:latin typeface="Arial"/>
            </a:endParaRPr>
          </a:p>
        </p:txBody>
      </p:sp>
      <p:pic>
        <p:nvPicPr>
          <p:cNvPr id="290" name="" descr=""/>
          <p:cNvPicPr/>
          <p:nvPr/>
        </p:nvPicPr>
        <p:blipFill>
          <a:blip r:embed="rId1"/>
          <a:stretch/>
        </p:blipFill>
        <p:spPr>
          <a:xfrm>
            <a:off x="152640" y="685800"/>
            <a:ext cx="11734560" cy="2694600"/>
          </a:xfrm>
          <a:prstGeom prst="rect">
            <a:avLst/>
          </a:prstGeom>
          <a:ln w="0">
            <a:noFill/>
          </a:ln>
        </p:spPr>
      </p:pic>
      <p:pic>
        <p:nvPicPr>
          <p:cNvPr id="291" name="" descr=""/>
          <p:cNvPicPr/>
          <p:nvPr/>
        </p:nvPicPr>
        <p:blipFill>
          <a:blip r:embed="rId2"/>
          <a:stretch/>
        </p:blipFill>
        <p:spPr>
          <a:xfrm>
            <a:off x="152640" y="3657600"/>
            <a:ext cx="11734560" cy="2694600"/>
          </a:xfrm>
          <a:prstGeom prst="rect">
            <a:avLst/>
          </a:prstGeom>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TextBox 16"/>
          <p:cNvSpPr/>
          <p:nvPr/>
        </p:nvSpPr>
        <p:spPr>
          <a:xfrm>
            <a:off x="457200" y="549720"/>
            <a:ext cx="1369440" cy="36396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Symbol"/>
              <a:buChar char=""/>
            </a:pPr>
            <a:r>
              <a:rPr b="0" lang="en-US" sz="1800" spc="-1" strike="noStrike">
                <a:solidFill>
                  <a:srgbClr val="000000"/>
                </a:solidFill>
                <a:latin typeface="Arial"/>
                <a:ea typeface="DejaVu Sans"/>
              </a:rPr>
              <a:t>plan2</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3" name="" descr=""/>
          <p:cNvPicPr/>
          <p:nvPr/>
        </p:nvPicPr>
        <p:blipFill>
          <a:blip r:embed="rId1"/>
          <a:stretch/>
        </p:blipFill>
        <p:spPr>
          <a:xfrm>
            <a:off x="122040" y="209520"/>
            <a:ext cx="7419240" cy="3216960"/>
          </a:xfrm>
          <a:prstGeom prst="rect">
            <a:avLst/>
          </a:prstGeom>
          <a:ln w="0">
            <a:noFill/>
          </a:ln>
        </p:spPr>
      </p:pic>
      <p:pic>
        <p:nvPicPr>
          <p:cNvPr id="294" name="" descr=""/>
          <p:cNvPicPr/>
          <p:nvPr/>
        </p:nvPicPr>
        <p:blipFill>
          <a:blip r:embed="rId2"/>
          <a:stretch/>
        </p:blipFill>
        <p:spPr>
          <a:xfrm>
            <a:off x="5470560" y="3518280"/>
            <a:ext cx="6642720" cy="2880000"/>
          </a:xfrm>
          <a:prstGeom prst="rect">
            <a:avLst/>
          </a:prstGeom>
          <a:ln w="0">
            <a:noFill/>
          </a:ln>
        </p:spPr>
      </p:pic>
      <p:pic>
        <p:nvPicPr>
          <p:cNvPr id="295" name="" descr=""/>
          <p:cNvPicPr/>
          <p:nvPr/>
        </p:nvPicPr>
        <p:blipFill>
          <a:blip r:embed="rId3"/>
          <a:stretch/>
        </p:blipFill>
        <p:spPr>
          <a:xfrm>
            <a:off x="5486760" y="3572280"/>
            <a:ext cx="5197680" cy="2597400"/>
          </a:xfrm>
          <a:prstGeom prst="rect">
            <a:avLst/>
          </a:prstGeom>
          <a:ln w="0">
            <a:noFill/>
          </a:ln>
        </p:spPr>
      </p:pic>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6" name="" descr=""/>
          <p:cNvPicPr/>
          <p:nvPr/>
        </p:nvPicPr>
        <p:blipFill>
          <a:blip r:embed="rId1"/>
          <a:stretch/>
        </p:blipFill>
        <p:spPr>
          <a:xfrm>
            <a:off x="228600" y="638280"/>
            <a:ext cx="5255640" cy="2851560"/>
          </a:xfrm>
          <a:prstGeom prst="rect">
            <a:avLst/>
          </a:prstGeom>
          <a:ln w="0">
            <a:noFill/>
          </a:ln>
        </p:spPr>
      </p:pic>
      <p:sp>
        <p:nvSpPr>
          <p:cNvPr id="297" name="TextBox 3"/>
          <p:cNvSpPr/>
          <p:nvPr/>
        </p:nvSpPr>
        <p:spPr>
          <a:xfrm>
            <a:off x="0" y="0"/>
            <a:ext cx="5027040" cy="63828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Symbol"/>
              <a:buChar char=""/>
            </a:pPr>
            <a:r>
              <a:rPr b="0" lang="en-US" sz="1800" spc="-1" strike="noStrike">
                <a:solidFill>
                  <a:srgbClr val="000000"/>
                </a:solidFill>
                <a:latin typeface="Arial"/>
                <a:ea typeface="DejaVu Sans"/>
              </a:rPr>
              <a:t>Add dynamic target function that make the Grabber  around the base   code:2  </a:t>
            </a:r>
            <a:endParaRPr b="0" lang="en-US" sz="1800" spc="-1" strike="noStrike">
              <a:latin typeface="Arial"/>
            </a:endParaRPr>
          </a:p>
        </p:txBody>
      </p:sp>
      <p:sp>
        <p:nvSpPr>
          <p:cNvPr id="298" name=""/>
          <p:cNvSpPr/>
          <p:nvPr/>
        </p:nvSpPr>
        <p:spPr>
          <a:xfrm>
            <a:off x="6220080" y="685800"/>
            <a:ext cx="10236960" cy="213588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=&gt; saving checkpoint 'logs/rl_games/masi_direct/2026-01-01_18-37-58/nn/masi_direct.pth'</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fps step: 5413 fps step and policy inference: 5350 fps total: 5249 epoch: 125/250 frames: 19046400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fps step: 5608 fps step and policy inference: 5542 fps total: 5433 epoch: 126/250 frames: 19200000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saving next best rewards:  [20355.043]</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=&gt; saving checkpoint 'logs/rl_games/masi_direct/2026-01-01_18-37-58/nn/masi_direct.pth'</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fps step: 5512 fps step and policy inference: 5448 fps total: 5343 epoch: 127/250 frames: 19353600</a:t>
            </a:r>
            <a:endParaRPr b="0" lang="en-US" sz="1800" spc="-1" strike="noStrike">
              <a:latin typeface="Arial"/>
            </a:endParaRPr>
          </a:p>
          <a:p>
            <a:pPr>
              <a:lnSpc>
                <a:spcPct val="100000"/>
              </a:lnSpc>
              <a:buNone/>
            </a:pPr>
            <a:endParaRPr b="0" lang="en-US" sz="1800" spc="-1" strike="noStrike">
              <a:latin typeface="Arial"/>
            </a:endParaRPr>
          </a:p>
          <a:p>
            <a:pPr>
              <a:lnSpc>
                <a:spcPct val="100000"/>
              </a:lnSpc>
              <a:buNone/>
            </a:pPr>
            <a:endParaRPr b="0" lang="en-US" sz="1800" spc="-1" strike="noStrike">
              <a:latin typeface="Arial"/>
            </a:endParaRPr>
          </a:p>
        </p:txBody>
      </p:sp>
      <p:sp>
        <p:nvSpPr>
          <p:cNvPr id="299" name=""/>
          <p:cNvSpPr/>
          <p:nvPr/>
        </p:nvSpPr>
        <p:spPr>
          <a:xfrm>
            <a:off x="457200" y="5943600"/>
            <a:ext cx="7411680" cy="6901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000" spc="-1" strike="noStrike">
                <a:solidFill>
                  <a:srgbClr val="000000"/>
                </a:solidFill>
                <a:latin typeface="Arial"/>
                <a:ea typeface="DejaVu Sans"/>
              </a:rPr>
              <a:t>log_spawn_radius_min = 0.50 # </a:t>
            </a:r>
            <a:r>
              <a:rPr b="0" lang="zh-CN" sz="1000" spc="-1" strike="noStrike">
                <a:solidFill>
                  <a:srgbClr val="000000"/>
                </a:solidFill>
                <a:latin typeface="Arial"/>
                <a:ea typeface="DejaVu Sans"/>
              </a:rPr>
              <a:t>距离底座中心的最小半径 </a:t>
            </a:r>
            <a:r>
              <a:rPr b="0" lang="en-US" sz="1000" spc="-1" strike="noStrike">
                <a:solidFill>
                  <a:srgbClr val="000000"/>
                </a:solidFill>
                <a:latin typeface="Arial"/>
                <a:ea typeface="DejaVu Sans"/>
              </a:rPr>
              <a:t>(</a:t>
            </a:r>
            <a:r>
              <a:rPr b="0" lang="zh-CN" sz="1000" spc="-1" strike="noStrike">
                <a:solidFill>
                  <a:srgbClr val="000000"/>
                </a:solidFill>
                <a:latin typeface="Arial"/>
                <a:ea typeface="DejaVu Sans"/>
              </a:rPr>
              <a:t>米</a:t>
            </a:r>
            <a:r>
              <a:rPr b="0" lang="en-US" sz="1000" spc="-1" strike="noStrike">
                <a:solidFill>
                  <a:srgbClr val="000000"/>
                </a:solidFill>
                <a:latin typeface="Arial"/>
                <a:ea typeface="DejaVu Sans"/>
              </a:rPr>
              <a:t>) log_spawn_radius_max = 0.65 # </a:t>
            </a:r>
            <a:r>
              <a:rPr b="0" lang="zh-CN" sz="1000" spc="-1" strike="noStrike">
                <a:solidFill>
                  <a:srgbClr val="000000"/>
                </a:solidFill>
                <a:latin typeface="Arial"/>
                <a:ea typeface="DejaVu Sans"/>
              </a:rPr>
              <a:t>距离底座中心的最大半径 </a:t>
            </a:r>
            <a:r>
              <a:rPr b="0" lang="en-US" sz="1000" spc="-1" strike="noStrike">
                <a:solidFill>
                  <a:srgbClr val="000000"/>
                </a:solidFill>
                <a:latin typeface="Arial"/>
                <a:ea typeface="DejaVu Sans"/>
              </a:rPr>
              <a:t>(</a:t>
            </a:r>
            <a:r>
              <a:rPr b="0" lang="zh-CN" sz="1000" spc="-1" strike="noStrike">
                <a:solidFill>
                  <a:srgbClr val="000000"/>
                </a:solidFill>
                <a:latin typeface="Arial"/>
                <a:ea typeface="DejaVu Sans"/>
              </a:rPr>
              <a:t>米</a:t>
            </a:r>
            <a:r>
              <a:rPr b="0" lang="en-US" sz="1000" spc="-1" strike="noStrike">
                <a:solidFill>
                  <a:srgbClr val="000000"/>
                </a:solidFill>
                <a:latin typeface="Arial"/>
                <a:ea typeface="DejaVu Sans"/>
              </a:rPr>
              <a:t>)</a:t>
            </a:r>
            <a:endParaRPr b="0" lang="en-US" sz="1000" spc="-1" strike="noStrike">
              <a:latin typeface="Arial"/>
            </a:endParaRPr>
          </a:p>
          <a:p>
            <a:pPr>
              <a:lnSpc>
                <a:spcPct val="100000"/>
              </a:lnSpc>
              <a:buNone/>
            </a:pPr>
            <a:endParaRPr b="0" lang="en-US" sz="1000" spc="-1" strike="noStrike">
              <a:latin typeface="Arial"/>
            </a:endParaRPr>
          </a:p>
        </p:txBody>
      </p:sp>
      <p:pic>
        <p:nvPicPr>
          <p:cNvPr id="300" name="" descr=""/>
          <p:cNvPicPr/>
          <p:nvPr/>
        </p:nvPicPr>
        <p:blipFill>
          <a:blip r:embed="rId2"/>
          <a:stretch/>
        </p:blipFill>
        <p:spPr>
          <a:xfrm>
            <a:off x="2784600" y="3548520"/>
            <a:ext cx="3842640" cy="2392920"/>
          </a:xfrm>
          <a:prstGeom prst="rect">
            <a:avLst/>
          </a:prstGeom>
          <a:ln w="0">
            <a:noFill/>
          </a:ln>
        </p:spPr>
      </p:pic>
      <p:pic>
        <p:nvPicPr>
          <p:cNvPr id="301" name="" descr=""/>
          <p:cNvPicPr/>
          <p:nvPr/>
        </p:nvPicPr>
        <p:blipFill>
          <a:blip r:embed="rId3"/>
          <a:stretch/>
        </p:blipFill>
        <p:spPr>
          <a:xfrm>
            <a:off x="7645320" y="2533680"/>
            <a:ext cx="4239720" cy="1807560"/>
          </a:xfrm>
          <a:prstGeom prst="rect">
            <a:avLst/>
          </a:prstGeom>
          <a:ln w="0">
            <a:noFill/>
          </a:ln>
        </p:spPr>
      </p:pic>
      <p:sp>
        <p:nvSpPr>
          <p:cNvPr id="302" name=""/>
          <p:cNvSpPr/>
          <p:nvPr/>
        </p:nvSpPr>
        <p:spPr>
          <a:xfrm>
            <a:off x="8317080" y="4491000"/>
            <a:ext cx="10425960" cy="21362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Arial"/>
                <a:ea typeface="DejaVu Sans"/>
              </a:rPr>
              <a:t>ps step: 5006 fps step and policy inference: 4954 fps total: 4866 epoch: 248/250 frames: 37939200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saving next best rewards:  [32838.46]</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=&gt; saving checkpoint 'logs/rl_games/masi_direct/2026-01-01_18-37-58/nn/masi_direct.pth'</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fps step: 4990 fps step and policy inference: 4938 fps total: 4851 epoch: 249/250 frames: 38092800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fps step: 5009 fps step and policy inference: 4957 fps total: 4869 epoch: 250/250 frames: 38246400</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=&gt; saving checkpoint 'logs/rl_games/masi_direct/2026-01-01_18-37-58/nn/last_masi_direct_ep_250_rew__30362.361_.pth'</a:t>
            </a:r>
            <a:endParaRPr b="0" lang="en-US" sz="1800" spc="-1" strike="noStrike">
              <a:latin typeface="Arial"/>
            </a:endParaRPr>
          </a:p>
          <a:p>
            <a:pPr>
              <a:lnSpc>
                <a:spcPct val="100000"/>
              </a:lnSpc>
              <a:buNone/>
            </a:pPr>
            <a:r>
              <a:rPr b="0" lang="en-US" sz="1800" spc="-1" strike="noStrike">
                <a:solidFill>
                  <a:srgbClr val="000000"/>
                </a:solidFill>
                <a:latin typeface="Arial"/>
                <a:ea typeface="DejaVu Sans"/>
              </a:rPr>
              <a:t>MAX EPOCHS NUM!</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TextBox 6"/>
          <p:cNvSpPr/>
          <p:nvPr/>
        </p:nvSpPr>
        <p:spPr>
          <a:xfrm>
            <a:off x="528480" y="641880"/>
            <a:ext cx="7868880" cy="146124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Symbol"/>
              <a:buChar char=""/>
            </a:pPr>
            <a:r>
              <a:rPr b="0" lang="en-US" sz="1800" spc="-1" strike="noStrike">
                <a:solidFill>
                  <a:srgbClr val="000000"/>
                </a:solidFill>
                <a:latin typeface="Arial Unicode MS"/>
                <a:ea typeface="DejaVu Sans"/>
              </a:rPr>
              <a:t>base</a:t>
            </a:r>
            <a:r>
              <a:rPr b="0" lang="en-US" sz="1400" spc="-1" strike="noStrike">
                <a:solidFill>
                  <a:srgbClr val="000000"/>
                </a:solidFill>
                <a:latin typeface="等线"/>
                <a:ea typeface="DejaVu Sans"/>
              </a:rPr>
              <a:t> ≈ </a:t>
            </a:r>
            <a:r>
              <a:rPr b="0" lang="en-US" sz="1800" spc="-1" strike="noStrike">
                <a:solidFill>
                  <a:srgbClr val="000000"/>
                </a:solidFill>
                <a:latin typeface="Arial Unicode MS"/>
                <a:ea typeface="DejaVu Sans"/>
              </a:rPr>
              <a:t>test_bench</a:t>
            </a:r>
            <a:r>
              <a:rPr b="0" lang="zh-CN" sz="1400" spc="-1" strike="noStrike">
                <a:solidFill>
                  <a:srgbClr val="000000"/>
                </a:solidFill>
                <a:latin typeface="等线"/>
                <a:ea typeface="DejaVu Sans"/>
              </a:rPr>
              <a:t>（或者 </a:t>
            </a:r>
            <a:r>
              <a:rPr b="0" lang="en-US" sz="1800" spc="-1" strike="noStrike">
                <a:solidFill>
                  <a:srgbClr val="000000"/>
                </a:solidFill>
                <a:latin typeface="Arial Unicode MS"/>
                <a:ea typeface="DejaVu Sans"/>
              </a:rPr>
              <a:t>test_bench + mountboom</a:t>
            </a:r>
            <a:r>
              <a:rPr b="0" lang="en-US" sz="1400" spc="-1" strike="noStrike">
                <a:solidFill>
                  <a:srgbClr val="000000"/>
                </a:solidFill>
                <a:latin typeface="等线"/>
                <a:ea typeface="DejaVu Sans"/>
              </a:rPr>
              <a:t> </a:t>
            </a:r>
            <a:r>
              <a:rPr b="0" lang="zh-CN" sz="1400" spc="-1" strike="noStrike">
                <a:solidFill>
                  <a:srgbClr val="000000"/>
                </a:solidFill>
                <a:latin typeface="等线"/>
                <a:ea typeface="DejaVu Sans"/>
              </a:rPr>
              <a:t>这一块底座）</a:t>
            </a:r>
            <a:endParaRPr b="0" lang="en-US" sz="1400" spc="-1" strike="noStrike">
              <a:latin typeface="Arial"/>
            </a:endParaRPr>
          </a:p>
          <a:p>
            <a:pPr marL="216000" indent="-216000">
              <a:lnSpc>
                <a:spcPct val="100000"/>
              </a:lnSpc>
              <a:buClr>
                <a:srgbClr val="000000"/>
              </a:buClr>
              <a:buFont typeface="Symbol"/>
              <a:buChar char=""/>
            </a:pPr>
            <a:r>
              <a:rPr b="0" lang="en-US" sz="1800" spc="-1" strike="noStrike">
                <a:solidFill>
                  <a:srgbClr val="000000"/>
                </a:solidFill>
                <a:latin typeface="Arial Unicode MS"/>
                <a:ea typeface="DejaVu Sans"/>
              </a:rPr>
              <a:t>boom</a:t>
            </a:r>
            <a:r>
              <a:rPr b="0" lang="en-US" sz="1400" spc="-1" strike="noStrike">
                <a:solidFill>
                  <a:srgbClr val="000000"/>
                </a:solidFill>
                <a:latin typeface="等线"/>
                <a:ea typeface="DejaVu Sans"/>
              </a:rPr>
              <a:t> ≈ </a:t>
            </a:r>
            <a:r>
              <a:rPr b="0" lang="en-US" sz="1800" spc="-1" strike="noStrike">
                <a:solidFill>
                  <a:srgbClr val="000000"/>
                </a:solidFill>
                <a:latin typeface="Arial Unicode MS"/>
                <a:ea typeface="DejaVu Sans"/>
              </a:rPr>
              <a:t>liftboom</a:t>
            </a:r>
            <a:r>
              <a:rPr b="0" lang="zh-CN" sz="1400" spc="-1" strike="noStrike">
                <a:solidFill>
                  <a:srgbClr val="000000"/>
                </a:solidFill>
                <a:latin typeface="等线"/>
                <a:ea typeface="DejaVu Sans"/>
              </a:rPr>
              <a:t>（第一节大臂，负责 </a:t>
            </a:r>
            <a:r>
              <a:rPr b="0" lang="en-US" sz="1400" spc="-1" strike="noStrike">
                <a:solidFill>
                  <a:srgbClr val="000000"/>
                </a:solidFill>
                <a:latin typeface="等线"/>
                <a:ea typeface="DejaVu Sans"/>
              </a:rPr>
              <a:t>lift</a:t>
            </a:r>
            <a:r>
              <a:rPr b="0" lang="zh-CN" sz="1400" spc="-1" strike="noStrike">
                <a:solidFill>
                  <a:srgbClr val="000000"/>
                </a:solidFill>
                <a:latin typeface="等线"/>
                <a:ea typeface="DejaVu Sans"/>
              </a:rPr>
              <a:t>）</a:t>
            </a:r>
            <a:endParaRPr b="0" lang="en-US" sz="1400" spc="-1" strike="noStrike">
              <a:latin typeface="Arial"/>
            </a:endParaRPr>
          </a:p>
          <a:p>
            <a:pPr marL="216000" indent="-216000">
              <a:lnSpc>
                <a:spcPct val="100000"/>
              </a:lnSpc>
              <a:buClr>
                <a:srgbClr val="000000"/>
              </a:buClr>
              <a:buFont typeface="Symbol"/>
              <a:buChar char=""/>
            </a:pPr>
            <a:r>
              <a:rPr b="0" lang="en-US" sz="1800" spc="-1" strike="noStrike">
                <a:solidFill>
                  <a:srgbClr val="000000"/>
                </a:solidFill>
                <a:latin typeface="Arial Unicode MS"/>
                <a:ea typeface="DejaVu Sans"/>
              </a:rPr>
              <a:t>arm</a:t>
            </a:r>
            <a:r>
              <a:rPr b="0" lang="en-US" sz="1400" spc="-1" strike="noStrike">
                <a:solidFill>
                  <a:srgbClr val="000000"/>
                </a:solidFill>
                <a:latin typeface="等线"/>
                <a:ea typeface="DejaVu Sans"/>
              </a:rPr>
              <a:t> ≈ </a:t>
            </a:r>
            <a:r>
              <a:rPr b="0" lang="en-US" sz="1800" spc="-1" strike="noStrike">
                <a:solidFill>
                  <a:srgbClr val="000000"/>
                </a:solidFill>
                <a:latin typeface="Arial Unicode MS"/>
                <a:ea typeface="DejaVu Sans"/>
              </a:rPr>
              <a:t>tiltboom</a:t>
            </a:r>
            <a:r>
              <a:rPr b="0" lang="zh-CN" sz="1400" spc="-1" strike="noStrike">
                <a:solidFill>
                  <a:srgbClr val="000000"/>
                </a:solidFill>
                <a:latin typeface="等线"/>
                <a:ea typeface="DejaVu Sans"/>
              </a:rPr>
              <a:t>（第二节小臂，负责 </a:t>
            </a:r>
            <a:r>
              <a:rPr b="0" lang="en-US" sz="1400" spc="-1" strike="noStrike">
                <a:solidFill>
                  <a:srgbClr val="000000"/>
                </a:solidFill>
                <a:latin typeface="等线"/>
                <a:ea typeface="DejaVu Sans"/>
              </a:rPr>
              <a:t>tilt</a:t>
            </a:r>
            <a:r>
              <a:rPr b="0" lang="zh-CN" sz="1400" spc="-1" strike="noStrike">
                <a:solidFill>
                  <a:srgbClr val="000000"/>
                </a:solidFill>
                <a:latin typeface="等线"/>
                <a:ea typeface="DejaVu Sans"/>
              </a:rPr>
              <a:t>）</a:t>
            </a:r>
            <a:endParaRPr b="0" lang="en-US" sz="1400" spc="-1" strike="noStrike">
              <a:latin typeface="Arial"/>
            </a:endParaRPr>
          </a:p>
          <a:p>
            <a:pPr marL="216000" indent="-216000">
              <a:lnSpc>
                <a:spcPct val="100000"/>
              </a:lnSpc>
              <a:buClr>
                <a:srgbClr val="000000"/>
              </a:buClr>
              <a:buFont typeface="Symbol"/>
              <a:buChar char=""/>
            </a:pPr>
            <a:r>
              <a:rPr b="0" lang="en-US" sz="1800" spc="-1" strike="noStrike">
                <a:solidFill>
                  <a:srgbClr val="000000"/>
                </a:solidFill>
                <a:latin typeface="Arial Unicode MS"/>
                <a:ea typeface="DejaVu Sans"/>
              </a:rPr>
              <a:t>bucket</a:t>
            </a:r>
            <a:r>
              <a:rPr b="0" lang="en-US" sz="1400" spc="-1" strike="noStrike">
                <a:solidFill>
                  <a:srgbClr val="000000"/>
                </a:solidFill>
                <a:latin typeface="等线"/>
                <a:ea typeface="DejaVu Sans"/>
              </a:rPr>
              <a:t> ≈ </a:t>
            </a:r>
            <a:r>
              <a:rPr b="0" lang="en-US" sz="1800" spc="-1" strike="noStrike">
                <a:solidFill>
                  <a:srgbClr val="000000"/>
                </a:solidFill>
                <a:latin typeface="Arial Unicode MS"/>
                <a:ea typeface="DejaVu Sans"/>
              </a:rPr>
              <a:t>scoop</a:t>
            </a:r>
            <a:r>
              <a:rPr b="0" lang="zh-CN" sz="1400" spc="-1" strike="noStrike">
                <a:solidFill>
                  <a:srgbClr val="000000"/>
                </a:solidFill>
                <a:latin typeface="等线"/>
                <a:ea typeface="DejaVu Sans"/>
              </a:rPr>
              <a:t>（铲斗）</a:t>
            </a:r>
            <a:endParaRPr b="0" lang="en-US" sz="1400" spc="-1" strike="noStrike">
              <a:latin typeface="Arial"/>
            </a:endParaRPr>
          </a:p>
          <a:p>
            <a:pPr marL="216000" indent="-216000">
              <a:lnSpc>
                <a:spcPct val="100000"/>
              </a:lnSpc>
              <a:buClr>
                <a:srgbClr val="000000"/>
              </a:buClr>
              <a:buFont typeface="Symbol"/>
              <a:buChar char=""/>
            </a:pPr>
            <a:r>
              <a:rPr b="0" lang="en-US" sz="1800" spc="-1" strike="noStrike">
                <a:solidFill>
                  <a:srgbClr val="000000"/>
                </a:solidFill>
                <a:latin typeface="Arial Unicode MS"/>
                <a:ea typeface="DejaVu Sans"/>
              </a:rPr>
              <a:t>tip</a:t>
            </a:r>
            <a:r>
              <a:rPr b="0" lang="en-US" sz="1400" spc="-1" strike="noStrike">
                <a:solidFill>
                  <a:srgbClr val="000000"/>
                </a:solidFill>
                <a:latin typeface="等线"/>
                <a:ea typeface="DejaVu Sans"/>
              </a:rPr>
              <a:t> ≈ </a:t>
            </a:r>
            <a:r>
              <a:rPr b="0" lang="en-US" sz="1800" spc="-1" strike="noStrike">
                <a:solidFill>
                  <a:srgbClr val="000000"/>
                </a:solidFill>
                <a:latin typeface="Arial Unicode MS"/>
                <a:ea typeface="DejaVu Sans"/>
              </a:rPr>
              <a:t>end_point</a:t>
            </a:r>
            <a:r>
              <a:rPr b="0" lang="zh-CN" sz="1400" spc="-1" strike="noStrike">
                <a:solidFill>
                  <a:srgbClr val="000000"/>
                </a:solidFill>
                <a:latin typeface="等线"/>
                <a:ea typeface="DejaVu Sans"/>
              </a:rPr>
              <a:t>（末端点）</a:t>
            </a:r>
            <a:endParaRPr b="0" lang="en-US" sz="1400" spc="-1" strike="noStrike">
              <a:latin typeface="Arial"/>
            </a:endParaRPr>
          </a:p>
        </p:txBody>
      </p:sp>
      <p:sp>
        <p:nvSpPr>
          <p:cNvPr id="304" name="TextBox 9"/>
          <p:cNvSpPr/>
          <p:nvPr/>
        </p:nvSpPr>
        <p:spPr>
          <a:xfrm>
            <a:off x="609480" y="2452680"/>
            <a:ext cx="9016920" cy="17355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0000"/>
                </a:solidFill>
                <a:latin typeface="等线"/>
                <a:ea typeface="DejaVu Sans"/>
              </a:rPr>
              <a:t>test_bench ──fix_to_scene──&gt; mountboom</a:t>
            </a:r>
            <a:endParaRPr b="0" lang="en-US" sz="1800" spc="-1" strike="noStrike">
              <a:latin typeface="Arial"/>
            </a:endParaRPr>
          </a:p>
          <a:p>
            <a:pPr>
              <a:lnSpc>
                <a:spcPct val="100000"/>
              </a:lnSpc>
              <a:buNone/>
            </a:pPr>
            <a:r>
              <a:rPr b="0" lang="en-US" sz="1800" spc="-1" strike="noStrike">
                <a:solidFill>
                  <a:srgbClr val="000000"/>
                </a:solidFill>
                <a:latin typeface="等线"/>
                <a:ea typeface="DejaVu Sans"/>
              </a:rPr>
              <a:t>  └─</a:t>
            </a:r>
            <a:r>
              <a:rPr b="0" lang="en-US" sz="1800" spc="-1" strike="noStrike">
                <a:solidFill>
                  <a:srgbClr val="000000"/>
                </a:solidFill>
                <a:latin typeface="等线"/>
                <a:ea typeface="DejaVu Sans"/>
              </a:rPr>
              <a:t>(revolute_lift)──&gt; liftboom        ← </a:t>
            </a:r>
            <a:r>
              <a:rPr b="0" lang="zh-CN" sz="1800" spc="-1" strike="noStrike">
                <a:solidFill>
                  <a:srgbClr val="000000"/>
                </a:solidFill>
                <a:latin typeface="等线"/>
                <a:ea typeface="DejaVu Sans"/>
              </a:rPr>
              <a:t>对应原来的 </a:t>
            </a:r>
            <a:r>
              <a:rPr b="0" lang="en-US" sz="1800" spc="-1" strike="noStrike">
                <a:solidFill>
                  <a:srgbClr val="000000"/>
                </a:solidFill>
                <a:latin typeface="等线"/>
                <a:ea typeface="DejaVu Sans"/>
              </a:rPr>
              <a:t>boom </a:t>
            </a:r>
            <a:r>
              <a:rPr b="0" lang="zh-CN" sz="1800" spc="-1" strike="noStrike">
                <a:solidFill>
                  <a:srgbClr val="000000"/>
                </a:solidFill>
                <a:latin typeface="等线"/>
                <a:ea typeface="DejaVu Sans"/>
              </a:rPr>
              <a:t>关节（</a:t>
            </a:r>
            <a:r>
              <a:rPr b="0" lang="en-US" sz="1800" spc="-1" strike="noStrike">
                <a:solidFill>
                  <a:srgbClr val="000000"/>
                </a:solidFill>
                <a:latin typeface="等线"/>
                <a:ea typeface="DejaVu Sans"/>
              </a:rPr>
              <a:t>jointBoom</a:t>
            </a:r>
            <a:r>
              <a:rPr b="0" lang="zh-CN" sz="1800" spc="-1" strike="noStrike">
                <a:solidFill>
                  <a:srgbClr val="000000"/>
                </a:solidFill>
                <a:latin typeface="等线"/>
                <a:ea typeface="DejaVu Sans"/>
              </a:rPr>
              <a:t>）</a:t>
            </a:r>
            <a:endParaRPr b="0" lang="en-US" sz="1800" spc="-1" strike="noStrike">
              <a:latin typeface="Arial"/>
            </a:endParaRPr>
          </a:p>
          <a:p>
            <a:pPr>
              <a:lnSpc>
                <a:spcPct val="100000"/>
              </a:lnSpc>
              <a:buNone/>
            </a:pPr>
            <a:r>
              <a:rPr b="0" lang="en-US" sz="1800" spc="-1" strike="noStrike">
                <a:solidFill>
                  <a:srgbClr val="000000"/>
                </a:solidFill>
                <a:latin typeface="等线"/>
                <a:ea typeface="DejaVu Sans"/>
              </a:rPr>
              <a:t>        └─</a:t>
            </a:r>
            <a:r>
              <a:rPr b="0" lang="en-US" sz="1800" spc="-1" strike="noStrike">
                <a:solidFill>
                  <a:srgbClr val="000000"/>
                </a:solidFill>
                <a:latin typeface="等线"/>
                <a:ea typeface="DejaVu Sans"/>
              </a:rPr>
              <a:t>(revolute_tilt)──&gt; tiltboom  ← </a:t>
            </a:r>
            <a:r>
              <a:rPr b="0" lang="zh-CN" sz="1800" spc="-1" strike="noStrike">
                <a:solidFill>
                  <a:srgbClr val="000000"/>
                </a:solidFill>
                <a:latin typeface="等线"/>
                <a:ea typeface="DejaVu Sans"/>
              </a:rPr>
              <a:t>对应原来的 </a:t>
            </a:r>
            <a:r>
              <a:rPr b="0" lang="en-US" sz="1800" spc="-1" strike="noStrike">
                <a:solidFill>
                  <a:srgbClr val="000000"/>
                </a:solidFill>
                <a:latin typeface="等线"/>
                <a:ea typeface="DejaVu Sans"/>
              </a:rPr>
              <a:t>arm </a:t>
            </a:r>
            <a:r>
              <a:rPr b="0" lang="zh-CN" sz="1800" spc="-1" strike="noStrike">
                <a:solidFill>
                  <a:srgbClr val="000000"/>
                </a:solidFill>
                <a:latin typeface="等线"/>
                <a:ea typeface="DejaVu Sans"/>
              </a:rPr>
              <a:t>关节（</a:t>
            </a:r>
            <a:r>
              <a:rPr b="0" lang="en-US" sz="1800" spc="-1" strike="noStrike">
                <a:solidFill>
                  <a:srgbClr val="000000"/>
                </a:solidFill>
                <a:latin typeface="等线"/>
                <a:ea typeface="DejaVu Sans"/>
              </a:rPr>
              <a:t>jointArm</a:t>
            </a:r>
            <a:r>
              <a:rPr b="0" lang="zh-CN" sz="1800" spc="-1" strike="noStrike">
                <a:solidFill>
                  <a:srgbClr val="000000"/>
                </a:solidFill>
                <a:latin typeface="等线"/>
                <a:ea typeface="DejaVu Sans"/>
              </a:rPr>
              <a:t>）</a:t>
            </a:r>
            <a:endParaRPr b="0" lang="en-US" sz="1800" spc="-1" strike="noStrike">
              <a:latin typeface="Arial"/>
            </a:endParaRPr>
          </a:p>
          <a:p>
            <a:pPr>
              <a:lnSpc>
                <a:spcPct val="100000"/>
              </a:lnSpc>
              <a:buNone/>
            </a:pPr>
            <a:r>
              <a:rPr b="0" lang="en-US" sz="1800" spc="-1" strike="noStrike">
                <a:solidFill>
                  <a:srgbClr val="000000"/>
                </a:solidFill>
                <a:latin typeface="等线"/>
                <a:ea typeface="DejaVu Sans"/>
              </a:rPr>
              <a:t>              └─</a:t>
            </a:r>
            <a:r>
              <a:rPr b="0" lang="en-US" sz="1800" spc="-1" strike="noStrike">
                <a:solidFill>
                  <a:srgbClr val="000000"/>
                </a:solidFill>
                <a:latin typeface="等线"/>
                <a:ea typeface="DejaVu Sans"/>
              </a:rPr>
              <a:t>(revolute_scoop)──&gt; scoop  ← </a:t>
            </a:r>
            <a:r>
              <a:rPr b="0" lang="zh-CN" sz="1800" spc="-1" strike="noStrike">
                <a:solidFill>
                  <a:srgbClr val="000000"/>
                </a:solidFill>
                <a:latin typeface="等线"/>
                <a:ea typeface="DejaVu Sans"/>
              </a:rPr>
              <a:t>对应原来的 </a:t>
            </a:r>
            <a:r>
              <a:rPr b="0" lang="en-US" sz="1800" spc="-1" strike="noStrike">
                <a:solidFill>
                  <a:srgbClr val="000000"/>
                </a:solidFill>
                <a:latin typeface="等线"/>
                <a:ea typeface="DejaVu Sans"/>
              </a:rPr>
              <a:t>bucket </a:t>
            </a:r>
            <a:r>
              <a:rPr b="0" lang="zh-CN" sz="1800" spc="-1" strike="noStrike">
                <a:solidFill>
                  <a:srgbClr val="000000"/>
                </a:solidFill>
                <a:latin typeface="等线"/>
                <a:ea typeface="DejaVu Sans"/>
              </a:rPr>
              <a:t>关节（</a:t>
            </a:r>
            <a:r>
              <a:rPr b="0" lang="en-US" sz="1800" spc="-1" strike="noStrike">
                <a:solidFill>
                  <a:srgbClr val="000000"/>
                </a:solidFill>
                <a:latin typeface="等线"/>
                <a:ea typeface="DejaVu Sans"/>
              </a:rPr>
              <a:t>jointBucket</a:t>
            </a:r>
            <a:r>
              <a:rPr b="0" lang="zh-CN" sz="1800" spc="-1" strike="noStrike">
                <a:solidFill>
                  <a:srgbClr val="000000"/>
                </a:solidFill>
                <a:latin typeface="等线"/>
                <a:ea typeface="DejaVu Sans"/>
              </a:rPr>
              <a:t>）</a:t>
            </a:r>
            <a:endParaRPr b="0" lang="en-US" sz="1800" spc="-1" strike="noStrike">
              <a:latin typeface="Arial"/>
            </a:endParaRPr>
          </a:p>
          <a:p>
            <a:pPr>
              <a:lnSpc>
                <a:spcPct val="100000"/>
              </a:lnSpc>
              <a:buNone/>
            </a:pPr>
            <a:r>
              <a:rPr b="0" lang="en-US" sz="1800" spc="-1" strike="noStrike">
                <a:solidFill>
                  <a:srgbClr val="000000"/>
                </a:solidFill>
                <a:latin typeface="等线"/>
                <a:ea typeface="DejaVu Sans"/>
              </a:rPr>
              <a:t>                    └─</a:t>
            </a:r>
            <a:r>
              <a:rPr b="0" lang="en-US" sz="1800" spc="-1" strike="noStrike">
                <a:solidFill>
                  <a:srgbClr val="000000"/>
                </a:solidFill>
                <a:latin typeface="等线"/>
                <a:ea typeface="DejaVu Sans"/>
              </a:rPr>
              <a:t>FixedJoint──&gt; end_point  ← </a:t>
            </a:r>
            <a:r>
              <a:rPr b="0" lang="zh-CN" sz="1800" spc="-1" strike="noStrike">
                <a:solidFill>
                  <a:srgbClr val="000000"/>
                </a:solidFill>
                <a:latin typeface="等线"/>
                <a:ea typeface="DejaVu Sans"/>
              </a:rPr>
              <a:t>对应原来的 </a:t>
            </a:r>
            <a:r>
              <a:rPr b="0" lang="en-US" sz="1800" spc="-1" strike="noStrike">
                <a:solidFill>
                  <a:srgbClr val="000000"/>
                </a:solidFill>
                <a:latin typeface="等线"/>
                <a:ea typeface="DejaVu Sans"/>
              </a:rPr>
              <a:t>tip</a:t>
            </a:r>
            <a:endParaRPr b="0" lang="en-US" sz="1800" spc="-1" strike="noStrike">
              <a:latin typeface="Arial"/>
            </a:endParaRPr>
          </a:p>
        </p:txBody>
      </p:sp>
      <p:sp>
        <p:nvSpPr>
          <p:cNvPr id="305" name="TextBox 11"/>
          <p:cNvSpPr/>
          <p:nvPr/>
        </p:nvSpPr>
        <p:spPr>
          <a:xfrm>
            <a:off x="914040" y="4450680"/>
            <a:ext cx="9860400" cy="11869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000000"/>
                </a:solidFill>
                <a:latin typeface="等线"/>
                <a:ea typeface="DejaVu Sans"/>
              </a:rPr>
              <a:t>&lt;joint name="revolute_tilt" origin="0.20564 0 0.420085" parent="liftboom" child="tiltboom"/&gt;</a:t>
            </a:r>
            <a:endParaRPr b="0" lang="en-US" sz="1800" spc="-1" strike="noStrike">
              <a:latin typeface="Arial"/>
            </a:endParaRPr>
          </a:p>
          <a:p>
            <a:pPr>
              <a:lnSpc>
                <a:spcPct val="100000"/>
              </a:lnSpc>
              <a:buNone/>
            </a:pPr>
            <a:r>
              <a:rPr b="0" lang="en-US" sz="1800" spc="-1" strike="noStrike">
                <a:solidFill>
                  <a:srgbClr val="000000"/>
                </a:solidFill>
                <a:latin typeface="等线"/>
                <a:ea typeface="DejaVu Sans"/>
              </a:rPr>
              <a:t>&lt;joint name="revolute_scoop" origin="0.25 0 0" parent="tiltboom" child="scoop"/&gt;</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6" name="Rectangle 7"/>
          <p:cNvSpPr/>
          <p:nvPr/>
        </p:nvSpPr>
        <p:spPr>
          <a:xfrm>
            <a:off x="0" y="0"/>
            <a:ext cx="12187080" cy="68529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307" name="Right Triangle 9"/>
          <p:cNvSpPr/>
          <p:nvPr/>
        </p:nvSpPr>
        <p:spPr>
          <a:xfrm flipH="1">
            <a:off x="8571600" y="3335760"/>
            <a:ext cx="3286800" cy="319536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sp>
        <p:nvSpPr>
          <p:cNvPr id="308" name="Rectangle 11"/>
          <p:cNvSpPr/>
          <p:nvPr/>
        </p:nvSpPr>
        <p:spPr>
          <a:xfrm>
            <a:off x="641880" y="623160"/>
            <a:ext cx="10900080" cy="5602680"/>
          </a:xfrm>
          <a:prstGeom prst="rect">
            <a:avLst/>
          </a:prstGeom>
          <a:noFill/>
          <a:ln>
            <a:solidFill>
              <a:srgbClr val="404040"/>
            </a:solidFill>
          </a:ln>
        </p:spPr>
        <p:style>
          <a:lnRef idx="2">
            <a:schemeClr val="accent1">
              <a:shade val="50000"/>
            </a:schemeClr>
          </a:lnRef>
          <a:fillRef idx="1">
            <a:schemeClr val="accent1"/>
          </a:fillRef>
          <a:effectRef idx="0">
            <a:schemeClr val="accent1"/>
          </a:effectRef>
          <a:fontRef idx="minor"/>
        </p:style>
      </p:sp>
      <p:sp>
        <p:nvSpPr>
          <p:cNvPr id="309" name="PlaceHolder 1"/>
          <p:cNvSpPr>
            <a:spLocks noGrp="1"/>
          </p:cNvSpPr>
          <p:nvPr>
            <p:ph type="title"/>
          </p:nvPr>
        </p:nvSpPr>
        <p:spPr>
          <a:xfrm>
            <a:off x="1075680" y="1188720"/>
            <a:ext cx="2983320" cy="4475520"/>
          </a:xfrm>
          <a:prstGeom prst="rect">
            <a:avLst/>
          </a:prstGeom>
          <a:noFill/>
          <a:ln w="0">
            <a:noFill/>
          </a:ln>
        </p:spPr>
        <p:txBody>
          <a:bodyPr lIns="0" rIns="0" tIns="0" bIns="0" anchor="ctr">
            <a:normAutofit/>
          </a:bodyPr>
          <a:p>
            <a:pPr algn="r">
              <a:lnSpc>
                <a:spcPct val="90000"/>
              </a:lnSpc>
              <a:buNone/>
            </a:pPr>
            <a:r>
              <a:rPr b="1" lang="en-US" sz="6600" spc="-1" strike="noStrike">
                <a:solidFill>
                  <a:srgbClr val="000000"/>
                </a:solidFill>
                <a:latin typeface="等线 Light"/>
              </a:rPr>
              <a:t>outline</a:t>
            </a:r>
            <a:endParaRPr b="0" lang="en-US" sz="6600" spc="-1" strike="noStrike">
              <a:latin typeface="Arial"/>
            </a:endParaRPr>
          </a:p>
        </p:txBody>
      </p:sp>
      <p:sp>
        <p:nvSpPr>
          <p:cNvPr id="310" name="Straight Connector 13"/>
          <p:cNvSpPr/>
          <p:nvPr/>
        </p:nvSpPr>
        <p:spPr>
          <a:xfrm>
            <a:off x="4654080" y="1852560"/>
            <a:ext cx="360" cy="3236760"/>
          </a:xfrm>
          <a:prstGeom prst="line">
            <a:avLst/>
          </a:prstGeom>
          <a:ln cap="sq" w="19050">
            <a:solidFill>
              <a:srgbClr val="404040"/>
            </a:solidFill>
          </a:ln>
        </p:spPr>
        <p:style>
          <a:lnRef idx="1">
            <a:schemeClr val="accent1"/>
          </a:lnRef>
          <a:fillRef idx="0">
            <a:schemeClr val="accent1"/>
          </a:fillRef>
          <a:effectRef idx="0">
            <a:schemeClr val="accent1"/>
          </a:effectRef>
          <a:fontRef idx="minor"/>
        </p:style>
      </p:sp>
      <p:sp>
        <p:nvSpPr>
          <p:cNvPr id="311" name="PlaceHolder 2"/>
          <p:cNvSpPr>
            <a:spLocks noGrp="1"/>
          </p:cNvSpPr>
          <p:nvPr>
            <p:ph type="subTitle"/>
          </p:nvPr>
        </p:nvSpPr>
        <p:spPr>
          <a:xfrm>
            <a:off x="5255280" y="1648800"/>
            <a:ext cx="4697640" cy="3555360"/>
          </a:xfrm>
          <a:prstGeom prst="rect">
            <a:avLst/>
          </a:prstGeom>
          <a:noFill/>
          <a:ln w="0">
            <a:noFill/>
          </a:ln>
        </p:spPr>
        <p:txBody>
          <a:bodyPr lIns="0" rIns="0" tIns="0" bIns="0" anchor="ctr">
            <a:normAutofit/>
          </a:bodyPr>
          <a:p>
            <a:pPr marL="216000" indent="-228600">
              <a:lnSpc>
                <a:spcPct val="90000"/>
              </a:lnSpc>
              <a:spcBef>
                <a:spcPts val="1001"/>
              </a:spcBef>
              <a:buClr>
                <a:srgbClr val="000000"/>
              </a:buClr>
              <a:buFont typeface="Arial"/>
              <a:buChar char="•"/>
            </a:pPr>
            <a:r>
              <a:rPr b="0" lang="en-US" sz="2400" spc="-1" strike="noStrike">
                <a:solidFill>
                  <a:srgbClr val="000000"/>
                </a:solidFill>
                <a:latin typeface="等线"/>
              </a:rPr>
              <a:t>Topic</a:t>
            </a:r>
            <a:endParaRPr b="0" lang="en-US" sz="2400" spc="-1" strike="noStrike">
              <a:latin typeface="Arial"/>
            </a:endParaRPr>
          </a:p>
          <a:p>
            <a:pPr marL="216000" indent="-228600">
              <a:lnSpc>
                <a:spcPct val="90000"/>
              </a:lnSpc>
              <a:spcBef>
                <a:spcPts val="1001"/>
              </a:spcBef>
              <a:buClr>
                <a:srgbClr val="000000"/>
              </a:buClr>
              <a:buFont typeface="Arial"/>
              <a:buChar char="•"/>
            </a:pPr>
            <a:r>
              <a:rPr b="0" lang="en-US" sz="2400" spc="-1" strike="noStrike">
                <a:solidFill>
                  <a:srgbClr val="000000"/>
                </a:solidFill>
                <a:latin typeface="等线"/>
              </a:rPr>
              <a:t>Goals</a:t>
            </a:r>
            <a:endParaRPr b="0" lang="en-US" sz="2400" spc="-1" strike="noStrike">
              <a:latin typeface="Arial"/>
            </a:endParaRPr>
          </a:p>
          <a:p>
            <a:pPr marL="216000" indent="-228600">
              <a:lnSpc>
                <a:spcPct val="90000"/>
              </a:lnSpc>
              <a:spcBef>
                <a:spcPts val="1001"/>
              </a:spcBef>
              <a:buClr>
                <a:srgbClr val="000000"/>
              </a:buClr>
              <a:buFont typeface="Arial"/>
              <a:buChar char="•"/>
            </a:pPr>
            <a:r>
              <a:rPr b="0" lang="en-US" sz="2400" spc="-1" strike="noStrike">
                <a:solidFill>
                  <a:srgbClr val="000000"/>
                </a:solidFill>
                <a:latin typeface="等线"/>
              </a:rPr>
              <a:t>Plans</a:t>
            </a:r>
            <a:endParaRPr b="0" lang="en-US" sz="2400" spc="-1" strike="noStrike">
              <a:latin typeface="Arial"/>
            </a:endParaRPr>
          </a:p>
          <a:p>
            <a:pPr marL="216000" indent="-228600">
              <a:lnSpc>
                <a:spcPct val="90000"/>
              </a:lnSpc>
              <a:spcBef>
                <a:spcPts val="1001"/>
              </a:spcBef>
              <a:buClr>
                <a:srgbClr val="000000"/>
              </a:buClr>
              <a:buFont typeface="Arial"/>
              <a:buChar char="•"/>
            </a:pPr>
            <a:r>
              <a:rPr b="0" lang="en-US" sz="2400" spc="-1" strike="noStrike">
                <a:solidFill>
                  <a:srgbClr val="000000"/>
                </a:solidFill>
                <a:latin typeface="等线"/>
              </a:rPr>
              <a:t>Study resource/ code</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title"/>
          </p:nvPr>
        </p:nvSpPr>
        <p:spPr>
          <a:xfrm>
            <a:off x="3727440" y="594720"/>
            <a:ext cx="4601880" cy="985320"/>
          </a:xfrm>
          <a:prstGeom prst="rect">
            <a:avLst/>
          </a:prstGeom>
          <a:noFill/>
          <a:ln w="0">
            <a:noFill/>
          </a:ln>
        </p:spPr>
        <p:txBody>
          <a:bodyPr lIns="0" rIns="0" tIns="0" bIns="0" anchor="b">
            <a:noAutofit/>
          </a:bodyPr>
          <a:p>
            <a:pPr algn="ctr">
              <a:lnSpc>
                <a:spcPct val="90000"/>
              </a:lnSpc>
              <a:buNone/>
            </a:pPr>
            <a:r>
              <a:rPr b="1" lang="en-US" sz="6000" spc="-1" strike="noStrike">
                <a:solidFill>
                  <a:srgbClr val="000000"/>
                </a:solidFill>
                <a:latin typeface="等线 Light"/>
              </a:rPr>
              <a:t>Thesis  topic </a:t>
            </a:r>
            <a:endParaRPr b="0" lang="en-US" sz="6000" spc="-1" strike="noStrike">
              <a:latin typeface="Arial"/>
            </a:endParaRPr>
          </a:p>
        </p:txBody>
      </p:sp>
      <p:sp>
        <p:nvSpPr>
          <p:cNvPr id="313" name="PlaceHolder 2"/>
          <p:cNvSpPr>
            <a:spLocks noGrp="1"/>
          </p:cNvSpPr>
          <p:nvPr>
            <p:ph type="subTitle"/>
          </p:nvPr>
        </p:nvSpPr>
        <p:spPr>
          <a:xfrm>
            <a:off x="1523880" y="2371320"/>
            <a:ext cx="9008280" cy="1420560"/>
          </a:xfrm>
          <a:prstGeom prst="rect">
            <a:avLst/>
          </a:prstGeom>
          <a:noFill/>
          <a:ln w="0">
            <a:noFill/>
          </a:ln>
        </p:spPr>
        <p:txBody>
          <a:bodyPr lIns="0" rIns="0" tIns="0" bIns="0" anchor="t">
            <a:noAutofit/>
          </a:bodyPr>
          <a:p>
            <a:pPr>
              <a:lnSpc>
                <a:spcPct val="90000"/>
              </a:lnSpc>
              <a:spcBef>
                <a:spcPts val="1001"/>
              </a:spcBef>
              <a:buNone/>
              <a:tabLst>
                <a:tab algn="l" pos="0"/>
              </a:tabLst>
            </a:pPr>
            <a:r>
              <a:rPr b="0" lang="en-US" sz="2400" spc="-1" strike="noStrike">
                <a:solidFill>
                  <a:srgbClr val="000000"/>
                </a:solidFill>
                <a:latin typeface="等线"/>
              </a:rPr>
              <a:t>Simulation-based development for a nonlinear  excavator system</a:t>
            </a:r>
            <a:endParaRPr b="0" lang="en-US" sz="2400" spc="-1" strike="noStrike">
              <a:latin typeface="Arial"/>
            </a:endParaRPr>
          </a:p>
          <a:p>
            <a:pPr>
              <a:lnSpc>
                <a:spcPct val="90000"/>
              </a:lnSpc>
              <a:spcBef>
                <a:spcPts val="1001"/>
              </a:spcBef>
              <a:buNone/>
              <a:tabLst>
                <a:tab algn="l" pos="0"/>
              </a:tabLst>
            </a:pPr>
            <a:r>
              <a:rPr b="0" lang="en-US" sz="2400" spc="-1" strike="noStrike">
                <a:solidFill>
                  <a:srgbClr val="000000"/>
                </a:solidFill>
                <a:latin typeface="等线"/>
              </a:rPr>
              <a:t>(with emphasis on practical </a:t>
            </a:r>
            <a:r>
              <a:rPr b="1" lang="en-US" sz="2400" spc="-1" strike="noStrike">
                <a:solidFill>
                  <a:srgbClr val="000000"/>
                </a:solidFill>
                <a:latin typeface="等线"/>
              </a:rPr>
              <a:t>feasibility</a:t>
            </a:r>
            <a:r>
              <a:rPr b="0" lang="en-US" sz="2400" spc="-1" strike="noStrike">
                <a:solidFill>
                  <a:srgbClr val="000000"/>
                </a:solidFill>
                <a:latin typeface="等线"/>
              </a:rPr>
              <a:t> and flexible model choice)</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title"/>
          </p:nvPr>
        </p:nvSpPr>
        <p:spPr>
          <a:xfrm>
            <a:off x="1523880" y="219960"/>
            <a:ext cx="9138960" cy="1425960"/>
          </a:xfrm>
          <a:prstGeom prst="rect">
            <a:avLst/>
          </a:prstGeom>
          <a:noFill/>
          <a:ln w="0">
            <a:noFill/>
          </a:ln>
        </p:spPr>
        <p:txBody>
          <a:bodyPr lIns="0" rIns="0" tIns="0" bIns="0" anchor="b">
            <a:noAutofit/>
          </a:bodyPr>
          <a:p>
            <a:pPr algn="ctr">
              <a:lnSpc>
                <a:spcPct val="90000"/>
              </a:lnSpc>
              <a:buNone/>
            </a:pPr>
            <a:r>
              <a:rPr b="1" lang="en-US" sz="6000" spc="-1" strike="noStrike">
                <a:solidFill>
                  <a:srgbClr val="000000"/>
                </a:solidFill>
                <a:latin typeface="等线 Light"/>
              </a:rPr>
              <a:t>Research Goals</a:t>
            </a:r>
            <a:br>
              <a:rPr sz="6000"/>
            </a:br>
            <a:endParaRPr b="0" lang="en-US" sz="6000" spc="-1" strike="noStrike">
              <a:latin typeface="Arial"/>
            </a:endParaRPr>
          </a:p>
        </p:txBody>
      </p:sp>
      <p:sp>
        <p:nvSpPr>
          <p:cNvPr id="315" name="PlaceHolder 2"/>
          <p:cNvSpPr>
            <a:spLocks noGrp="1"/>
          </p:cNvSpPr>
          <p:nvPr>
            <p:ph type="subTitle"/>
          </p:nvPr>
        </p:nvSpPr>
        <p:spPr>
          <a:xfrm>
            <a:off x="1589400" y="1650960"/>
            <a:ext cx="9008280" cy="3394800"/>
          </a:xfrm>
          <a:prstGeom prst="rect">
            <a:avLst/>
          </a:prstGeom>
          <a:noFill/>
          <a:ln w="0">
            <a:noFill/>
          </a:ln>
        </p:spPr>
        <p:txBody>
          <a:bodyPr lIns="0" rIns="0" tIns="0" bIns="0" anchor="t">
            <a:normAutofit fontScale="83000"/>
          </a:bodyPr>
          <a:p>
            <a:pPr>
              <a:lnSpc>
                <a:spcPct val="90000"/>
              </a:lnSpc>
              <a:spcBef>
                <a:spcPts val="1001"/>
              </a:spcBef>
              <a:buNone/>
              <a:tabLst>
                <a:tab algn="l" pos="0"/>
              </a:tabLst>
            </a:pPr>
            <a:r>
              <a:rPr b="0" lang="en-US" sz="2400" spc="-1" strike="noStrike">
                <a:solidFill>
                  <a:srgbClr val="000000"/>
                </a:solidFill>
                <a:latin typeface="等线"/>
              </a:rPr>
              <a:t>1.Use provided excavator model or similar excavator model from open resource to build environment </a:t>
            </a:r>
            <a:endParaRPr b="0" lang="en-US" sz="2400" spc="-1" strike="noStrike">
              <a:latin typeface="Arial"/>
            </a:endParaRPr>
          </a:p>
          <a:p>
            <a:pPr>
              <a:lnSpc>
                <a:spcPct val="90000"/>
              </a:lnSpc>
              <a:spcBef>
                <a:spcPts val="1001"/>
              </a:spcBef>
              <a:buNone/>
              <a:tabLst>
                <a:tab algn="l" pos="0"/>
              </a:tabLst>
            </a:pPr>
            <a:endParaRPr b="0" lang="en-US" sz="2400" spc="-1" strike="noStrike">
              <a:latin typeface="Arial"/>
            </a:endParaRPr>
          </a:p>
          <a:p>
            <a:pPr>
              <a:lnSpc>
                <a:spcPct val="90000"/>
              </a:lnSpc>
              <a:spcBef>
                <a:spcPts val="1001"/>
              </a:spcBef>
              <a:buNone/>
              <a:tabLst>
                <a:tab algn="l" pos="0"/>
              </a:tabLst>
            </a:pPr>
            <a:r>
              <a:rPr b="0" lang="en-US" sz="2400" spc="-1" strike="noStrike">
                <a:solidFill>
                  <a:srgbClr val="000000"/>
                </a:solidFill>
                <a:latin typeface="等线"/>
              </a:rPr>
              <a:t>2. model-based learning model or reinforcement learning model</a:t>
            </a:r>
            <a:endParaRPr b="0" lang="en-US" sz="2400" spc="-1" strike="noStrike">
              <a:latin typeface="Arial"/>
            </a:endParaRPr>
          </a:p>
          <a:p>
            <a:pPr>
              <a:lnSpc>
                <a:spcPct val="90000"/>
              </a:lnSpc>
              <a:spcBef>
                <a:spcPts val="1001"/>
              </a:spcBef>
              <a:buNone/>
              <a:tabLst>
                <a:tab algn="l" pos="0"/>
              </a:tabLst>
            </a:pPr>
            <a:endParaRPr b="0" lang="en-US" sz="2400" spc="-1" strike="noStrike">
              <a:latin typeface="Arial"/>
            </a:endParaRPr>
          </a:p>
          <a:p>
            <a:pPr>
              <a:lnSpc>
                <a:spcPct val="90000"/>
              </a:lnSpc>
              <a:spcBef>
                <a:spcPts val="1001"/>
              </a:spcBef>
              <a:buNone/>
              <a:tabLst>
                <a:tab algn="l" pos="0"/>
              </a:tabLst>
            </a:pPr>
            <a:r>
              <a:rPr b="1" lang="en-GB" sz="2400" spc="-1" strike="noStrike">
                <a:solidFill>
                  <a:srgbClr val="000000"/>
                </a:solidFill>
                <a:latin typeface="等线"/>
              </a:rPr>
              <a:t>3.generate a simulation demo for illustrative tasks (such as log lifting or trajectory tracking).</a:t>
            </a:r>
            <a:endParaRPr b="0" lang="en-US" sz="2400" spc="-1" strike="noStrike">
              <a:latin typeface="Arial"/>
            </a:endParaRPr>
          </a:p>
          <a:p>
            <a:pPr>
              <a:lnSpc>
                <a:spcPct val="90000"/>
              </a:lnSpc>
              <a:spcBef>
                <a:spcPts val="1001"/>
              </a:spcBef>
              <a:buNone/>
              <a:tabLst>
                <a:tab algn="l" pos="0"/>
              </a:tabLst>
            </a:pPr>
            <a:endParaRPr b="0" lang="en-US" sz="2400" spc="-1" strike="noStrike">
              <a:latin typeface="Arial"/>
            </a:endParaRPr>
          </a:p>
          <a:p>
            <a:pPr>
              <a:lnSpc>
                <a:spcPct val="90000"/>
              </a:lnSpc>
              <a:spcBef>
                <a:spcPts val="1001"/>
              </a:spcBef>
              <a:buNone/>
              <a:tabLst>
                <a:tab algn="l" pos="0"/>
              </a:tabLst>
            </a:pPr>
            <a:r>
              <a:rPr b="1" lang="en-GB" sz="2400" spc="-1" strike="noStrike">
                <a:solidFill>
                  <a:srgbClr val="000000"/>
                </a:solidFill>
                <a:latin typeface="等线"/>
              </a:rPr>
              <a:t>4.optionally implement and compare different control strategies on simulator  environment, such as MPC vs PID;</a:t>
            </a:r>
            <a:endParaRPr b="0" lang="en-US" sz="2400" spc="-1" strike="noStrike">
              <a:latin typeface="Arial"/>
            </a:endParaRPr>
          </a:p>
          <a:p>
            <a:pPr>
              <a:lnSpc>
                <a:spcPct val="90000"/>
              </a:lnSpc>
              <a:spcBef>
                <a:spcPts val="1001"/>
              </a:spcBef>
              <a:buNone/>
              <a:tabLst>
                <a:tab algn="l" pos="0"/>
              </a:tabLst>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6" name="Rectangle 6"/>
          <p:cNvSpPr/>
          <p:nvPr/>
        </p:nvSpPr>
        <p:spPr>
          <a:xfrm>
            <a:off x="0" y="0"/>
            <a:ext cx="12187080" cy="68529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317" name="Right Triangle 8"/>
          <p:cNvSpPr/>
          <p:nvPr/>
        </p:nvSpPr>
        <p:spPr>
          <a:xfrm flipH="1">
            <a:off x="8571600" y="3335760"/>
            <a:ext cx="3286800" cy="319536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p:style>
      </p:sp>
      <p:sp>
        <p:nvSpPr>
          <p:cNvPr id="318" name="Rectangle 10"/>
          <p:cNvSpPr/>
          <p:nvPr/>
        </p:nvSpPr>
        <p:spPr>
          <a:xfrm>
            <a:off x="641880" y="623160"/>
            <a:ext cx="10900080" cy="5602680"/>
          </a:xfrm>
          <a:prstGeom prst="rect">
            <a:avLst/>
          </a:prstGeom>
          <a:noFill/>
          <a:ln>
            <a:solidFill>
              <a:srgbClr val="404040"/>
            </a:solidFill>
          </a:ln>
        </p:spPr>
        <p:style>
          <a:lnRef idx="2">
            <a:schemeClr val="accent1">
              <a:shade val="50000"/>
            </a:schemeClr>
          </a:lnRef>
          <a:fillRef idx="1">
            <a:schemeClr val="accent1"/>
          </a:fillRef>
          <a:effectRef idx="0">
            <a:schemeClr val="accent1"/>
          </a:effectRef>
          <a:fontRef idx="minor"/>
        </p:style>
      </p:sp>
      <p:sp>
        <p:nvSpPr>
          <p:cNvPr id="319" name="PlaceHolder 1"/>
          <p:cNvSpPr>
            <a:spLocks noGrp="1"/>
          </p:cNvSpPr>
          <p:nvPr>
            <p:ph type="title"/>
          </p:nvPr>
        </p:nvSpPr>
        <p:spPr>
          <a:xfrm>
            <a:off x="1285200" y="1009080"/>
            <a:ext cx="9226440" cy="3537000"/>
          </a:xfrm>
          <a:prstGeom prst="rect">
            <a:avLst/>
          </a:prstGeom>
          <a:noFill/>
          <a:ln w="0">
            <a:noFill/>
          </a:ln>
        </p:spPr>
        <p:txBody>
          <a:bodyPr lIns="90000" rIns="90000" tIns="45000" bIns="45000" anchor="b">
            <a:normAutofit/>
          </a:bodyPr>
          <a:p>
            <a:pPr>
              <a:lnSpc>
                <a:spcPct val="90000"/>
              </a:lnSpc>
              <a:buNone/>
            </a:pPr>
            <a:r>
              <a:rPr b="0" lang="en-US" sz="11500" spc="-1" strike="noStrike">
                <a:solidFill>
                  <a:srgbClr val="000000"/>
                </a:solidFill>
                <a:latin typeface="等线 Light"/>
              </a:rPr>
              <a:t>Thanks</a:t>
            </a:r>
            <a:endParaRPr b="0" lang="en-US" sz="11500" spc="-1" strike="noStrike">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0"/>
                      </p:stCondLst>
                      <p:childTnLst>
                        <p:par>
                          <p:cTn id="4" fill="hold">
                            <p:stCondLst>
                              <p:cond delay="0"/>
                            </p:stCondLst>
                            <p:childTnLst>
                              <p:par>
                                <p:cTn id="5" nodeType="withEffect" fill="hold" presetClass="entr" presetID="10">
                                  <p:stCondLst>
                                    <p:cond delay="500"/>
                                  </p:stCondLst>
                                  <p:iterate type="lt">
                                    <p:tmAbs val="100"/>
                                  </p:iterate>
                                  <p:childTnLst>
                                    <p:set>
                                      <p:cBhvr>
                                        <p:cTn id="6" dur="1" fill="hold">
                                          <p:stCondLst>
                                            <p:cond delay="0"/>
                                          </p:stCondLst>
                                        </p:cTn>
                                        <p:tgtEl>
                                          <p:spTgt spid="319"/>
                                        </p:tgtEl>
                                        <p:attrNameLst>
                                          <p:attrName>style.visibility</p:attrName>
                                        </p:attrNameLst>
                                      </p:cBhvr>
                                      <p:to>
                                        <p:strVal val="visible"/>
                                      </p:to>
                                    </p:set>
                                    <p:animEffect filter="fade" transition="in">
                                      <p:cBhvr additive="repl">
                                        <p:cTn id="7" dur="400"/>
                                        <p:tgtEl>
                                          <p:spTgt spid="3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8179</TotalTime>
  <Application>LibreOffice/7.3.7.2$Linux_X86_64 LibreOffice_project/30$Build-2</Application>
  <AppVersion>15.0000</AppVersion>
  <Words>895</Words>
  <Paragraphs>69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2025-12-02T10:32:42Z</dcterms:created>
  <dc:creator>Jiancai x Hou</dc:creator>
  <dc:description/>
  <dc:language>en-US</dc:language>
  <cp:lastModifiedBy/>
  <dcterms:modified xsi:type="dcterms:W3CDTF">2026-01-11T11:56:38Z</dcterms:modified>
  <cp:revision>494</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1</vt:i4>
  </property>
  <property fmtid="{D5CDD505-2E9C-101B-9397-08002B2CF9AE}" pid="3" name="Notes">
    <vt:i4>6</vt:i4>
  </property>
  <property fmtid="{D5CDD505-2E9C-101B-9397-08002B2CF9AE}" pid="4" name="PresentationFormat">
    <vt:lpwstr>Widescreen</vt:lpwstr>
  </property>
  <property fmtid="{D5CDD505-2E9C-101B-9397-08002B2CF9AE}" pid="5" name="Slides">
    <vt:i4>21</vt:i4>
  </property>
</Properties>
</file>